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4.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Risk tier</c:v>
                </c:pt>
              </c:strCache>
            </c:strRef>
          </c:tx>
          <c:spPr>
            <a:solidFill>
              <a:schemeClr val="accent1"/>
            </a:solidFill>
            <a:ln w="9525" cap="flat">
              <a:solidFill>
                <a:srgbClr val="F9F9F9"/>
              </a:solidFill>
              <a:prstDash val="solid"/>
              <a:round/>
            </a:ln>
            <a:effectLst/>
          </c:spPr>
          <c:dPt>
            <c:idx val="0"/>
            <c:bubble3D val="0"/>
            <c:spPr>
              <a:solidFill>
                <a:srgbClr val="7FB77E"/>
              </a:solidFill>
              <a:effectLst/>
            </c:spPr>
          </c:dPt>
          <c:dPt>
            <c:idx val="1"/>
            <c:bubble3D val="0"/>
            <c:spPr>
              <a:solidFill>
                <a:srgbClr val="E9A23B"/>
              </a:solidFill>
              <a:effectLst/>
            </c:spPr>
          </c:dPt>
          <c:dPt>
            <c:idx val="2"/>
            <c:bubble3D val="0"/>
            <c:spPr>
              <a:solidFill>
                <a:srgbClr val="C8443B"/>
              </a:solidFill>
              <a:effectLst/>
            </c:spPr>
          </c:dPt>
          <c:dLbls>
            <c:dLbl>
              <c:idx val="0"/>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Low</c:v>
                </c:pt>
                <c:pt idx="1">
                  <c:v>Moderate</c:v>
                </c:pt>
                <c:pt idx="2">
                  <c:v>High</c:v>
                </c:pt>
              </c:strCache>
            </c:strRef>
          </c:cat>
          <c:val>
            <c:numRef>
              <c:f>Sheet1!$B$2:$B$4</c:f>
              <c:numCache>
                <c:ptCount val="3"/>
                <c:pt idx="0">
                  <c:v>9723</c:v>
                </c:pt>
                <c:pt idx="1">
                  <c:v>7562</c:v>
                </c:pt>
                <c:pt idx="2">
                  <c:v>4321</c:v>
                </c:pt>
              </c:numCache>
            </c:numRef>
          </c:val>
        </c:ser>
        <c:firstSliceAng val="0"/>
        <c:holeSize val="55"/>
      </c:doughnutChart>
      <c:spPr>
        <a:noFill/>
        <a:ln>
          <a:noFill/>
        </a:ln>
        <a:effectLst/>
      </c:spPr>
    </c:plotArea>
    <c:legend>
      <c:legendPos val="b"/>
      <c:overlay val="0"/>
      <c:txPr>
        <a:bodyPr/>
        <a:lstStyle/>
        <a:p>
          <a:pPr>
            <a:defRPr sz="1200">
              <a:solidFill>
                <a:srgbClr val="1F2937"/>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CatBoost</c:v>
                </c:pt>
              </c:strCache>
            </c:strRef>
          </c:tx>
          <c:spPr>
            <a:solidFill>
              <a:srgbClr val="E9A23B"/>
            </a:solidFill>
            <a:effectLst/>
          </c:spPr>
          <c:invertIfNegative val="0"/>
          <c:dLbls>
            <c:numFmt formatCode="0.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cat>
            <c:multiLvlStrRef>
              <c:f>Sheet1!$A$2:$A$4</c:f>
              <c:multiLvlStrCache>
                <c:ptCount val="3"/>
                <c:lvl>
                  <c:pt idx="0">
                    <c:v>500 rows</c:v>
                  </c:pt>
                  <c:pt idx="1">
                    <c:v>2,000 rows</c:v>
                  </c:pt>
                  <c:pt idx="2">
                    <c:v>Full (17,284)</c:v>
                  </c:pt>
                </c:lvl>
              </c:multiLvlStrCache>
            </c:multiLvlStrRef>
          </c:cat>
          <c:val>
            <c:numRef>
              <c:f>Sheet1!$B$2:$B$4</c:f>
              <c:numCache>
                <c:formatCode>General</c:formatCode>
                <c:ptCount val="3"/>
                <c:pt idx="0">
                  <c:v>69.37</c:v>
                </c:pt>
                <c:pt idx="1">
                  <c:v>74.97</c:v>
                </c:pt>
                <c:pt idx="2">
                  <c:v>78.2</c:v>
                </c:pt>
              </c:numCache>
            </c:numRef>
          </c:val>
        </c:ser>
        <c:ser>
          <c:idx val="1"/>
          <c:order val="1"/>
          <c:tx>
            <c:strRef>
              <c:f>Sheet1!$C$1</c:f>
              <c:strCache>
                <c:ptCount val="1"/>
                <c:pt idx="0">
                  <c:v>TabPFN</c:v>
                </c:pt>
              </c:strCache>
            </c:strRef>
          </c:tx>
          <c:spPr>
            <a:solidFill>
              <a:srgbClr val="2F6FD6"/>
            </a:solidFill>
            <a:effectLst/>
          </c:spPr>
          <c:invertIfNegative val="0"/>
          <c:dLbls>
            <c:numFmt formatCode="0.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cat>
            <c:multiLvlStrRef>
              <c:f>Sheet1!$A$2:$A$4</c:f>
              <c:multiLvlStrCache>
                <c:ptCount val="3"/>
                <c:lvl>
                  <c:pt idx="0">
                    <c:v>500 rows</c:v>
                  </c:pt>
                  <c:pt idx="1">
                    <c:v>2,000 rows</c:v>
                  </c:pt>
                  <c:pt idx="2">
                    <c:v>Full (17,284)</c:v>
                  </c:pt>
                </c:lvl>
              </c:multiLvlStrCache>
            </c:multiLvlStrRef>
          </c:cat>
          <c:val>
            <c:numRef>
              <c:f>Sheet1!$C$2:$C$4</c:f>
              <c:numCache>
                <c:formatCode>General</c:formatCode>
                <c:ptCount val="3"/>
                <c:pt idx="0">
                  <c:v>76.89</c:v>
                </c:pt>
                <c:pt idx="1">
                  <c:v>78.27</c:v>
                </c:pt>
                <c:pt idx="2">
                  <c:v>78.62</c:v>
                </c:pt>
              </c:numCache>
            </c:numRef>
          </c:val>
        </c:ser>
        <c:ser>
          <c:idx val="2"/>
          <c:order val="2"/>
          <c:tx>
            <c:strRef>
              <c:f>Sheet1!$D$1</c:f>
              <c:strCache>
                <c:ptCount val="1"/>
                <c:pt idx="0">
                  <c:v>TabFM</c:v>
                </c:pt>
              </c:strCache>
            </c:strRef>
          </c:tx>
          <c:spPr>
            <a:solidFill>
              <a:srgbClr val="2EA44F"/>
            </a:solidFill>
            <a:effectLst/>
          </c:spPr>
          <c:invertIfNegative val="0"/>
          <c:dLbls>
            <c:numFmt formatCode="0.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cat>
            <c:multiLvlStrRef>
              <c:f>Sheet1!$A$2:$A$4</c:f>
              <c:multiLvlStrCache>
                <c:ptCount val="3"/>
                <c:lvl>
                  <c:pt idx="0">
                    <c:v>500 rows</c:v>
                  </c:pt>
                  <c:pt idx="1">
                    <c:v>2,000 rows</c:v>
                  </c:pt>
                  <c:pt idx="2">
                    <c:v>Full (17,284)</c:v>
                  </c:pt>
                </c:lvl>
              </c:multiLvlStrCache>
            </c:multiLvlStrRef>
          </c:cat>
          <c:val>
            <c:numRef>
              <c:f>Sheet1!$D$2:$D$4</c:f>
              <c:numCache>
                <c:formatCode>General</c:formatCode>
                <c:ptCount val="3"/>
                <c:pt idx="0">
                  <c:v>76.84</c:v>
                </c:pt>
                <c:pt idx="1">
                  <c:v>78.44</c:v>
                </c:pt>
                <c:pt idx="2">
                  <c:v>78.67</c:v>
                </c:pt>
              </c:numCache>
            </c:numRef>
          </c:val>
        </c:ser>
        <c:dLbls>
          <c:numFmt formatCode="0.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max val="85"/>
          <c:min val="60"/>
        </c:scaling>
        <c:delete val="0"/>
        <c:axPos val="l"/>
        <c:majorGridlines>
          <c:spPr>
            <a:ln w="6350" cap="flat">
              <a:solidFill>
                <a:srgbClr val="E5E7EB"/>
              </a:solidFill>
              <a:prstDash val="solid"/>
              <a:round/>
            </a:ln>
          </c:spPr>
        </c:majorGridlines>
        <c:title>
          <c:tx>
            <c:rich>
              <a:bodyPr/>
              <a:lstStyle/>
              <a:p>
                <a:pPr>
                  <a:defRPr sz="1100" b="0" i="0" u="none" strike="noStrike">
                    <a:solidFill>
                      <a:srgbClr val="6B7280"/>
                    </a:solidFill>
                    <a:latin typeface="Arial"/>
                  </a:defRPr>
                </a:pPr>
                <a:r>
                  <a:rPr sz="1100" b="0" i="0" u="none" strike="noStrike">
                    <a:solidFill>
                      <a:srgbClr val="6B7280"/>
                    </a:solidFill>
                    <a:latin typeface="Arial"/>
                  </a:rPr>
                  <a:t>Accuracy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majorUnit val="5"/>
      </c:valAx>
      <c:spPr>
        <a:noFill/>
        <a:ln>
          <a:noFill/>
        </a:ln>
        <a:effectLst/>
      </c:spPr>
    </c:plotArea>
    <c:legend>
      <c:legendPos val="b"/>
      <c:overlay val="0"/>
      <c:txPr>
        <a:bodyPr/>
        <a:lstStyle/>
        <a:p>
          <a:pPr>
            <a:defRPr sz="1200">
              <a:solidFill>
                <a:srgbClr val="1F2937"/>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CatBoost</c:v>
                </c:pt>
              </c:strCache>
            </c:strRef>
          </c:tx>
          <c:spPr>
            <a:solidFill>
              <a:srgbClr val="E9A23B"/>
            </a:solidFill>
            <a:ln w="38100" cap="flat">
              <a:solidFill>
                <a:srgbClr val="E9A2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9"/>
            <c:spPr>
              <a:solidFill>
                <a:srgbClr val="E9A23B"/>
              </a:solidFill>
              <a:ln w="9525" cap="flat">
                <a:solidFill>
                  <a:srgbClr val="E9A23B"/>
                </a:solidFill>
                <a:prstDash val="solid"/>
                <a:round/>
              </a:ln>
              <a:effectLst/>
            </c:spPr>
          </c:marker>
          <c:cat>
            <c:multiLvlStrRef>
              <c:f>Sheet1!$A$2:$A$4</c:f>
              <c:multiLvlStrCache>
                <c:ptCount val="3"/>
                <c:lvl>
                  <c:pt idx="0">
                    <c:v>500</c:v>
                  </c:pt>
                  <c:pt idx="1">
                    <c:v>2,000</c:v>
                  </c:pt>
                  <c:pt idx="2">
                    <c:v>Full (17,284)</c:v>
                  </c:pt>
                </c:lvl>
              </c:multiLvlStrCache>
            </c:multiLvlStrRef>
          </c:cat>
          <c:val>
            <c:numRef>
              <c:f>Sheet1!$B$2:$B$4</c:f>
              <c:numCache>
                <c:formatCode>General</c:formatCode>
                <c:ptCount val="3"/>
                <c:pt idx="0">
                  <c:v>69.37</c:v>
                </c:pt>
                <c:pt idx="1">
                  <c:v>74.97</c:v>
                </c:pt>
                <c:pt idx="2">
                  <c:v>78.2</c:v>
                </c:pt>
              </c:numCache>
            </c:numRef>
          </c:val>
          <c:smooth val="0"/>
        </c:ser>
        <c:ser>
          <c:idx val="1"/>
          <c:order val="1"/>
          <c:tx>
            <c:strRef>
              <c:f>Sheet1!$C$1</c:f>
              <c:strCache>
                <c:ptCount val="1"/>
                <c:pt idx="0">
                  <c:v>TabPFN</c:v>
                </c:pt>
              </c:strCache>
            </c:strRef>
          </c:tx>
          <c:spPr>
            <a:solidFill>
              <a:srgbClr val="2F6FD6"/>
            </a:solidFill>
            <a:ln w="38100" cap="flat">
              <a:solidFill>
                <a:srgbClr val="2F6F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9"/>
            <c:spPr>
              <a:solidFill>
                <a:srgbClr val="2F6FD6"/>
              </a:solidFill>
              <a:ln w="9525" cap="flat">
                <a:solidFill>
                  <a:srgbClr val="2F6FD6"/>
                </a:solidFill>
                <a:prstDash val="solid"/>
                <a:round/>
              </a:ln>
              <a:effectLst/>
            </c:spPr>
          </c:marker>
          <c:cat>
            <c:multiLvlStrRef>
              <c:f>Sheet1!$A$2:$A$4</c:f>
              <c:multiLvlStrCache>
                <c:ptCount val="3"/>
                <c:lvl>
                  <c:pt idx="0">
                    <c:v>500</c:v>
                  </c:pt>
                  <c:pt idx="1">
                    <c:v>2,000</c:v>
                  </c:pt>
                  <c:pt idx="2">
                    <c:v>Full (17,284)</c:v>
                  </c:pt>
                </c:lvl>
              </c:multiLvlStrCache>
            </c:multiLvlStrRef>
          </c:cat>
          <c:val>
            <c:numRef>
              <c:f>Sheet1!$C$2:$C$4</c:f>
              <c:numCache>
                <c:formatCode>General</c:formatCode>
                <c:ptCount val="3"/>
                <c:pt idx="0">
                  <c:v>76.89</c:v>
                </c:pt>
                <c:pt idx="1">
                  <c:v>78.27</c:v>
                </c:pt>
                <c:pt idx="2">
                  <c:v>78.62</c:v>
                </c:pt>
              </c:numCache>
            </c:numRef>
          </c:val>
          <c:smooth val="0"/>
        </c:ser>
        <c:ser>
          <c:idx val="2"/>
          <c:order val="2"/>
          <c:tx>
            <c:strRef>
              <c:f>Sheet1!$D$1</c:f>
              <c:strCache>
                <c:ptCount val="1"/>
                <c:pt idx="0">
                  <c:v>TabFM</c:v>
                </c:pt>
              </c:strCache>
            </c:strRef>
          </c:tx>
          <c:spPr>
            <a:solidFill>
              <a:srgbClr val="2EA44F"/>
            </a:solidFill>
            <a:ln w="38100" cap="flat">
              <a:solidFill>
                <a:srgbClr val="2EA4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9"/>
            <c:spPr>
              <a:solidFill>
                <a:srgbClr val="2EA44F"/>
              </a:solidFill>
              <a:ln w="9525" cap="flat">
                <a:solidFill>
                  <a:srgbClr val="2EA44F"/>
                </a:solidFill>
                <a:prstDash val="solid"/>
                <a:round/>
              </a:ln>
              <a:effectLst/>
            </c:spPr>
          </c:marker>
          <c:cat>
            <c:multiLvlStrRef>
              <c:f>Sheet1!$A$2:$A$4</c:f>
              <c:multiLvlStrCache>
                <c:ptCount val="3"/>
                <c:lvl>
                  <c:pt idx="0">
                    <c:v>500</c:v>
                  </c:pt>
                  <c:pt idx="1">
                    <c:v>2,000</c:v>
                  </c:pt>
                  <c:pt idx="2">
                    <c:v>Full (17,284)</c:v>
                  </c:pt>
                </c:lvl>
              </c:multiLvlStrCache>
            </c:multiLvlStrRef>
          </c:cat>
          <c:val>
            <c:numRef>
              <c:f>Sheet1!$D$2:$D$4</c:f>
              <c:numCache>
                <c:formatCode>General</c:formatCode>
                <c:ptCount val="3"/>
                <c:pt idx="0">
                  <c:v>76.84</c:v>
                </c:pt>
                <c:pt idx="1">
                  <c:v>78.44</c:v>
                </c:pt>
                <c:pt idx="2">
                  <c:v>78.67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6B7280"/>
                    </a:solidFill>
                    <a:latin typeface="Arial"/>
                  </a:defRPr>
                </a:pPr>
                <a:r>
                  <a:rPr sz="1100" b="0" i="0" u="none" strike="noStrike">
                    <a:solidFill>
                      <a:srgbClr val="6B7280"/>
                    </a:solidFill>
                    <a:latin typeface="Arial"/>
                  </a:rPr>
                  <a:t>Training rows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max val="80"/>
          <c:min val="66"/>
        </c:scaling>
        <c:delete val="0"/>
        <c:axPos val="l"/>
        <c:majorGridlines>
          <c:spPr>
            <a:ln w="6350" cap="flat">
              <a:solidFill>
                <a:srgbClr val="E5E7EB"/>
              </a:solidFill>
              <a:prstDash val="solid"/>
              <a:round/>
            </a:ln>
          </c:spPr>
        </c:majorGridlines>
        <c:title>
          <c:tx>
            <c:rich>
              <a:bodyPr/>
              <a:lstStyle/>
              <a:p>
                <a:pPr>
                  <a:defRPr sz="1100" b="0" i="0" u="none" strike="noStrike">
                    <a:solidFill>
                      <a:srgbClr val="6B7280"/>
                    </a:solidFill>
                    <a:latin typeface="Arial"/>
                  </a:defRPr>
                </a:pPr>
                <a:r>
                  <a:rPr sz="1100" b="0" i="0" u="none" strike="noStrike">
                    <a:solidFill>
                      <a:srgbClr val="6B7280"/>
                    </a:solidFill>
                    <a:latin typeface="Arial"/>
                  </a:rPr>
                  <a:t>Accuracy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Arial"/>
              </a:defRPr>
            </a:pPr>
            <a:endParaRPr lang="en-US"/>
          </a:p>
        </c:txPr>
        <c:crossAx val="2094734554"/>
        <c:crosses val="autoZero"/>
        <c:crossBetween val="between"/>
        <c:majorUnit val="2"/>
      </c:valAx>
      <c:spPr>
        <a:noFill/>
        <a:ln>
          <a:noFill/>
        </a:ln>
        <a:effectLst/>
      </c:spPr>
    </c:plotArea>
    <c:legend>
      <c:legendPos val="b"/>
      <c:overlay val="0"/>
      <c:txPr>
        <a:bodyPr/>
        <a:lstStyle/>
        <a:p>
          <a:pPr>
            <a:defRPr sz="1200">
              <a:solidFill>
                <a:srgbClr val="1F2937"/>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6B7280"/>
                </a:solidFill>
                <a:latin typeface="Arial"/>
              </a:defRPr>
            </a:pPr>
            <a:r>
              <a:rPr sz="1100" b="0" i="0" u="none" strike="noStrike">
                <a:solidFill>
                  <a:srgbClr val="6B7280"/>
                </a:solidFill>
                <a:latin typeface="Arial"/>
              </a:rPr>
              <a:t>CatBoost, full data: average impact of each feature</a:t>
            </a:r>
          </a:p>
        </c:rich>
      </c:tx>
      <c:layout/>
      <c:overlay val="0"/>
    </c:title>
    <c:autoTitleDeleted val="0"/>
    <c:plotArea>
      <c:layout/>
      <c:barChart>
        <c:barDir val="bar"/>
        <c:grouping val="clustered"/>
        <c:varyColors val="0"/>
        <c:ser>
          <c:idx val="0"/>
          <c:order val="0"/>
          <c:tx>
            <c:strRef>
              <c:f>Sheet1!$B$1</c:f>
              <c:strCache>
                <c:ptCount val="1"/>
                <c:pt idx="0">
                  <c:v>Mean |SHAP|</c:v>
                </c:pt>
              </c:strCache>
            </c:strRef>
          </c:tx>
          <c:spPr>
            <a:solidFill>
              <a:srgbClr val="1F8A8A"/>
            </a:solidFill>
            <a:effectLst/>
          </c:spPr>
          <c:invertIfNegative val="0"/>
          <c:dLbls>
            <c:numFmt formatCode="0.0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cat>
            <c:multiLvlStrRef>
              <c:f>Sheet1!$A$2:$A$11</c:f>
              <c:multiLvlStrCache>
                <c:ptCount val="10"/>
                <c:lvl>
                  <c:pt idx="0">
                    <c:v>stress</c:v>
                  </c:pt>
                  <c:pt idx="1">
                    <c:v>family hair fall history</c:v>
                  </c:pt>
                  <c:pt idx="2">
                    <c:v>body water content</c:v>
                  </c:pt>
                  <c:pt idx="3">
                    <c:v>manganese</c:v>
                  </c:pt>
                  <c:pt idx="4">
                    <c:v>calcium</c:v>
                  </c:pt>
                  <c:pt idx="5">
                    <c:v>vitamin d</c:v>
                  </c:pt>
                  <c:pt idx="6">
                    <c:v>alt liver</c:v>
                  </c:pt>
                  <c:pt idx="7">
                    <c:v>total protein</c:v>
                  </c:pt>
                  <c:pt idx="8">
                    <c:v>stress level</c:v>
                  </c:pt>
                  <c:pt idx="9">
                    <c:v>iron</c:v>
                  </c:pt>
                </c:lvl>
              </c:multiLvlStrCache>
            </c:multiLvlStrRef>
          </c:cat>
          <c:val>
            <c:numRef>
              <c:f>Sheet1!$B$2:$B$11</c:f>
              <c:numCache>
                <c:formatCode>General</c:formatCode>
                <c:ptCount val="10"/>
                <c:pt idx="0">
                  <c:v>0.2731</c:v>
                </c:pt>
                <c:pt idx="1">
                  <c:v>0.2898</c:v>
                </c:pt>
                <c:pt idx="2">
                  <c:v>0.3379</c:v>
                </c:pt>
                <c:pt idx="3">
                  <c:v>0.4072</c:v>
                </c:pt>
                <c:pt idx="4">
                  <c:v>0.4791</c:v>
                </c:pt>
                <c:pt idx="5">
                  <c:v>0.561</c:v>
                </c:pt>
                <c:pt idx="6">
                  <c:v>0.5675</c:v>
                </c:pt>
                <c:pt idx="7">
                  <c:v>0.6376</c:v>
                </c:pt>
                <c:pt idx="8">
                  <c:v>0.6914</c:v>
                </c:pt>
                <c:pt idx="9">
                  <c:v>0.7026</c:v>
                </c:pt>
              </c:numCache>
            </c:numRef>
          </c:val>
        </c:ser>
        <c:dLbls>
          <c:numFmt formatCode="0.00" sourceLinked="0"/>
          <c:txPr>
            <a:bodyPr/>
            <a:lstStyle/>
            <a:p>
              <a:pPr>
                <a:defRPr b="0" i="0" strike="noStrike" sz="1000" u="none">
                  <a:solidFill>
                    <a:srgbClr val="1F2937"/>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thesis compares a classical tuned model, CatBoost, with two new pre-trained 'foundation' models, TabPFN and TabFM, for predicting hair fall risk, and it also explains what each model relies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roadmap: why the problem matters, how the study was designed, what we found, how the models can be explained, what it costs, and what we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Hair loss has many causes at once. No single blood test gives the answer, and today the assessment depends on what the patient says and on a late clinical check. A tool that combines many measurements could give an earlier, more objective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earlier studies disagree about which model is best. Second, the new foundation models had never been tested on hair fall data. Third, complex models do not explain themselves. Our study addresses all three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research question has one matching objective and one part of the method. We will come back to these four questions in the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hair loss studies. They used different data and targets, so their accuracy numbers cannot be compared with ours. The important point is that none of them tested foundation models, and only one was built to be explainable.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CatBoost really trains on our rows and is tuned by cross-validation. TabPFN and TabFM are pre-trained on millions of synthetic tables, so for our data they only read the training rows as examples. This is why they need little data but are slower at prediction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come from a company dataset, so this is a benchmark of models, not a clinical trial. There are no missing values, no duplicates and no impossible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a numbered step. We check and clean the data, split it once, give each model three training sizes, test all of them on the same 4,322 patients, explain them with SHAP, and finally compare and test the differences. The final runs were done on a Kaggle T4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rules mean any difference we see comes from the models and the amount of data, not from unfair treatment. CatBoost was tuned properly so that the baseline was not handicapped, and the test patients were never used for tuning or stopping.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the accuracy of all nine runs. With 500 or 2,000 rows the two foundation models are clearly ahead of CatBoost. With all 17,284 rows the three models are within half a percentage point of each other. Note that the vertical axis starts at 60 percent so that the differences are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CatBoost gains almost nine accuracy points when it gets all the data, while the foundation models gain less than two. With only 500 rows the foundation models are already better than CatBoost trained on 2,000 rows. The same behaviour in two independently built models suggests it is a property of this kind of model, though we tested only one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McNemar's test looks only at patients where two models disagree. With 500 and 2,000 rows both foundation models are significantly better than CatBoost, with p below 0.0001. With all the data there is no significant difference. TabPFN and TabFM never differ from each other. A non-significant result does not prove the models are equal, only that no difference was detected.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true tiers as rows and predicted tiers as columns. Almost all mistakes are between neighbouring tiers. Calling a Low patient High happened only twice and calling a High patient Low never happened. The Moderate tier is the hardest because it sits between the other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probabilities of the foundation models are better, especially with little data. Second, the three models make mostly the same mistakes, so the limit is in the data and not in the model. Third, accuracy is similar for women and men and for the age bands, so no group is served much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 gives each feature a score for how much it pushed each patient's prediction up or down. In all nine analyses, iron and stress level were the top two features, followed by protein, the liver enzyme ALT, vitamin D and calcium. The rankings of the three models agree closely.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plot, each dot is one patient. Dots to the right push the prediction towards High risk, and the colour shows whether the patient's value is high or low. Low iron and high stress push risk up, while higher protein, vitamin D and calcium push it down. This agrees with the simple correlations in the data. It shows what the models learned from this company dataset, not proof of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full data, CatBoost is fitted in about three seconds. TabPFN needs about five minutes and TabFM about fifty minutes to predict the test patients on a T4 GPU. Explaining them with Kernel SHAP is even slower. TabFM full-size could not run at all on our 16 GB laptop without a GPU, so we used Kaggle with memory-saving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choice depends on how much labelled data you have and where the model will run. With few rows a foundation model is much better and gives better probabilities. With plenty of data CatBoost is just as accurate, thousands of times cheaper, and works on a normal computer for one patient at a time. Explanations are possible for all, cheapest for CatBoost.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open about the limits. The dataset comes from one company, so the results are about the models and not about real patients. We used one split and one seed. SHAP for the foundation models used only 30 and 20 patients. Timings come from different hardware for CatBoost and the foundation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answers. One: no significant difference with all the data, but foundation models are clearly better with little data. Two: CatBoost depends much more on data. Three: iron and stress lead in every model and the directions agree. Four: CatBoost costs seconds, TabPFN minutes and TabFM close to an hour on a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practice: use a foundation model when data are few, use CatBoost when data are plentiful, check cost before choosing, and always add explanations. For research: repeat with several splits, explain more patients, tune all models, try ordinal models, validate on real clinical data, and study ensembles. Thank you, I am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3" name="Text 0"/>
          <p:cNvSpPr txBox="1"/>
          <p:nvPr/>
        </p:nvSpPr>
        <p:spPr>
          <a:xfrm>
            <a:off x="548640" y="502920"/>
            <a:ext cx="5486400" cy="274320"/>
          </a:xfrm>
          <a:prstGeom prst="rect">
            <a:avLst/>
          </a:prstGeom>
          <a:noFill/>
          <a:ln/>
        </p:spPr>
        <p:txBody>
          <a:bodyPr wrap="square" lIns="0" tIns="0" rIns="0" bIns="0" rtlCol="0" anchor="t"/>
          <a:lstStyle/>
          <a:p>
            <a:pPr indent="0" marL="0">
              <a:buNone/>
            </a:pPr>
            <a:r>
              <a:rPr lang="en-US" sz="1100" b="1" spc="300" kern="0" dirty="0">
                <a:solidFill>
                  <a:srgbClr val="E9A23B"/>
                </a:solidFill>
                <a:latin typeface="Calibri" pitchFamily="34" charset="0"/>
                <a:ea typeface="Calibri" pitchFamily="34" charset="-122"/>
                <a:cs typeface="Calibri" pitchFamily="34" charset="-120"/>
              </a:rPr>
              <a:t>MCS THESIS PRESENTATION</a:t>
            </a:r>
            <a:endParaRPr lang="en-US" sz="1100" dirty="0"/>
          </a:p>
        </p:txBody>
      </p:sp>
      <p:sp>
        <p:nvSpPr>
          <p:cNvPr id="4" name="Text 1"/>
          <p:cNvSpPr txBox="1"/>
          <p:nvPr/>
        </p:nvSpPr>
        <p:spPr>
          <a:xfrm>
            <a:off x="548640" y="914400"/>
            <a:ext cx="5394960" cy="192024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Comparative Benchmarking of CatBoost, TabPFN and TabFM for Explainable Hair Fall Risk Stratification</a:t>
            </a:r>
            <a:endParaRPr lang="en-US" sz="2800" dirty="0"/>
          </a:p>
        </p:txBody>
      </p:sp>
      <p:sp>
        <p:nvSpPr>
          <p:cNvPr id="5" name="Text 2"/>
          <p:cNvSpPr txBox="1"/>
          <p:nvPr/>
        </p:nvSpPr>
        <p:spPr>
          <a:xfrm>
            <a:off x="548640" y="3154680"/>
            <a:ext cx="5394960" cy="32004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Krishna Gautam</a:t>
            </a:r>
            <a:endParaRPr lang="en-US" sz="2000" dirty="0"/>
          </a:p>
        </p:txBody>
      </p:sp>
      <p:sp>
        <p:nvSpPr>
          <p:cNvPr id="6" name="Text 3"/>
          <p:cNvSpPr txBox="1"/>
          <p:nvPr/>
        </p:nvSpPr>
        <p:spPr>
          <a:xfrm>
            <a:off x="548640" y="3520440"/>
            <a:ext cx="5394960" cy="274320"/>
          </a:xfrm>
          <a:prstGeom prst="rect">
            <a:avLst/>
          </a:prstGeom>
          <a:noFill/>
          <a:ln/>
        </p:spPr>
        <p:txBody>
          <a:bodyPr wrap="square" lIns="0" tIns="0" rIns="0" bIns="0" rtlCol="0" anchor="t"/>
          <a:lstStyle/>
          <a:p>
            <a:pPr indent="0" marL="0">
              <a:buNone/>
            </a:pPr>
            <a:r>
              <a:rPr lang="en-US" sz="1500" dirty="0">
                <a:solidFill>
                  <a:srgbClr val="DCE3EE"/>
                </a:solidFill>
                <a:latin typeface="Calibri" pitchFamily="34" charset="0"/>
                <a:ea typeface="Calibri" pitchFamily="34" charset="-122"/>
                <a:cs typeface="Calibri" pitchFamily="34" charset="-120"/>
              </a:rPr>
              <a:t>Supervised by Rabin Thapa</a:t>
            </a:r>
            <a:endParaRPr lang="en-US" sz="1500" dirty="0"/>
          </a:p>
        </p:txBody>
      </p:sp>
      <p:sp>
        <p:nvSpPr>
          <p:cNvPr id="7" name="Text 4"/>
          <p:cNvSpPr txBox="1"/>
          <p:nvPr/>
        </p:nvSpPr>
        <p:spPr>
          <a:xfrm>
            <a:off x="548640" y="4069080"/>
            <a:ext cx="5394960" cy="548640"/>
          </a:xfrm>
          <a:prstGeom prst="rect">
            <a:avLst/>
          </a:prstGeom>
          <a:noFill/>
          <a:ln/>
        </p:spPr>
        <p:txBody>
          <a:bodyPr wrap="square" lIns="0" tIns="0" rIns="0" bIns="0" rtlCol="0" anchor="t"/>
          <a:lstStyle/>
          <a:p>
            <a:pPr indent="0" marL="0">
              <a:buNone/>
            </a:pPr>
            <a:r>
              <a:rPr lang="en-US" sz="1100" dirty="0">
                <a:solidFill>
                  <a:srgbClr val="DCE3EE"/>
                </a:solidFill>
                <a:latin typeface="Calibri" pitchFamily="34" charset="0"/>
                <a:ea typeface="Calibri" pitchFamily="34" charset="-122"/>
                <a:cs typeface="Calibri" pitchFamily="34" charset="-120"/>
              </a:rPr>
              <a:t>Lincoln International College of Management &amp; IT</a:t>
            </a:r>
            <a:endParaRPr lang="en-US" sz="1100" dirty="0"/>
          </a:p>
          <a:p>
            <a:pPr indent="0" marL="0">
              <a:buNone/>
            </a:pPr>
            <a:r>
              <a:rPr lang="en-US" sz="1100" dirty="0">
                <a:solidFill>
                  <a:srgbClr val="DCE3EE"/>
                </a:solidFill>
                <a:latin typeface="Calibri" pitchFamily="34" charset="0"/>
                <a:ea typeface="Calibri" pitchFamily="34" charset="-122"/>
                <a:cs typeface="Calibri" pitchFamily="34" charset="-120"/>
              </a:rPr>
              <a:t>Lincoln University College, Malaysia  ·  September 2026</a:t>
            </a:r>
            <a:endParaRPr lang="en-US" sz="1100" dirty="0"/>
          </a:p>
        </p:txBody>
      </p:sp>
      <p:sp>
        <p:nvSpPr>
          <p:cNvPr id="8" name="Shape 5"/>
          <p:cNvSpPr/>
          <p:nvPr/>
        </p:nvSpPr>
        <p:spPr>
          <a:xfrm>
            <a:off x="6355080" y="685800"/>
            <a:ext cx="2286000" cy="1143000"/>
          </a:xfrm>
          <a:prstGeom prst="roundRect">
            <a:avLst>
              <a:gd name="adj" fmla="val 6400"/>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pic>
        <p:nvPicPr>
          <p:cNvPr id="9" name="Image 0" descr="logo-000.png">    </p:cNvPr>
          <p:cNvPicPr>
            <a:picLocks noChangeAspect="1"/>
          </p:cNvPicPr>
          <p:nvPr/>
        </p:nvPicPr>
        <p:blipFill>
          <a:blip r:embed="rId1"/>
          <a:stretch>
            <a:fillRect/>
          </a:stretch>
        </p:blipFill>
        <p:spPr>
          <a:xfrm>
            <a:off x="6492240" y="868680"/>
            <a:ext cx="2011680" cy="771754"/>
          </a:xfrm>
          <a:prstGeom prst="rect">
            <a:avLst/>
          </a:prstGeom>
        </p:spPr>
      </p:pic>
      <p:sp>
        <p:nvSpPr>
          <p:cNvPr id="10" name="Shape 6"/>
          <p:cNvSpPr/>
          <p:nvPr/>
        </p:nvSpPr>
        <p:spPr>
          <a:xfrm>
            <a:off x="6355080" y="2331720"/>
            <a:ext cx="2286000" cy="566928"/>
          </a:xfrm>
          <a:prstGeom prst="roundRect">
            <a:avLst>
              <a:gd name="adj" fmla="val 16129"/>
            </a:avLst>
          </a:prstGeom>
          <a:solidFill>
            <a:srgbClr val="E9A23B"/>
          </a:solidFill>
          <a:ln w="12700">
            <a:solidFill>
              <a:srgbClr val="E9A23B"/>
            </a:solidFill>
            <a:prstDash val="solid"/>
          </a:ln>
        </p:spPr>
      </p:sp>
      <p:sp>
        <p:nvSpPr>
          <p:cNvPr id="11" name="Text 7"/>
          <p:cNvSpPr txBox="1"/>
          <p:nvPr/>
        </p:nvSpPr>
        <p:spPr>
          <a:xfrm>
            <a:off x="6492240" y="2377440"/>
            <a:ext cx="2011680" cy="256032"/>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CatBoost</a:t>
            </a:r>
            <a:endParaRPr lang="en-US" sz="1500" dirty="0"/>
          </a:p>
        </p:txBody>
      </p:sp>
      <p:sp>
        <p:nvSpPr>
          <p:cNvPr id="12" name="Text 8"/>
          <p:cNvSpPr txBox="1"/>
          <p:nvPr/>
        </p:nvSpPr>
        <p:spPr>
          <a:xfrm>
            <a:off x="6492240" y="2633472"/>
            <a:ext cx="2011680" cy="201168"/>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tuned decision trees</a:t>
            </a:r>
            <a:endParaRPr lang="en-US" sz="1050" dirty="0"/>
          </a:p>
        </p:txBody>
      </p:sp>
      <p:sp>
        <p:nvSpPr>
          <p:cNvPr id="13" name="Shape 9"/>
          <p:cNvSpPr/>
          <p:nvPr/>
        </p:nvSpPr>
        <p:spPr>
          <a:xfrm>
            <a:off x="6355080" y="3044952"/>
            <a:ext cx="2286000" cy="566928"/>
          </a:xfrm>
          <a:prstGeom prst="roundRect">
            <a:avLst>
              <a:gd name="adj" fmla="val 16129"/>
            </a:avLst>
          </a:prstGeom>
          <a:solidFill>
            <a:srgbClr val="2F6FD6"/>
          </a:solidFill>
          <a:ln w="12700">
            <a:solidFill>
              <a:srgbClr val="2F6FD6"/>
            </a:solidFill>
            <a:prstDash val="solid"/>
          </a:ln>
        </p:spPr>
      </p:sp>
      <p:sp>
        <p:nvSpPr>
          <p:cNvPr id="14" name="Text 10"/>
          <p:cNvSpPr txBox="1"/>
          <p:nvPr/>
        </p:nvSpPr>
        <p:spPr>
          <a:xfrm>
            <a:off x="6492240" y="3090672"/>
            <a:ext cx="2011680" cy="256032"/>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TabPFN</a:t>
            </a:r>
            <a:endParaRPr lang="en-US" sz="1500" dirty="0"/>
          </a:p>
        </p:txBody>
      </p:sp>
      <p:sp>
        <p:nvSpPr>
          <p:cNvPr id="15" name="Text 11"/>
          <p:cNvSpPr txBox="1"/>
          <p:nvPr/>
        </p:nvSpPr>
        <p:spPr>
          <a:xfrm>
            <a:off x="6492240" y="3346704"/>
            <a:ext cx="2011680" cy="201168"/>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pre-trained transformer</a:t>
            </a:r>
            <a:endParaRPr lang="en-US" sz="1050" dirty="0"/>
          </a:p>
        </p:txBody>
      </p:sp>
      <p:sp>
        <p:nvSpPr>
          <p:cNvPr id="16" name="Shape 12"/>
          <p:cNvSpPr/>
          <p:nvPr/>
        </p:nvSpPr>
        <p:spPr>
          <a:xfrm>
            <a:off x="6355080" y="3758184"/>
            <a:ext cx="2286000" cy="566928"/>
          </a:xfrm>
          <a:prstGeom prst="roundRect">
            <a:avLst>
              <a:gd name="adj" fmla="val 16129"/>
            </a:avLst>
          </a:prstGeom>
          <a:solidFill>
            <a:srgbClr val="2EA44F"/>
          </a:solidFill>
          <a:ln w="12700">
            <a:solidFill>
              <a:srgbClr val="2EA44F"/>
            </a:solidFill>
            <a:prstDash val="solid"/>
          </a:ln>
        </p:spPr>
      </p:sp>
      <p:sp>
        <p:nvSpPr>
          <p:cNvPr id="17" name="Text 13"/>
          <p:cNvSpPr txBox="1"/>
          <p:nvPr/>
        </p:nvSpPr>
        <p:spPr>
          <a:xfrm>
            <a:off x="6492240" y="3803904"/>
            <a:ext cx="2011680" cy="256032"/>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TabFM</a:t>
            </a:r>
            <a:endParaRPr lang="en-US" sz="1500" dirty="0"/>
          </a:p>
        </p:txBody>
      </p:sp>
      <p:sp>
        <p:nvSpPr>
          <p:cNvPr id="18" name="Text 14"/>
          <p:cNvSpPr txBox="1"/>
          <p:nvPr/>
        </p:nvSpPr>
        <p:spPr>
          <a:xfrm>
            <a:off x="6492240" y="4059936"/>
            <a:ext cx="2011680" cy="201168"/>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Google foundation model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777240"/>
          </a:xfrm>
          <a:prstGeom prst="rect">
            <a:avLst/>
          </a:prstGeom>
          <a:noFill/>
          <a:ln/>
        </p:spPr>
        <p:txBody>
          <a:bodyPr wrap="square" lIns="0" tIns="0" rIns="0" bIns="0" rtlCol="0" anchor="t"/>
          <a:lstStyle/>
          <a:p>
            <a:pPr indent="0" marL="0">
              <a:buNone/>
            </a:pPr>
            <a:r>
              <a:rPr lang="en-US" sz="2500" b="1" dirty="0">
                <a:solidFill>
                  <a:srgbClr val="14213D"/>
                </a:solidFill>
                <a:latin typeface="Cambria" pitchFamily="34" charset="0"/>
                <a:ea typeface="Cambria" pitchFamily="34" charset="-122"/>
                <a:cs typeface="Cambria" pitchFamily="34" charset="-120"/>
              </a:rPr>
              <a:t>What we will cover</a:t>
            </a:r>
            <a:endParaRPr lang="en-US" sz="2500" dirty="0"/>
          </a:p>
        </p:txBody>
      </p:sp>
      <p:sp>
        <p:nvSpPr>
          <p:cNvPr id="3" name="Text 1"/>
          <p:cNvSpPr txBox="1"/>
          <p:nvPr/>
        </p:nvSpPr>
        <p:spPr>
          <a:xfrm>
            <a:off x="8229600" y="4773168"/>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
        <p:nvSpPr>
          <p:cNvPr id="5" name="Shape 2"/>
          <p:cNvSpPr/>
          <p:nvPr/>
        </p:nvSpPr>
        <p:spPr>
          <a:xfrm>
            <a:off x="457200" y="1280160"/>
            <a:ext cx="2606040" cy="1554480"/>
          </a:xfrm>
          <a:prstGeom prst="roundRect">
            <a:avLst>
              <a:gd name="adj" fmla="val 47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6" name="Shape 3"/>
          <p:cNvSpPr/>
          <p:nvPr/>
        </p:nvSpPr>
        <p:spPr>
          <a:xfrm>
            <a:off x="457200" y="1280160"/>
            <a:ext cx="2606040" cy="1554480"/>
          </a:xfrm>
          <a:prstGeom prst="roundRect">
            <a:avLst>
              <a:gd name="adj" fmla="val 4706"/>
            </a:avLst>
          </a:prstGeom>
          <a:solidFill>
            <a:srgbClr val="F3F5F9"/>
          </a:solidFill>
          <a:ln w="9525">
            <a:solidFill>
              <a:srgbClr val="DCE3EE"/>
            </a:solidFill>
            <a:prstDash val="solid"/>
          </a:ln>
        </p:spPr>
      </p:sp>
      <p:sp>
        <p:nvSpPr>
          <p:cNvPr id="7" name="Shape 4"/>
          <p:cNvSpPr/>
          <p:nvPr/>
        </p:nvSpPr>
        <p:spPr>
          <a:xfrm>
            <a:off x="640080" y="1463040"/>
            <a:ext cx="457200" cy="457200"/>
          </a:xfrm>
          <a:prstGeom prst="ellipse">
            <a:avLst/>
          </a:prstGeom>
          <a:solidFill>
            <a:srgbClr val="14213D"/>
          </a:solidFill>
          <a:ln w="12700">
            <a:solidFill>
              <a:srgbClr val="14213D"/>
            </a:solidFill>
            <a:prstDash val="solid"/>
          </a:ln>
        </p:spPr>
      </p:sp>
      <p:sp>
        <p:nvSpPr>
          <p:cNvPr id="8" name="Text 5"/>
          <p:cNvSpPr txBox="1"/>
          <p:nvPr/>
        </p:nvSpPr>
        <p:spPr>
          <a:xfrm>
            <a:off x="640080" y="14630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6"/>
          <p:cNvSpPr txBox="1"/>
          <p:nvPr/>
        </p:nvSpPr>
        <p:spPr>
          <a:xfrm>
            <a:off x="1234440" y="1481328"/>
            <a:ext cx="1691640" cy="45720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Introduction</a:t>
            </a:r>
            <a:endParaRPr lang="en-US" sz="1500" dirty="0"/>
          </a:p>
        </p:txBody>
      </p:sp>
      <p:sp>
        <p:nvSpPr>
          <p:cNvPr id="10" name="Text 7"/>
          <p:cNvSpPr txBox="1"/>
          <p:nvPr/>
        </p:nvSpPr>
        <p:spPr>
          <a:xfrm>
            <a:off x="640080" y="2057400"/>
            <a:ext cx="2240280" cy="4572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Why hair fall risk is hard, the gaps, our questions</a:t>
            </a:r>
            <a:endParaRPr lang="en-US" sz="1200" dirty="0"/>
          </a:p>
        </p:txBody>
      </p:sp>
      <p:sp>
        <p:nvSpPr>
          <p:cNvPr id="11" name="Text 8"/>
          <p:cNvSpPr txBox="1"/>
          <p:nvPr/>
        </p:nvSpPr>
        <p:spPr>
          <a:xfrm>
            <a:off x="640080" y="2514600"/>
            <a:ext cx="2240280" cy="228600"/>
          </a:xfrm>
          <a:prstGeom prst="rect">
            <a:avLst/>
          </a:prstGeom>
          <a:noFill/>
          <a:ln/>
        </p:spPr>
        <p:txBody>
          <a:bodyPr wrap="square" lIns="0" tIns="0" rIns="0" bIns="0" rtlCol="0" anchor="t"/>
          <a:lstStyle/>
          <a:p>
            <a:pPr indent="0" marL="0">
              <a:buNone/>
            </a:pPr>
            <a:r>
              <a:rPr lang="en-US" sz="1100" b="1" dirty="0">
                <a:solidFill>
                  <a:srgbClr val="E9A23B"/>
                </a:solidFill>
                <a:latin typeface="Calibri" pitchFamily="34" charset="0"/>
                <a:ea typeface="Calibri" pitchFamily="34" charset="-122"/>
                <a:cs typeface="Calibri" pitchFamily="34" charset="-120"/>
              </a:rPr>
              <a:t>Slides 3–6</a:t>
            </a:r>
            <a:endParaRPr lang="en-US" sz="1100" dirty="0"/>
          </a:p>
        </p:txBody>
      </p:sp>
      <p:sp>
        <p:nvSpPr>
          <p:cNvPr id="12" name="Shape 9"/>
          <p:cNvSpPr/>
          <p:nvPr/>
        </p:nvSpPr>
        <p:spPr>
          <a:xfrm>
            <a:off x="3268980" y="1280160"/>
            <a:ext cx="2606040" cy="1554480"/>
          </a:xfrm>
          <a:prstGeom prst="roundRect">
            <a:avLst>
              <a:gd name="adj" fmla="val 47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3" name="Shape 10"/>
          <p:cNvSpPr/>
          <p:nvPr/>
        </p:nvSpPr>
        <p:spPr>
          <a:xfrm>
            <a:off x="3268980" y="1280160"/>
            <a:ext cx="2606040" cy="1554480"/>
          </a:xfrm>
          <a:prstGeom prst="roundRect">
            <a:avLst>
              <a:gd name="adj" fmla="val 4706"/>
            </a:avLst>
          </a:prstGeom>
          <a:solidFill>
            <a:srgbClr val="F3F5F9"/>
          </a:solidFill>
          <a:ln w="9525">
            <a:solidFill>
              <a:srgbClr val="DCE3EE"/>
            </a:solidFill>
            <a:prstDash val="solid"/>
          </a:ln>
        </p:spPr>
      </p:sp>
      <p:sp>
        <p:nvSpPr>
          <p:cNvPr id="14" name="Shape 11"/>
          <p:cNvSpPr/>
          <p:nvPr/>
        </p:nvSpPr>
        <p:spPr>
          <a:xfrm>
            <a:off x="3451860" y="1463040"/>
            <a:ext cx="457200" cy="457200"/>
          </a:xfrm>
          <a:prstGeom prst="ellipse">
            <a:avLst/>
          </a:prstGeom>
          <a:solidFill>
            <a:srgbClr val="14213D"/>
          </a:solidFill>
          <a:ln w="12700">
            <a:solidFill>
              <a:srgbClr val="14213D"/>
            </a:solidFill>
            <a:prstDash val="solid"/>
          </a:ln>
        </p:spPr>
      </p:sp>
      <p:sp>
        <p:nvSpPr>
          <p:cNvPr id="15" name="Text 12"/>
          <p:cNvSpPr txBox="1"/>
          <p:nvPr/>
        </p:nvSpPr>
        <p:spPr>
          <a:xfrm>
            <a:off x="3451860" y="14630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Text 13"/>
          <p:cNvSpPr txBox="1"/>
          <p:nvPr/>
        </p:nvSpPr>
        <p:spPr>
          <a:xfrm>
            <a:off x="4046220" y="1481328"/>
            <a:ext cx="1691640" cy="45720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Method</a:t>
            </a:r>
            <a:endParaRPr lang="en-US" sz="1500" dirty="0"/>
          </a:p>
        </p:txBody>
      </p:sp>
      <p:sp>
        <p:nvSpPr>
          <p:cNvPr id="17" name="Text 14"/>
          <p:cNvSpPr txBox="1"/>
          <p:nvPr/>
        </p:nvSpPr>
        <p:spPr>
          <a:xfrm>
            <a:off x="3451860" y="2057400"/>
            <a:ext cx="2240280" cy="4572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The three models, the data, a fair test</a:t>
            </a:r>
            <a:endParaRPr lang="en-US" sz="1200" dirty="0"/>
          </a:p>
        </p:txBody>
      </p:sp>
      <p:sp>
        <p:nvSpPr>
          <p:cNvPr id="18" name="Text 15"/>
          <p:cNvSpPr txBox="1"/>
          <p:nvPr/>
        </p:nvSpPr>
        <p:spPr>
          <a:xfrm>
            <a:off x="3451860" y="2514600"/>
            <a:ext cx="2240280" cy="228600"/>
          </a:xfrm>
          <a:prstGeom prst="rect">
            <a:avLst/>
          </a:prstGeom>
          <a:noFill/>
          <a:ln/>
        </p:spPr>
        <p:txBody>
          <a:bodyPr wrap="square" lIns="0" tIns="0" rIns="0" bIns="0" rtlCol="0" anchor="t"/>
          <a:lstStyle/>
          <a:p>
            <a:pPr indent="0" marL="0">
              <a:buNone/>
            </a:pPr>
            <a:r>
              <a:rPr lang="en-US" sz="1100" b="1" dirty="0">
                <a:solidFill>
                  <a:srgbClr val="E9A23B"/>
                </a:solidFill>
                <a:latin typeface="Calibri" pitchFamily="34" charset="0"/>
                <a:ea typeface="Calibri" pitchFamily="34" charset="-122"/>
                <a:cs typeface="Calibri" pitchFamily="34" charset="-120"/>
              </a:rPr>
              <a:t>Slides 7–10</a:t>
            </a:r>
            <a:endParaRPr lang="en-US" sz="1100" dirty="0"/>
          </a:p>
        </p:txBody>
      </p:sp>
      <p:sp>
        <p:nvSpPr>
          <p:cNvPr id="19" name="Shape 16"/>
          <p:cNvSpPr/>
          <p:nvPr/>
        </p:nvSpPr>
        <p:spPr>
          <a:xfrm>
            <a:off x="6080760" y="1280160"/>
            <a:ext cx="2606040" cy="1554480"/>
          </a:xfrm>
          <a:prstGeom prst="roundRect">
            <a:avLst>
              <a:gd name="adj" fmla="val 47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0" name="Shape 17"/>
          <p:cNvSpPr/>
          <p:nvPr/>
        </p:nvSpPr>
        <p:spPr>
          <a:xfrm>
            <a:off x="6080760" y="1280160"/>
            <a:ext cx="2606040" cy="1554480"/>
          </a:xfrm>
          <a:prstGeom prst="roundRect">
            <a:avLst>
              <a:gd name="adj" fmla="val 4706"/>
            </a:avLst>
          </a:prstGeom>
          <a:solidFill>
            <a:srgbClr val="F3F5F9"/>
          </a:solidFill>
          <a:ln w="9525">
            <a:solidFill>
              <a:srgbClr val="DCE3EE"/>
            </a:solidFill>
            <a:prstDash val="solid"/>
          </a:ln>
        </p:spPr>
      </p:sp>
      <p:sp>
        <p:nvSpPr>
          <p:cNvPr id="21" name="Shape 18"/>
          <p:cNvSpPr/>
          <p:nvPr/>
        </p:nvSpPr>
        <p:spPr>
          <a:xfrm>
            <a:off x="6263640" y="1463040"/>
            <a:ext cx="457200" cy="457200"/>
          </a:xfrm>
          <a:prstGeom prst="ellipse">
            <a:avLst/>
          </a:prstGeom>
          <a:solidFill>
            <a:srgbClr val="14213D"/>
          </a:solidFill>
          <a:ln w="12700">
            <a:solidFill>
              <a:srgbClr val="14213D"/>
            </a:solidFill>
            <a:prstDash val="solid"/>
          </a:ln>
        </p:spPr>
      </p:sp>
      <p:sp>
        <p:nvSpPr>
          <p:cNvPr id="22" name="Text 19"/>
          <p:cNvSpPr txBox="1"/>
          <p:nvPr/>
        </p:nvSpPr>
        <p:spPr>
          <a:xfrm>
            <a:off x="6263640" y="14630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3" name="Text 20"/>
          <p:cNvSpPr txBox="1"/>
          <p:nvPr/>
        </p:nvSpPr>
        <p:spPr>
          <a:xfrm>
            <a:off x="6858000" y="1481328"/>
            <a:ext cx="1691640" cy="45720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Results</a:t>
            </a:r>
            <a:endParaRPr lang="en-US" sz="1500" dirty="0"/>
          </a:p>
        </p:txBody>
      </p:sp>
      <p:sp>
        <p:nvSpPr>
          <p:cNvPr id="24" name="Text 21"/>
          <p:cNvSpPr txBox="1"/>
          <p:nvPr/>
        </p:nvSpPr>
        <p:spPr>
          <a:xfrm>
            <a:off x="6263640" y="2057400"/>
            <a:ext cx="2240280" cy="4572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Accuracy, training size, significance, errors</a:t>
            </a:r>
            <a:endParaRPr lang="en-US" sz="1200" dirty="0"/>
          </a:p>
        </p:txBody>
      </p:sp>
      <p:sp>
        <p:nvSpPr>
          <p:cNvPr id="25" name="Text 22"/>
          <p:cNvSpPr txBox="1"/>
          <p:nvPr/>
        </p:nvSpPr>
        <p:spPr>
          <a:xfrm>
            <a:off x="6263640" y="2514600"/>
            <a:ext cx="2240280" cy="228600"/>
          </a:xfrm>
          <a:prstGeom prst="rect">
            <a:avLst/>
          </a:prstGeom>
          <a:noFill/>
          <a:ln/>
        </p:spPr>
        <p:txBody>
          <a:bodyPr wrap="square" lIns="0" tIns="0" rIns="0" bIns="0" rtlCol="0" anchor="t"/>
          <a:lstStyle/>
          <a:p>
            <a:pPr indent="0" marL="0">
              <a:buNone/>
            </a:pPr>
            <a:r>
              <a:rPr lang="en-US" sz="1100" b="1" dirty="0">
                <a:solidFill>
                  <a:srgbClr val="E9A23B"/>
                </a:solidFill>
                <a:latin typeface="Calibri" pitchFamily="34" charset="0"/>
                <a:ea typeface="Calibri" pitchFamily="34" charset="-122"/>
                <a:cs typeface="Calibri" pitchFamily="34" charset="-120"/>
              </a:rPr>
              <a:t>Slides 11–15</a:t>
            </a:r>
            <a:endParaRPr lang="en-US" sz="1100" dirty="0"/>
          </a:p>
        </p:txBody>
      </p:sp>
      <p:sp>
        <p:nvSpPr>
          <p:cNvPr id="26" name="Shape 23"/>
          <p:cNvSpPr/>
          <p:nvPr/>
        </p:nvSpPr>
        <p:spPr>
          <a:xfrm>
            <a:off x="457200" y="3063240"/>
            <a:ext cx="2606040" cy="1554480"/>
          </a:xfrm>
          <a:prstGeom prst="roundRect">
            <a:avLst>
              <a:gd name="adj" fmla="val 47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7" name="Shape 24"/>
          <p:cNvSpPr/>
          <p:nvPr/>
        </p:nvSpPr>
        <p:spPr>
          <a:xfrm>
            <a:off x="457200" y="3063240"/>
            <a:ext cx="2606040" cy="1554480"/>
          </a:xfrm>
          <a:prstGeom prst="roundRect">
            <a:avLst>
              <a:gd name="adj" fmla="val 4706"/>
            </a:avLst>
          </a:prstGeom>
          <a:solidFill>
            <a:srgbClr val="F3F5F9"/>
          </a:solidFill>
          <a:ln w="9525">
            <a:solidFill>
              <a:srgbClr val="DCE3EE"/>
            </a:solidFill>
            <a:prstDash val="solid"/>
          </a:ln>
        </p:spPr>
      </p:sp>
      <p:sp>
        <p:nvSpPr>
          <p:cNvPr id="28" name="Shape 25"/>
          <p:cNvSpPr/>
          <p:nvPr/>
        </p:nvSpPr>
        <p:spPr>
          <a:xfrm>
            <a:off x="640080" y="3246120"/>
            <a:ext cx="457200" cy="457200"/>
          </a:xfrm>
          <a:prstGeom prst="ellipse">
            <a:avLst/>
          </a:prstGeom>
          <a:solidFill>
            <a:srgbClr val="14213D"/>
          </a:solidFill>
          <a:ln w="12700">
            <a:solidFill>
              <a:srgbClr val="14213D"/>
            </a:solidFill>
            <a:prstDash val="solid"/>
          </a:ln>
        </p:spPr>
      </p:sp>
      <p:sp>
        <p:nvSpPr>
          <p:cNvPr id="29" name="Text 26"/>
          <p:cNvSpPr txBox="1"/>
          <p:nvPr/>
        </p:nvSpPr>
        <p:spPr>
          <a:xfrm>
            <a:off x="640080" y="32461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0" name="Text 27"/>
          <p:cNvSpPr txBox="1"/>
          <p:nvPr/>
        </p:nvSpPr>
        <p:spPr>
          <a:xfrm>
            <a:off x="1234440" y="3264408"/>
            <a:ext cx="1691640" cy="45720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Explainability</a:t>
            </a:r>
            <a:endParaRPr lang="en-US" sz="1500" dirty="0"/>
          </a:p>
        </p:txBody>
      </p:sp>
      <p:sp>
        <p:nvSpPr>
          <p:cNvPr id="31" name="Text 28"/>
          <p:cNvSpPr txBox="1"/>
          <p:nvPr/>
        </p:nvSpPr>
        <p:spPr>
          <a:xfrm>
            <a:off x="640080" y="3840480"/>
            <a:ext cx="2240280" cy="4572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What drives the risk (SHAP)</a:t>
            </a:r>
            <a:endParaRPr lang="en-US" sz="1200" dirty="0"/>
          </a:p>
        </p:txBody>
      </p:sp>
      <p:sp>
        <p:nvSpPr>
          <p:cNvPr id="32" name="Text 29"/>
          <p:cNvSpPr txBox="1"/>
          <p:nvPr/>
        </p:nvSpPr>
        <p:spPr>
          <a:xfrm>
            <a:off x="640080" y="4297680"/>
            <a:ext cx="2240280" cy="228600"/>
          </a:xfrm>
          <a:prstGeom prst="rect">
            <a:avLst/>
          </a:prstGeom>
          <a:noFill/>
          <a:ln/>
        </p:spPr>
        <p:txBody>
          <a:bodyPr wrap="square" lIns="0" tIns="0" rIns="0" bIns="0" rtlCol="0" anchor="t"/>
          <a:lstStyle/>
          <a:p>
            <a:pPr indent="0" marL="0">
              <a:buNone/>
            </a:pPr>
            <a:r>
              <a:rPr lang="en-US" sz="1100" b="1" dirty="0">
                <a:solidFill>
                  <a:srgbClr val="E9A23B"/>
                </a:solidFill>
                <a:latin typeface="Calibri" pitchFamily="34" charset="0"/>
                <a:ea typeface="Calibri" pitchFamily="34" charset="-122"/>
                <a:cs typeface="Calibri" pitchFamily="34" charset="-120"/>
              </a:rPr>
              <a:t>Slides 16–17</a:t>
            </a:r>
            <a:endParaRPr lang="en-US" sz="1100" dirty="0"/>
          </a:p>
        </p:txBody>
      </p:sp>
      <p:sp>
        <p:nvSpPr>
          <p:cNvPr id="33" name="Shape 30"/>
          <p:cNvSpPr/>
          <p:nvPr/>
        </p:nvSpPr>
        <p:spPr>
          <a:xfrm>
            <a:off x="3268980" y="3063240"/>
            <a:ext cx="2606040" cy="1554480"/>
          </a:xfrm>
          <a:prstGeom prst="roundRect">
            <a:avLst>
              <a:gd name="adj" fmla="val 47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4" name="Shape 31"/>
          <p:cNvSpPr/>
          <p:nvPr/>
        </p:nvSpPr>
        <p:spPr>
          <a:xfrm>
            <a:off x="3268980" y="3063240"/>
            <a:ext cx="2606040" cy="1554480"/>
          </a:xfrm>
          <a:prstGeom prst="roundRect">
            <a:avLst>
              <a:gd name="adj" fmla="val 4706"/>
            </a:avLst>
          </a:prstGeom>
          <a:solidFill>
            <a:srgbClr val="F3F5F9"/>
          </a:solidFill>
          <a:ln w="9525">
            <a:solidFill>
              <a:srgbClr val="DCE3EE"/>
            </a:solidFill>
            <a:prstDash val="solid"/>
          </a:ln>
        </p:spPr>
      </p:sp>
      <p:sp>
        <p:nvSpPr>
          <p:cNvPr id="35" name="Shape 32"/>
          <p:cNvSpPr/>
          <p:nvPr/>
        </p:nvSpPr>
        <p:spPr>
          <a:xfrm>
            <a:off x="3451860" y="3246120"/>
            <a:ext cx="457200" cy="457200"/>
          </a:xfrm>
          <a:prstGeom prst="ellipse">
            <a:avLst/>
          </a:prstGeom>
          <a:solidFill>
            <a:srgbClr val="14213D"/>
          </a:solidFill>
          <a:ln w="12700">
            <a:solidFill>
              <a:srgbClr val="14213D"/>
            </a:solidFill>
            <a:prstDash val="solid"/>
          </a:ln>
        </p:spPr>
      </p:sp>
      <p:sp>
        <p:nvSpPr>
          <p:cNvPr id="36" name="Text 33"/>
          <p:cNvSpPr txBox="1"/>
          <p:nvPr/>
        </p:nvSpPr>
        <p:spPr>
          <a:xfrm>
            <a:off x="3451860" y="32461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7" name="Text 34"/>
          <p:cNvSpPr txBox="1"/>
          <p:nvPr/>
        </p:nvSpPr>
        <p:spPr>
          <a:xfrm>
            <a:off x="4046220" y="3264408"/>
            <a:ext cx="1691640" cy="45720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Cost and discussion</a:t>
            </a:r>
            <a:endParaRPr lang="en-US" sz="1500" dirty="0"/>
          </a:p>
        </p:txBody>
      </p:sp>
      <p:sp>
        <p:nvSpPr>
          <p:cNvPr id="38" name="Text 35"/>
          <p:cNvSpPr txBox="1"/>
          <p:nvPr/>
        </p:nvSpPr>
        <p:spPr>
          <a:xfrm>
            <a:off x="3451860" y="3840480"/>
            <a:ext cx="2240280" cy="4572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Run time, model choice, limits</a:t>
            </a:r>
            <a:endParaRPr lang="en-US" sz="1200" dirty="0"/>
          </a:p>
        </p:txBody>
      </p:sp>
      <p:sp>
        <p:nvSpPr>
          <p:cNvPr id="39" name="Text 36"/>
          <p:cNvSpPr txBox="1"/>
          <p:nvPr/>
        </p:nvSpPr>
        <p:spPr>
          <a:xfrm>
            <a:off x="3451860" y="4297680"/>
            <a:ext cx="2240280" cy="228600"/>
          </a:xfrm>
          <a:prstGeom prst="rect">
            <a:avLst/>
          </a:prstGeom>
          <a:noFill/>
          <a:ln/>
        </p:spPr>
        <p:txBody>
          <a:bodyPr wrap="square" lIns="0" tIns="0" rIns="0" bIns="0" rtlCol="0" anchor="t"/>
          <a:lstStyle/>
          <a:p>
            <a:pPr indent="0" marL="0">
              <a:buNone/>
            </a:pPr>
            <a:r>
              <a:rPr lang="en-US" sz="1100" b="1" dirty="0">
                <a:solidFill>
                  <a:srgbClr val="E9A23B"/>
                </a:solidFill>
                <a:latin typeface="Calibri" pitchFamily="34" charset="0"/>
                <a:ea typeface="Calibri" pitchFamily="34" charset="-122"/>
                <a:cs typeface="Calibri" pitchFamily="34" charset="-120"/>
              </a:rPr>
              <a:t>Slides 18–20</a:t>
            </a:r>
            <a:endParaRPr lang="en-US" sz="1100" dirty="0"/>
          </a:p>
        </p:txBody>
      </p:sp>
      <p:sp>
        <p:nvSpPr>
          <p:cNvPr id="40" name="Shape 37"/>
          <p:cNvSpPr/>
          <p:nvPr/>
        </p:nvSpPr>
        <p:spPr>
          <a:xfrm>
            <a:off x="6080760" y="3063240"/>
            <a:ext cx="2606040" cy="1554480"/>
          </a:xfrm>
          <a:prstGeom prst="roundRect">
            <a:avLst>
              <a:gd name="adj" fmla="val 470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41" name="Shape 38"/>
          <p:cNvSpPr/>
          <p:nvPr/>
        </p:nvSpPr>
        <p:spPr>
          <a:xfrm>
            <a:off x="6080760" y="3063240"/>
            <a:ext cx="2606040" cy="1554480"/>
          </a:xfrm>
          <a:prstGeom prst="roundRect">
            <a:avLst>
              <a:gd name="adj" fmla="val 4706"/>
            </a:avLst>
          </a:prstGeom>
          <a:solidFill>
            <a:srgbClr val="F3F5F9"/>
          </a:solidFill>
          <a:ln w="9525">
            <a:solidFill>
              <a:srgbClr val="DCE3EE"/>
            </a:solidFill>
            <a:prstDash val="solid"/>
          </a:ln>
        </p:spPr>
      </p:sp>
      <p:sp>
        <p:nvSpPr>
          <p:cNvPr id="42" name="Shape 39"/>
          <p:cNvSpPr/>
          <p:nvPr/>
        </p:nvSpPr>
        <p:spPr>
          <a:xfrm>
            <a:off x="6263640" y="3246120"/>
            <a:ext cx="457200" cy="457200"/>
          </a:xfrm>
          <a:prstGeom prst="ellipse">
            <a:avLst/>
          </a:prstGeom>
          <a:solidFill>
            <a:srgbClr val="14213D"/>
          </a:solidFill>
          <a:ln w="12700">
            <a:solidFill>
              <a:srgbClr val="14213D"/>
            </a:solidFill>
            <a:prstDash val="solid"/>
          </a:ln>
        </p:spPr>
      </p:sp>
      <p:sp>
        <p:nvSpPr>
          <p:cNvPr id="43" name="Text 40"/>
          <p:cNvSpPr txBox="1"/>
          <p:nvPr/>
        </p:nvSpPr>
        <p:spPr>
          <a:xfrm>
            <a:off x="6263640" y="32461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44" name="Text 41"/>
          <p:cNvSpPr txBox="1"/>
          <p:nvPr/>
        </p:nvSpPr>
        <p:spPr>
          <a:xfrm>
            <a:off x="6858000" y="3264408"/>
            <a:ext cx="1691640" cy="457200"/>
          </a:xfrm>
          <a:prstGeom prst="rect">
            <a:avLst/>
          </a:prstGeom>
          <a:noFill/>
          <a:ln/>
        </p:spPr>
        <p:txBody>
          <a:bodyPr wrap="square" lIns="0" tIns="0" rIns="0" bIns="0"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Conclusion</a:t>
            </a:r>
            <a:endParaRPr lang="en-US" sz="1500" dirty="0"/>
          </a:p>
        </p:txBody>
      </p:sp>
      <p:sp>
        <p:nvSpPr>
          <p:cNvPr id="45" name="Text 42"/>
          <p:cNvSpPr txBox="1"/>
          <p:nvPr/>
        </p:nvSpPr>
        <p:spPr>
          <a:xfrm>
            <a:off x="6263640" y="3840480"/>
            <a:ext cx="2240280" cy="4572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Answers and recommendations</a:t>
            </a:r>
            <a:endParaRPr lang="en-US" sz="1200" dirty="0"/>
          </a:p>
        </p:txBody>
      </p:sp>
      <p:sp>
        <p:nvSpPr>
          <p:cNvPr id="46" name="Text 43"/>
          <p:cNvSpPr txBox="1"/>
          <p:nvPr/>
        </p:nvSpPr>
        <p:spPr>
          <a:xfrm>
            <a:off x="6263640" y="4297680"/>
            <a:ext cx="2240280" cy="228600"/>
          </a:xfrm>
          <a:prstGeom prst="rect">
            <a:avLst/>
          </a:prstGeom>
          <a:noFill/>
          <a:ln/>
        </p:spPr>
        <p:txBody>
          <a:bodyPr wrap="square" lIns="0" tIns="0" rIns="0" bIns="0" rtlCol="0" anchor="t"/>
          <a:lstStyle/>
          <a:p>
            <a:pPr indent="0" marL="0">
              <a:buNone/>
            </a:pPr>
            <a:r>
              <a:rPr lang="en-US" sz="1100" b="1" dirty="0">
                <a:solidFill>
                  <a:srgbClr val="E9A23B"/>
                </a:solidFill>
                <a:latin typeface="Calibri" pitchFamily="34" charset="0"/>
                <a:ea typeface="Calibri" pitchFamily="34" charset="-122"/>
                <a:cs typeface="Calibri" pitchFamily="34" charset="-120"/>
              </a:rPr>
              <a:t>Slides 21–22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777240"/>
          </a:xfrm>
          <a:prstGeom prst="rect">
            <a:avLst/>
          </a:prstGeom>
          <a:noFill/>
          <a:ln/>
        </p:spPr>
        <p:txBody>
          <a:bodyPr wrap="square" lIns="0" tIns="0" rIns="0" bIns="0" rtlCol="0" anchor="t"/>
          <a:lstStyle/>
          <a:p>
            <a:pPr indent="0" marL="0">
              <a:buNone/>
            </a:pPr>
            <a:r>
              <a:rPr lang="en-US" sz="2500" b="1" dirty="0">
                <a:solidFill>
                  <a:srgbClr val="14213D"/>
                </a:solidFill>
                <a:latin typeface="Cambria" pitchFamily="34" charset="0"/>
                <a:ea typeface="Cambria" pitchFamily="34" charset="-122"/>
                <a:cs typeface="Cambria" pitchFamily="34" charset="-120"/>
              </a:rPr>
              <a:t>Hair fall risk is hard to judge by eye</a:t>
            </a:r>
            <a:endParaRPr lang="en-US" sz="2500" dirty="0"/>
          </a:p>
        </p:txBody>
      </p:sp>
      <p:sp>
        <p:nvSpPr>
          <p:cNvPr id="3" name="Text 1"/>
          <p:cNvSpPr txBox="1"/>
          <p:nvPr/>
        </p:nvSpPr>
        <p:spPr>
          <a:xfrm>
            <a:off x="8229600" y="4773168"/>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
        <p:nvSpPr>
          <p:cNvPr id="5" name="Shape 2"/>
          <p:cNvSpPr/>
          <p:nvPr/>
        </p:nvSpPr>
        <p:spPr>
          <a:xfrm>
            <a:off x="457200" y="1325880"/>
            <a:ext cx="640080" cy="640080"/>
          </a:xfrm>
          <a:prstGeom prst="ellipse">
            <a:avLst/>
          </a:prstGeom>
          <a:solidFill>
            <a:srgbClr val="1F8A8A"/>
          </a:solidFill>
          <a:ln w="12700">
            <a:solidFill>
              <a:srgbClr val="1F8A8A"/>
            </a:solidFill>
            <a:prstDash val="solid"/>
          </a:ln>
        </p:spPr>
      </p:sp>
      <p:pic>
        <p:nvPicPr>
          <p:cNvPr id="6" name="Image 0" descr="preencoded.png">    </p:cNvPr>
          <p:cNvPicPr>
            <a:picLocks noChangeAspect="1"/>
          </p:cNvPicPr>
          <p:nvPr/>
        </p:nvPicPr>
        <p:blipFill>
          <a:blip r:embed="rId1"/>
          <a:stretch>
            <a:fillRect/>
          </a:stretch>
        </p:blipFill>
        <p:spPr>
          <a:xfrm>
            <a:off x="623621" y="1492301"/>
            <a:ext cx="307238" cy="307238"/>
          </a:xfrm>
          <a:prstGeom prst="rect">
            <a:avLst/>
          </a:prstGeom>
        </p:spPr>
      </p:pic>
      <p:sp>
        <p:nvSpPr>
          <p:cNvPr id="7" name="Text 3"/>
          <p:cNvSpPr txBox="1"/>
          <p:nvPr/>
        </p:nvSpPr>
        <p:spPr>
          <a:xfrm>
            <a:off x="1325880" y="1280160"/>
            <a:ext cx="4297680" cy="320040"/>
          </a:xfrm>
          <a:prstGeom prst="rect">
            <a:avLst/>
          </a:prstGeom>
          <a:noFill/>
          <a:ln/>
        </p:spPr>
        <p:txBody>
          <a:bodyPr wrap="square" lIns="0" tIns="0" rIns="0" bIns="0" rtlCol="0" anchor="t"/>
          <a:lstStyle/>
          <a:p>
            <a:pPr indent="0" marL="0">
              <a:buNone/>
            </a:pPr>
            <a:r>
              <a:rPr lang="en-US" sz="1600" b="1" dirty="0">
                <a:solidFill>
                  <a:srgbClr val="14213D"/>
                </a:solidFill>
                <a:latin typeface="Cambria" pitchFamily="34" charset="0"/>
                <a:ea typeface="Cambria" pitchFamily="34" charset="-122"/>
                <a:cs typeface="Cambria" pitchFamily="34" charset="-120"/>
              </a:rPr>
              <a:t>Many causes act together</a:t>
            </a:r>
            <a:endParaRPr lang="en-US" sz="1600" dirty="0"/>
          </a:p>
        </p:txBody>
      </p:sp>
      <p:sp>
        <p:nvSpPr>
          <p:cNvPr id="8" name="Text 4"/>
          <p:cNvSpPr txBox="1"/>
          <p:nvPr/>
        </p:nvSpPr>
        <p:spPr>
          <a:xfrm>
            <a:off x="1325880" y="1627632"/>
            <a:ext cx="4297680" cy="64008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Iron, protein, vitamin D, liver function, stress, sleep, chemicals and family history all play a part.</a:t>
            </a:r>
            <a:endParaRPr lang="en-US" sz="1250" dirty="0"/>
          </a:p>
        </p:txBody>
      </p:sp>
      <p:sp>
        <p:nvSpPr>
          <p:cNvPr id="9" name="Shape 5"/>
          <p:cNvSpPr/>
          <p:nvPr/>
        </p:nvSpPr>
        <p:spPr>
          <a:xfrm>
            <a:off x="457200" y="2441448"/>
            <a:ext cx="640080" cy="640080"/>
          </a:xfrm>
          <a:prstGeom prst="ellipse">
            <a:avLst/>
          </a:prstGeom>
          <a:solidFill>
            <a:srgbClr val="1F8A8A"/>
          </a:solidFill>
          <a:ln w="12700">
            <a:solidFill>
              <a:srgbClr val="1F8A8A"/>
            </a:solidFill>
            <a:prstDash val="solid"/>
          </a:ln>
        </p:spPr>
      </p:sp>
      <p:pic>
        <p:nvPicPr>
          <p:cNvPr id="10" name="Image 1" descr="preencoded.png">    </p:cNvPr>
          <p:cNvPicPr>
            <a:picLocks noChangeAspect="1"/>
          </p:cNvPicPr>
          <p:nvPr/>
        </p:nvPicPr>
        <p:blipFill>
          <a:blip r:embed="rId2"/>
          <a:stretch>
            <a:fillRect/>
          </a:stretch>
        </p:blipFill>
        <p:spPr>
          <a:xfrm>
            <a:off x="623621" y="2607869"/>
            <a:ext cx="307238" cy="307238"/>
          </a:xfrm>
          <a:prstGeom prst="rect">
            <a:avLst/>
          </a:prstGeom>
        </p:spPr>
      </p:pic>
      <p:sp>
        <p:nvSpPr>
          <p:cNvPr id="11" name="Text 6"/>
          <p:cNvSpPr txBox="1"/>
          <p:nvPr/>
        </p:nvSpPr>
        <p:spPr>
          <a:xfrm>
            <a:off x="1325880" y="2395728"/>
            <a:ext cx="4297680" cy="320040"/>
          </a:xfrm>
          <a:prstGeom prst="rect">
            <a:avLst/>
          </a:prstGeom>
          <a:noFill/>
          <a:ln/>
        </p:spPr>
        <p:txBody>
          <a:bodyPr wrap="square" lIns="0" tIns="0" rIns="0" bIns="0" rtlCol="0" anchor="t"/>
          <a:lstStyle/>
          <a:p>
            <a:pPr indent="0" marL="0">
              <a:buNone/>
            </a:pPr>
            <a:r>
              <a:rPr lang="en-US" sz="1600" b="1" dirty="0">
                <a:solidFill>
                  <a:srgbClr val="14213D"/>
                </a:solidFill>
                <a:latin typeface="Cambria" pitchFamily="34" charset="0"/>
                <a:ea typeface="Cambria" pitchFamily="34" charset="-122"/>
                <a:cs typeface="Cambria" pitchFamily="34" charset="-120"/>
              </a:rPr>
              <a:t>No single test tells the risk</a:t>
            </a:r>
            <a:endParaRPr lang="en-US" sz="1600" dirty="0"/>
          </a:p>
        </p:txBody>
      </p:sp>
      <p:sp>
        <p:nvSpPr>
          <p:cNvPr id="12" name="Text 7"/>
          <p:cNvSpPr txBox="1"/>
          <p:nvPr/>
        </p:nvSpPr>
        <p:spPr>
          <a:xfrm>
            <a:off x="1325880" y="2743200"/>
            <a:ext cx="4297680" cy="64008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Risk comes from the mix of factors, so one measurement alone is not reliable.</a:t>
            </a:r>
            <a:endParaRPr lang="en-US" sz="1250" dirty="0"/>
          </a:p>
        </p:txBody>
      </p:sp>
      <p:sp>
        <p:nvSpPr>
          <p:cNvPr id="13" name="Shape 8"/>
          <p:cNvSpPr/>
          <p:nvPr/>
        </p:nvSpPr>
        <p:spPr>
          <a:xfrm>
            <a:off x="457200" y="3557016"/>
            <a:ext cx="640080" cy="640080"/>
          </a:xfrm>
          <a:prstGeom prst="ellipse">
            <a:avLst/>
          </a:prstGeom>
          <a:solidFill>
            <a:srgbClr val="1F8A8A"/>
          </a:solidFill>
          <a:ln w="12700">
            <a:solidFill>
              <a:srgbClr val="1F8A8A"/>
            </a:solidFill>
            <a:prstDash val="solid"/>
          </a:ln>
        </p:spPr>
      </p:sp>
      <p:pic>
        <p:nvPicPr>
          <p:cNvPr id="14" name="Image 2" descr="preencoded.png">    </p:cNvPr>
          <p:cNvPicPr>
            <a:picLocks noChangeAspect="1"/>
          </p:cNvPicPr>
          <p:nvPr/>
        </p:nvPicPr>
        <p:blipFill>
          <a:blip r:embed="rId3"/>
          <a:stretch>
            <a:fillRect/>
          </a:stretch>
        </p:blipFill>
        <p:spPr>
          <a:xfrm>
            <a:off x="623621" y="3723437"/>
            <a:ext cx="307238" cy="307238"/>
          </a:xfrm>
          <a:prstGeom prst="rect">
            <a:avLst/>
          </a:prstGeom>
        </p:spPr>
      </p:pic>
      <p:sp>
        <p:nvSpPr>
          <p:cNvPr id="15" name="Text 9"/>
          <p:cNvSpPr txBox="1"/>
          <p:nvPr/>
        </p:nvSpPr>
        <p:spPr>
          <a:xfrm>
            <a:off x="1325880" y="3511296"/>
            <a:ext cx="4297680" cy="320040"/>
          </a:xfrm>
          <a:prstGeom prst="rect">
            <a:avLst/>
          </a:prstGeom>
          <a:noFill/>
          <a:ln/>
        </p:spPr>
        <p:txBody>
          <a:bodyPr wrap="square" lIns="0" tIns="0" rIns="0" bIns="0" rtlCol="0" anchor="t"/>
          <a:lstStyle/>
          <a:p>
            <a:pPr indent="0" marL="0">
              <a:buNone/>
            </a:pPr>
            <a:r>
              <a:rPr lang="en-US" sz="1600" b="1" dirty="0">
                <a:solidFill>
                  <a:srgbClr val="14213D"/>
                </a:solidFill>
                <a:latin typeface="Cambria" pitchFamily="34" charset="0"/>
                <a:ea typeface="Cambria" pitchFamily="34" charset="-122"/>
                <a:cs typeface="Cambria" pitchFamily="34" charset="-120"/>
              </a:rPr>
              <a:t>Today: history and late examination</a:t>
            </a:r>
            <a:endParaRPr lang="en-US" sz="1600" dirty="0"/>
          </a:p>
        </p:txBody>
      </p:sp>
      <p:sp>
        <p:nvSpPr>
          <p:cNvPr id="16" name="Text 10"/>
          <p:cNvSpPr txBox="1"/>
          <p:nvPr/>
        </p:nvSpPr>
        <p:spPr>
          <a:xfrm>
            <a:off x="1325880" y="3858768"/>
            <a:ext cx="4297680" cy="64008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Assessment depends on what patients report, differs between doctors and is hard to reach in many places.</a:t>
            </a:r>
            <a:endParaRPr lang="en-US" sz="1250" dirty="0"/>
          </a:p>
        </p:txBody>
      </p:sp>
      <p:sp>
        <p:nvSpPr>
          <p:cNvPr id="17" name="Shape 11"/>
          <p:cNvSpPr/>
          <p:nvPr/>
        </p:nvSpPr>
        <p:spPr>
          <a:xfrm>
            <a:off x="5989320" y="1234440"/>
            <a:ext cx="2697480" cy="3337560"/>
          </a:xfrm>
          <a:prstGeom prst="roundRect">
            <a:avLst>
              <a:gd name="adj" fmla="val 2712"/>
            </a:avLst>
          </a:prstGeom>
          <a:solidFill>
            <a:srgbClr val="14213D"/>
          </a:solidFill>
          <a:ln w="12700">
            <a:solidFill>
              <a:srgbClr val="14213D"/>
            </a:solidFill>
            <a:prstDash val="solid"/>
          </a:ln>
          <a:effectLst>
            <a:outerShdw sx="100000" sy="100000" kx="0" ky="0" algn="bl" rotWithShape="0" blurRad="76200" dist="25400" dir="5400000">
              <a:srgbClr val="000000">
                <a:alpha val="12000"/>
              </a:srgbClr>
            </a:outerShdw>
          </a:effectLst>
        </p:spPr>
      </p:sp>
      <p:sp>
        <p:nvSpPr>
          <p:cNvPr id="18" name="Text 12"/>
          <p:cNvSpPr txBox="1"/>
          <p:nvPr/>
        </p:nvSpPr>
        <p:spPr>
          <a:xfrm>
            <a:off x="6217920" y="1417320"/>
            <a:ext cx="2286000" cy="548640"/>
          </a:xfrm>
          <a:prstGeom prst="rect">
            <a:avLst/>
          </a:prstGeom>
          <a:noFill/>
          <a:ln/>
        </p:spPr>
        <p:txBody>
          <a:bodyPr wrap="square" lIns="0" tIns="0" rIns="0" bIns="0" rtlCol="0" anchor="t"/>
          <a:lstStyle/>
          <a:p>
            <a:pPr indent="0" marL="0">
              <a:buNone/>
            </a:pPr>
            <a:r>
              <a:rPr lang="en-US" sz="3400" b="1" dirty="0">
                <a:solidFill>
                  <a:srgbClr val="E9A23B"/>
                </a:solidFill>
                <a:latin typeface="Cambria" pitchFamily="34" charset="0"/>
                <a:ea typeface="Cambria" pitchFamily="34" charset="-122"/>
                <a:cs typeface="Cambria" pitchFamily="34" charset="-120"/>
              </a:rPr>
              <a:t>21,606</a:t>
            </a:r>
            <a:endParaRPr lang="en-US" sz="3400" dirty="0"/>
          </a:p>
        </p:txBody>
      </p:sp>
      <p:sp>
        <p:nvSpPr>
          <p:cNvPr id="19" name="Text 13"/>
          <p:cNvSpPr txBox="1"/>
          <p:nvPr/>
        </p:nvSpPr>
        <p:spPr>
          <a:xfrm>
            <a:off x="6217920" y="1984248"/>
            <a:ext cx="2286000" cy="3657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patients in the dataset</a:t>
            </a:r>
            <a:endParaRPr lang="en-US" sz="1200" dirty="0"/>
          </a:p>
        </p:txBody>
      </p:sp>
      <p:sp>
        <p:nvSpPr>
          <p:cNvPr id="20" name="Text 14"/>
          <p:cNvSpPr txBox="1"/>
          <p:nvPr/>
        </p:nvSpPr>
        <p:spPr>
          <a:xfrm>
            <a:off x="6217920" y="2468880"/>
            <a:ext cx="2286000" cy="548640"/>
          </a:xfrm>
          <a:prstGeom prst="rect">
            <a:avLst/>
          </a:prstGeom>
          <a:noFill/>
          <a:ln/>
        </p:spPr>
        <p:txBody>
          <a:bodyPr wrap="square" lIns="0" tIns="0" rIns="0" bIns="0" rtlCol="0" anchor="t"/>
          <a:lstStyle/>
          <a:p>
            <a:pPr indent="0" marL="0">
              <a:buNone/>
            </a:pPr>
            <a:r>
              <a:rPr lang="en-US" sz="3400" b="1" dirty="0">
                <a:solidFill>
                  <a:srgbClr val="E9A23B"/>
                </a:solidFill>
                <a:latin typeface="Cambria" pitchFamily="34" charset="0"/>
                <a:ea typeface="Cambria" pitchFamily="34" charset="-122"/>
                <a:cs typeface="Cambria" pitchFamily="34" charset="-120"/>
              </a:rPr>
              <a:t>20</a:t>
            </a:r>
            <a:endParaRPr lang="en-US" sz="3400" dirty="0"/>
          </a:p>
        </p:txBody>
      </p:sp>
      <p:sp>
        <p:nvSpPr>
          <p:cNvPr id="21" name="Text 15"/>
          <p:cNvSpPr txBox="1"/>
          <p:nvPr/>
        </p:nvSpPr>
        <p:spPr>
          <a:xfrm>
            <a:off x="6217920" y="3035808"/>
            <a:ext cx="2286000" cy="3657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clinical and lifestyle features</a:t>
            </a:r>
            <a:endParaRPr lang="en-US" sz="1200" dirty="0"/>
          </a:p>
        </p:txBody>
      </p:sp>
      <p:sp>
        <p:nvSpPr>
          <p:cNvPr id="22" name="Text 16"/>
          <p:cNvSpPr txBox="1"/>
          <p:nvPr/>
        </p:nvSpPr>
        <p:spPr>
          <a:xfrm>
            <a:off x="6217920" y="3520440"/>
            <a:ext cx="2286000" cy="548640"/>
          </a:xfrm>
          <a:prstGeom prst="rect">
            <a:avLst/>
          </a:prstGeom>
          <a:noFill/>
          <a:ln/>
        </p:spPr>
        <p:txBody>
          <a:bodyPr wrap="square" lIns="0" tIns="0" rIns="0" bIns="0" rtlCol="0" anchor="t"/>
          <a:lstStyle/>
          <a:p>
            <a:pPr indent="0" marL="0">
              <a:buNone/>
            </a:pPr>
            <a:r>
              <a:rPr lang="en-US" sz="3400" b="1" dirty="0">
                <a:solidFill>
                  <a:srgbClr val="E9A23B"/>
                </a:solidFill>
                <a:latin typeface="Cambria" pitchFamily="34" charset="0"/>
                <a:ea typeface="Cambria" pitchFamily="34" charset="-122"/>
                <a:cs typeface="Cambria" pitchFamily="34" charset="-120"/>
              </a:rPr>
              <a:t>3</a:t>
            </a:r>
            <a:endParaRPr lang="en-US" sz="3400" dirty="0"/>
          </a:p>
        </p:txBody>
      </p:sp>
      <p:sp>
        <p:nvSpPr>
          <p:cNvPr id="23" name="Text 17"/>
          <p:cNvSpPr txBox="1"/>
          <p:nvPr/>
        </p:nvSpPr>
        <p:spPr>
          <a:xfrm>
            <a:off x="6217920" y="4087368"/>
            <a:ext cx="2286000" cy="3657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risk tiers: Low · Moderate · High</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777240"/>
          </a:xfrm>
          <a:prstGeom prst="rect">
            <a:avLst/>
          </a:prstGeom>
          <a:noFill/>
          <a:ln/>
        </p:spPr>
        <p:txBody>
          <a:bodyPr wrap="square" lIns="0" tIns="0" rIns="0" bIns="0" rtlCol="0" anchor="t"/>
          <a:lstStyle/>
          <a:p>
            <a:pPr indent="0" marL="0">
              <a:buNone/>
            </a:pPr>
            <a:r>
              <a:rPr lang="en-US" sz="2500" b="1" dirty="0">
                <a:solidFill>
                  <a:srgbClr val="14213D"/>
                </a:solidFill>
                <a:latin typeface="Cambria" pitchFamily="34" charset="0"/>
                <a:ea typeface="Cambria" pitchFamily="34" charset="-122"/>
                <a:cs typeface="Cambria" pitchFamily="34" charset="-120"/>
              </a:rPr>
              <a:t>Three gaps in earlier work made this study necessary</a:t>
            </a:r>
            <a:endParaRPr lang="en-US" sz="2500" dirty="0"/>
          </a:p>
        </p:txBody>
      </p:sp>
      <p:sp>
        <p:nvSpPr>
          <p:cNvPr id="3" name="Text 1"/>
          <p:cNvSpPr txBox="1"/>
          <p:nvPr/>
        </p:nvSpPr>
        <p:spPr>
          <a:xfrm>
            <a:off x="8229600" y="4773168"/>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
        <p:nvSpPr>
          <p:cNvPr id="5" name="Shape 2"/>
          <p:cNvSpPr/>
          <p:nvPr/>
        </p:nvSpPr>
        <p:spPr>
          <a:xfrm>
            <a:off x="457200" y="1234440"/>
            <a:ext cx="2606040" cy="2514600"/>
          </a:xfrm>
          <a:prstGeom prst="roundRect">
            <a:avLst>
              <a:gd name="adj" fmla="val 2909"/>
            </a:avLst>
          </a:prstGeom>
          <a:solidFill>
            <a:srgbClr val="F3F5F9"/>
          </a:solidFill>
          <a:ln w="12700">
            <a:solidFill>
              <a:srgbClr val="F3F5F9"/>
            </a:solidFill>
            <a:prstDash val="solid"/>
          </a:ln>
        </p:spPr>
      </p:sp>
      <p:sp>
        <p:nvSpPr>
          <p:cNvPr id="6" name="Shape 3"/>
          <p:cNvSpPr/>
          <p:nvPr/>
        </p:nvSpPr>
        <p:spPr>
          <a:xfrm>
            <a:off x="685800" y="1417320"/>
            <a:ext cx="594360" cy="594360"/>
          </a:xfrm>
          <a:prstGeom prst="ellipse">
            <a:avLst/>
          </a:prstGeom>
          <a:solidFill>
            <a:srgbClr val="14213D"/>
          </a:solidFill>
          <a:ln w="12700">
            <a:solidFill>
              <a:srgbClr val="14213D"/>
            </a:solidFill>
            <a:prstDash val="solid"/>
          </a:ln>
        </p:spPr>
      </p:sp>
      <p:pic>
        <p:nvPicPr>
          <p:cNvPr id="7" name="Image 0" descr="preencoded.png">    </p:cNvPr>
          <p:cNvPicPr>
            <a:picLocks noChangeAspect="1"/>
          </p:cNvPicPr>
          <p:nvPr/>
        </p:nvPicPr>
        <p:blipFill>
          <a:blip r:embed="rId1"/>
          <a:stretch>
            <a:fillRect/>
          </a:stretch>
        </p:blipFill>
        <p:spPr>
          <a:xfrm>
            <a:off x="840334" y="1571854"/>
            <a:ext cx="285293" cy="285293"/>
          </a:xfrm>
          <a:prstGeom prst="rect">
            <a:avLst/>
          </a:prstGeom>
        </p:spPr>
      </p:pic>
      <p:sp>
        <p:nvSpPr>
          <p:cNvPr id="8" name="Text 4"/>
          <p:cNvSpPr txBox="1"/>
          <p:nvPr/>
        </p:nvSpPr>
        <p:spPr>
          <a:xfrm>
            <a:off x="685800" y="2103120"/>
            <a:ext cx="2194560" cy="457200"/>
          </a:xfrm>
          <a:prstGeom prst="rect">
            <a:avLst/>
          </a:prstGeom>
          <a:noFill/>
          <a:ln/>
        </p:spPr>
        <p:txBody>
          <a:bodyPr wrap="square" lIns="0" tIns="0" rIns="0" bIns="0" rtlCol="0" anchor="t"/>
          <a:lstStyle/>
          <a:p>
            <a:pPr indent="0" marL="0">
              <a:buNone/>
            </a:pPr>
            <a:r>
              <a:rPr lang="en-US" sz="1500" b="1" dirty="0">
                <a:solidFill>
                  <a:srgbClr val="14213D"/>
                </a:solidFill>
                <a:latin typeface="Cambria" pitchFamily="34" charset="0"/>
                <a:ea typeface="Cambria" pitchFamily="34" charset="-122"/>
                <a:cs typeface="Cambria" pitchFamily="34" charset="-120"/>
              </a:rPr>
              <a:t>No clear best model</a:t>
            </a:r>
            <a:endParaRPr lang="en-US" sz="1500" dirty="0"/>
          </a:p>
        </p:txBody>
      </p:sp>
      <p:sp>
        <p:nvSpPr>
          <p:cNvPr id="9" name="Text 5"/>
          <p:cNvSpPr txBox="1"/>
          <p:nvPr/>
        </p:nvSpPr>
        <p:spPr>
          <a:xfrm>
            <a:off x="685800" y="2606040"/>
            <a:ext cx="2194560" cy="109728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One study found an ensemble best, another found Random Forest ahead of CatBoost. Data and goals differ, so the results cannot be compared.</a:t>
            </a:r>
            <a:endParaRPr lang="en-US" sz="1200" dirty="0"/>
          </a:p>
        </p:txBody>
      </p:sp>
      <p:sp>
        <p:nvSpPr>
          <p:cNvPr id="10" name="Shape 6"/>
          <p:cNvSpPr/>
          <p:nvPr/>
        </p:nvSpPr>
        <p:spPr>
          <a:xfrm>
            <a:off x="3268980" y="1234440"/>
            <a:ext cx="2606040" cy="2514600"/>
          </a:xfrm>
          <a:prstGeom prst="roundRect">
            <a:avLst>
              <a:gd name="adj" fmla="val 2909"/>
            </a:avLst>
          </a:prstGeom>
          <a:solidFill>
            <a:srgbClr val="F3F5F9"/>
          </a:solidFill>
          <a:ln w="12700">
            <a:solidFill>
              <a:srgbClr val="F3F5F9"/>
            </a:solidFill>
            <a:prstDash val="solid"/>
          </a:ln>
        </p:spPr>
      </p:sp>
      <p:sp>
        <p:nvSpPr>
          <p:cNvPr id="11" name="Shape 7"/>
          <p:cNvSpPr/>
          <p:nvPr/>
        </p:nvSpPr>
        <p:spPr>
          <a:xfrm>
            <a:off x="3497580" y="1417320"/>
            <a:ext cx="594360" cy="594360"/>
          </a:xfrm>
          <a:prstGeom prst="ellipse">
            <a:avLst/>
          </a:prstGeom>
          <a:solidFill>
            <a:srgbClr val="14213D"/>
          </a:solidFill>
          <a:ln w="12700">
            <a:solidFill>
              <a:srgbClr val="14213D"/>
            </a:solidFill>
            <a:prstDash val="solid"/>
          </a:ln>
        </p:spPr>
      </p:sp>
      <p:pic>
        <p:nvPicPr>
          <p:cNvPr id="12" name="Image 1" descr="preencoded.png">    </p:cNvPr>
          <p:cNvPicPr>
            <a:picLocks noChangeAspect="1"/>
          </p:cNvPicPr>
          <p:nvPr/>
        </p:nvPicPr>
        <p:blipFill>
          <a:blip r:embed="rId2"/>
          <a:stretch>
            <a:fillRect/>
          </a:stretch>
        </p:blipFill>
        <p:spPr>
          <a:xfrm>
            <a:off x="3652114" y="1571854"/>
            <a:ext cx="285293" cy="285293"/>
          </a:xfrm>
          <a:prstGeom prst="rect">
            <a:avLst/>
          </a:prstGeom>
        </p:spPr>
      </p:pic>
      <p:sp>
        <p:nvSpPr>
          <p:cNvPr id="13" name="Text 8"/>
          <p:cNvSpPr txBox="1"/>
          <p:nvPr/>
        </p:nvSpPr>
        <p:spPr>
          <a:xfrm>
            <a:off x="3497580" y="2103120"/>
            <a:ext cx="2194560" cy="457200"/>
          </a:xfrm>
          <a:prstGeom prst="rect">
            <a:avLst/>
          </a:prstGeom>
          <a:noFill/>
          <a:ln/>
        </p:spPr>
        <p:txBody>
          <a:bodyPr wrap="square" lIns="0" tIns="0" rIns="0" bIns="0" rtlCol="0" anchor="t"/>
          <a:lstStyle/>
          <a:p>
            <a:pPr indent="0" marL="0">
              <a:buNone/>
            </a:pPr>
            <a:r>
              <a:rPr lang="en-US" sz="1500" b="1" dirty="0">
                <a:solidFill>
                  <a:srgbClr val="14213D"/>
                </a:solidFill>
                <a:latin typeface="Cambria" pitchFamily="34" charset="0"/>
                <a:ea typeface="Cambria" pitchFamily="34" charset="-122"/>
                <a:cs typeface="Cambria" pitchFamily="34" charset="-120"/>
              </a:rPr>
              <a:t>New models, never tested here</a:t>
            </a:r>
            <a:endParaRPr lang="en-US" sz="1500" dirty="0"/>
          </a:p>
        </p:txBody>
      </p:sp>
      <p:sp>
        <p:nvSpPr>
          <p:cNvPr id="14" name="Text 9"/>
          <p:cNvSpPr txBox="1"/>
          <p:nvPr/>
        </p:nvSpPr>
        <p:spPr>
          <a:xfrm>
            <a:off x="3497580" y="2606040"/>
            <a:ext cx="2194560" cy="109728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TabPFN and TabFM predict from the training rows without being trained, but nobody had tried them on hair fall data.</a:t>
            </a:r>
            <a:endParaRPr lang="en-US" sz="1200" dirty="0"/>
          </a:p>
        </p:txBody>
      </p:sp>
      <p:sp>
        <p:nvSpPr>
          <p:cNvPr id="15" name="Shape 10"/>
          <p:cNvSpPr/>
          <p:nvPr/>
        </p:nvSpPr>
        <p:spPr>
          <a:xfrm>
            <a:off x="6080760" y="1234440"/>
            <a:ext cx="2606040" cy="2514600"/>
          </a:xfrm>
          <a:prstGeom prst="roundRect">
            <a:avLst>
              <a:gd name="adj" fmla="val 2909"/>
            </a:avLst>
          </a:prstGeom>
          <a:solidFill>
            <a:srgbClr val="F3F5F9"/>
          </a:solidFill>
          <a:ln w="12700">
            <a:solidFill>
              <a:srgbClr val="F3F5F9"/>
            </a:solidFill>
            <a:prstDash val="solid"/>
          </a:ln>
        </p:spPr>
      </p:sp>
      <p:sp>
        <p:nvSpPr>
          <p:cNvPr id="16" name="Shape 11"/>
          <p:cNvSpPr/>
          <p:nvPr/>
        </p:nvSpPr>
        <p:spPr>
          <a:xfrm>
            <a:off x="6309360" y="1417320"/>
            <a:ext cx="594360" cy="594360"/>
          </a:xfrm>
          <a:prstGeom prst="ellipse">
            <a:avLst/>
          </a:prstGeom>
          <a:solidFill>
            <a:srgbClr val="14213D"/>
          </a:solidFill>
          <a:ln w="12700">
            <a:solidFill>
              <a:srgbClr val="14213D"/>
            </a:solidFill>
            <a:prstDash val="solid"/>
          </a:ln>
        </p:spPr>
      </p:sp>
      <p:pic>
        <p:nvPicPr>
          <p:cNvPr id="17" name="Image 2" descr="preencoded.png">    </p:cNvPr>
          <p:cNvPicPr>
            <a:picLocks noChangeAspect="1"/>
          </p:cNvPicPr>
          <p:nvPr/>
        </p:nvPicPr>
        <p:blipFill>
          <a:blip r:embed="rId3"/>
          <a:stretch>
            <a:fillRect/>
          </a:stretch>
        </p:blipFill>
        <p:spPr>
          <a:xfrm>
            <a:off x="6463894" y="1571854"/>
            <a:ext cx="285293" cy="285293"/>
          </a:xfrm>
          <a:prstGeom prst="rect">
            <a:avLst/>
          </a:prstGeom>
        </p:spPr>
      </p:pic>
      <p:sp>
        <p:nvSpPr>
          <p:cNvPr id="18" name="Text 12"/>
          <p:cNvSpPr txBox="1"/>
          <p:nvPr/>
        </p:nvSpPr>
        <p:spPr>
          <a:xfrm>
            <a:off x="6309360" y="2103120"/>
            <a:ext cx="2194560" cy="457200"/>
          </a:xfrm>
          <a:prstGeom prst="rect">
            <a:avLst/>
          </a:prstGeom>
          <a:noFill/>
          <a:ln/>
        </p:spPr>
        <p:txBody>
          <a:bodyPr wrap="square" lIns="0" tIns="0" rIns="0" bIns="0" rtlCol="0" anchor="t"/>
          <a:lstStyle/>
          <a:p>
            <a:pPr indent="0" marL="0">
              <a:buNone/>
            </a:pPr>
            <a:r>
              <a:rPr lang="en-US" sz="1500" b="1" dirty="0">
                <a:solidFill>
                  <a:srgbClr val="14213D"/>
                </a:solidFill>
                <a:latin typeface="Cambria" pitchFamily="34" charset="0"/>
                <a:ea typeface="Cambria" pitchFamily="34" charset="-122"/>
                <a:cs typeface="Cambria" pitchFamily="34" charset="-120"/>
              </a:rPr>
              <a:t>Black boxes</a:t>
            </a:r>
            <a:endParaRPr lang="en-US" sz="1500" dirty="0"/>
          </a:p>
        </p:txBody>
      </p:sp>
      <p:sp>
        <p:nvSpPr>
          <p:cNvPr id="19" name="Text 13"/>
          <p:cNvSpPr txBox="1"/>
          <p:nvPr/>
        </p:nvSpPr>
        <p:spPr>
          <a:xfrm>
            <a:off x="6309360" y="2606040"/>
            <a:ext cx="2194560" cy="109728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Accurate models rarely say why. Without reasons, a doctor cannot check a risk score against clinical knowledge.</a:t>
            </a:r>
            <a:endParaRPr lang="en-US" sz="1200" dirty="0"/>
          </a:p>
        </p:txBody>
      </p:sp>
      <p:sp>
        <p:nvSpPr>
          <p:cNvPr id="20" name="Shape 14"/>
          <p:cNvSpPr/>
          <p:nvPr/>
        </p:nvSpPr>
        <p:spPr>
          <a:xfrm>
            <a:off x="457200" y="3931920"/>
            <a:ext cx="8229600" cy="685800"/>
          </a:xfrm>
          <a:prstGeom prst="roundRect">
            <a:avLst>
              <a:gd name="adj" fmla="val 10667"/>
            </a:avLst>
          </a:prstGeom>
          <a:solidFill>
            <a:srgbClr val="14213D"/>
          </a:solidFill>
          <a:ln w="12700">
            <a:solidFill>
              <a:srgbClr val="14213D"/>
            </a:solidFill>
            <a:prstDash val="solid"/>
          </a:ln>
          <a:effectLst>
            <a:outerShdw sx="100000" sy="100000" kx="0" ky="0" algn="bl" rotWithShape="0" blurRad="76200" dist="25400" dir="5400000">
              <a:srgbClr val="000000">
                <a:alpha val="12000"/>
              </a:srgbClr>
            </a:outerShdw>
          </a:effectLst>
        </p:spPr>
      </p:sp>
      <p:sp>
        <p:nvSpPr>
          <p:cNvPr id="21" name="Text 15"/>
          <p:cNvSpPr txBox="1"/>
          <p:nvPr/>
        </p:nvSpPr>
        <p:spPr>
          <a:xfrm>
            <a:off x="685800" y="3931920"/>
            <a:ext cx="7772400" cy="6858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Our answer: compare CatBoost, TabPFN and TabFM on the same data, at three training sizes, and explain all three with SHAP.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777240"/>
          </a:xfrm>
          <a:prstGeom prst="rect">
            <a:avLst/>
          </a:prstGeom>
          <a:noFill/>
          <a:ln/>
        </p:spPr>
        <p:txBody>
          <a:bodyPr wrap="square" lIns="0" tIns="0" rIns="0" bIns="0" rtlCol="0" anchor="t"/>
          <a:lstStyle/>
          <a:p>
            <a:pPr indent="0" marL="0">
              <a:buNone/>
            </a:pPr>
            <a:r>
              <a:rPr lang="en-US" sz="2500" b="1" dirty="0">
                <a:solidFill>
                  <a:srgbClr val="14213D"/>
                </a:solidFill>
                <a:latin typeface="Cambria" pitchFamily="34" charset="0"/>
                <a:ea typeface="Cambria" pitchFamily="34" charset="-122"/>
                <a:cs typeface="Cambria" pitchFamily="34" charset="-120"/>
              </a:rPr>
              <a:t>What we wanted to find out: four questions</a:t>
            </a:r>
            <a:endParaRPr lang="en-US" sz="2500" dirty="0"/>
          </a:p>
        </p:txBody>
      </p:sp>
      <p:sp>
        <p:nvSpPr>
          <p:cNvPr id="3" name="Text 1"/>
          <p:cNvSpPr txBox="1"/>
          <p:nvPr/>
        </p:nvSpPr>
        <p:spPr>
          <a:xfrm>
            <a:off x="8229600" y="4773168"/>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
        <p:nvSpPr>
          <p:cNvPr id="5" name="Shape 2"/>
          <p:cNvSpPr/>
          <p:nvPr/>
        </p:nvSpPr>
        <p:spPr>
          <a:xfrm>
            <a:off x="457200" y="1234440"/>
            <a:ext cx="8229600" cy="731520"/>
          </a:xfrm>
          <a:prstGeom prst="roundRect">
            <a:avLst>
              <a:gd name="adj" fmla="val 10000"/>
            </a:avLst>
          </a:prstGeom>
          <a:solidFill>
            <a:srgbClr val="F3F5F9"/>
          </a:solidFill>
          <a:ln w="12700">
            <a:solidFill>
              <a:srgbClr val="F3F5F9"/>
            </a:solidFill>
            <a:prstDash val="solid"/>
          </a:ln>
        </p:spPr>
      </p:sp>
      <p:sp>
        <p:nvSpPr>
          <p:cNvPr id="6" name="Shape 3"/>
          <p:cNvSpPr/>
          <p:nvPr/>
        </p:nvSpPr>
        <p:spPr>
          <a:xfrm>
            <a:off x="594360" y="1344168"/>
            <a:ext cx="512064" cy="512064"/>
          </a:xfrm>
          <a:prstGeom prst="ellipse">
            <a:avLst/>
          </a:prstGeom>
          <a:solidFill>
            <a:srgbClr val="14213D"/>
          </a:solidFill>
          <a:ln w="12700">
            <a:solidFill>
              <a:srgbClr val="14213D"/>
            </a:solidFill>
            <a:prstDash val="solid"/>
          </a:ln>
        </p:spPr>
      </p:sp>
      <p:sp>
        <p:nvSpPr>
          <p:cNvPr id="7" name="Text 4"/>
          <p:cNvSpPr txBox="1"/>
          <p:nvPr/>
        </p:nvSpPr>
        <p:spPr>
          <a:xfrm>
            <a:off x="594360" y="1344168"/>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Q1</a:t>
            </a:r>
            <a:endParaRPr lang="en-US" sz="1400" dirty="0"/>
          </a:p>
        </p:txBody>
      </p:sp>
      <p:sp>
        <p:nvSpPr>
          <p:cNvPr id="8" name="Text 5"/>
          <p:cNvSpPr txBox="1"/>
          <p:nvPr/>
        </p:nvSpPr>
        <p:spPr>
          <a:xfrm>
            <a:off x="1325880" y="1234440"/>
            <a:ext cx="4114800" cy="731520"/>
          </a:xfrm>
          <a:prstGeom prst="rect">
            <a:avLst/>
          </a:prstGeom>
          <a:noFill/>
          <a:ln/>
        </p:spPr>
        <p:txBody>
          <a:bodyPr wrap="square" lIns="0" tIns="0" rIns="0" bIns="0" rtlCol="0" anchor="ctr"/>
          <a:lstStyle/>
          <a:p>
            <a:pPr indent="0" marL="0">
              <a:buNone/>
            </a:pPr>
            <a:r>
              <a:rPr lang="en-US" sz="1350" b="1" dirty="0">
                <a:solidFill>
                  <a:srgbClr val="1F2937"/>
                </a:solidFill>
                <a:latin typeface="Calibri" pitchFamily="34" charset="0"/>
                <a:ea typeface="Calibri" pitchFamily="34" charset="-122"/>
                <a:cs typeface="Calibri" pitchFamily="34" charset="-120"/>
              </a:rPr>
              <a:t>Can pre-trained models match a tuned CatBoost, and is the difference real?</a:t>
            </a:r>
            <a:endParaRPr lang="en-US" sz="1350" dirty="0"/>
          </a:p>
        </p:txBody>
      </p:sp>
      <p:sp>
        <p:nvSpPr>
          <p:cNvPr id="9" name="Text 6"/>
          <p:cNvSpPr txBox="1"/>
          <p:nvPr/>
        </p:nvSpPr>
        <p:spPr>
          <a:xfrm>
            <a:off x="5623560" y="1325880"/>
            <a:ext cx="2926080" cy="182880"/>
          </a:xfrm>
          <a:prstGeom prst="rect">
            <a:avLst/>
          </a:prstGeom>
          <a:noFill/>
          <a:ln/>
        </p:spPr>
        <p:txBody>
          <a:bodyPr wrap="square" lIns="0" tIns="0" rIns="0" bIns="0" rtlCol="0" anchor="t"/>
          <a:lstStyle/>
          <a:p>
            <a:pPr indent="0" marL="0">
              <a:buNone/>
            </a:pPr>
            <a:r>
              <a:rPr lang="en-US" sz="950" b="1" dirty="0">
                <a:solidFill>
                  <a:srgbClr val="1F8A8A"/>
                </a:solidFill>
                <a:latin typeface="Calibri" pitchFamily="34" charset="0"/>
                <a:ea typeface="Calibri" pitchFamily="34" charset="-122"/>
                <a:cs typeface="Calibri" pitchFamily="34" charset="-120"/>
              </a:rPr>
              <a:t>How we tested it</a:t>
            </a:r>
            <a:endParaRPr lang="en-US" sz="950" dirty="0"/>
          </a:p>
        </p:txBody>
      </p:sp>
      <p:sp>
        <p:nvSpPr>
          <p:cNvPr id="10" name="Text 7"/>
          <p:cNvSpPr txBox="1"/>
          <p:nvPr/>
        </p:nvSpPr>
        <p:spPr>
          <a:xfrm>
            <a:off x="5623560" y="1527048"/>
            <a:ext cx="2926080" cy="384048"/>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Same split and metrics, plus McNemar's test</a:t>
            </a:r>
            <a:endParaRPr lang="en-US" sz="1200" dirty="0"/>
          </a:p>
        </p:txBody>
      </p:sp>
      <p:sp>
        <p:nvSpPr>
          <p:cNvPr id="11" name="Shape 8"/>
          <p:cNvSpPr/>
          <p:nvPr/>
        </p:nvSpPr>
        <p:spPr>
          <a:xfrm>
            <a:off x="457200" y="2084832"/>
            <a:ext cx="8229600" cy="731520"/>
          </a:xfrm>
          <a:prstGeom prst="roundRect">
            <a:avLst>
              <a:gd name="adj" fmla="val 10000"/>
            </a:avLst>
          </a:prstGeom>
          <a:solidFill>
            <a:srgbClr val="F3F5F9"/>
          </a:solidFill>
          <a:ln w="12700">
            <a:solidFill>
              <a:srgbClr val="F3F5F9"/>
            </a:solidFill>
            <a:prstDash val="solid"/>
          </a:ln>
        </p:spPr>
      </p:sp>
      <p:sp>
        <p:nvSpPr>
          <p:cNvPr id="12" name="Shape 9"/>
          <p:cNvSpPr/>
          <p:nvPr/>
        </p:nvSpPr>
        <p:spPr>
          <a:xfrm>
            <a:off x="594360" y="2194560"/>
            <a:ext cx="512064" cy="512064"/>
          </a:xfrm>
          <a:prstGeom prst="ellipse">
            <a:avLst/>
          </a:prstGeom>
          <a:solidFill>
            <a:srgbClr val="14213D"/>
          </a:solidFill>
          <a:ln w="12700">
            <a:solidFill>
              <a:srgbClr val="14213D"/>
            </a:solidFill>
            <a:prstDash val="solid"/>
          </a:ln>
        </p:spPr>
      </p:sp>
      <p:sp>
        <p:nvSpPr>
          <p:cNvPr id="13" name="Text 10"/>
          <p:cNvSpPr txBox="1"/>
          <p:nvPr/>
        </p:nvSpPr>
        <p:spPr>
          <a:xfrm>
            <a:off x="594360" y="2194560"/>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Q2</a:t>
            </a:r>
            <a:endParaRPr lang="en-US" sz="1400" dirty="0"/>
          </a:p>
        </p:txBody>
      </p:sp>
      <p:sp>
        <p:nvSpPr>
          <p:cNvPr id="14" name="Text 11"/>
          <p:cNvSpPr txBox="1"/>
          <p:nvPr/>
        </p:nvSpPr>
        <p:spPr>
          <a:xfrm>
            <a:off x="1325880" y="2084832"/>
            <a:ext cx="4114800" cy="731520"/>
          </a:xfrm>
          <a:prstGeom prst="rect">
            <a:avLst/>
          </a:prstGeom>
          <a:noFill/>
          <a:ln/>
        </p:spPr>
        <p:txBody>
          <a:bodyPr wrap="square" lIns="0" tIns="0" rIns="0" bIns="0" rtlCol="0" anchor="ctr"/>
          <a:lstStyle/>
          <a:p>
            <a:pPr indent="0" marL="0">
              <a:buNone/>
            </a:pPr>
            <a:r>
              <a:rPr lang="en-US" sz="1350" b="1" dirty="0">
                <a:solidFill>
                  <a:srgbClr val="1F2937"/>
                </a:solidFill>
                <a:latin typeface="Calibri" pitchFamily="34" charset="0"/>
                <a:ea typeface="Calibri" pitchFamily="34" charset="-122"/>
                <a:cs typeface="Calibri" pitchFamily="34" charset="-120"/>
              </a:rPr>
              <a:t>How much training data does each model need?</a:t>
            </a:r>
            <a:endParaRPr lang="en-US" sz="1350" dirty="0"/>
          </a:p>
        </p:txBody>
      </p:sp>
      <p:sp>
        <p:nvSpPr>
          <p:cNvPr id="15" name="Text 12"/>
          <p:cNvSpPr txBox="1"/>
          <p:nvPr/>
        </p:nvSpPr>
        <p:spPr>
          <a:xfrm>
            <a:off x="5623560" y="2176272"/>
            <a:ext cx="2926080" cy="182880"/>
          </a:xfrm>
          <a:prstGeom prst="rect">
            <a:avLst/>
          </a:prstGeom>
          <a:noFill/>
          <a:ln/>
        </p:spPr>
        <p:txBody>
          <a:bodyPr wrap="square" lIns="0" tIns="0" rIns="0" bIns="0" rtlCol="0" anchor="t"/>
          <a:lstStyle/>
          <a:p>
            <a:pPr indent="0" marL="0">
              <a:buNone/>
            </a:pPr>
            <a:r>
              <a:rPr lang="en-US" sz="950" b="1" dirty="0">
                <a:solidFill>
                  <a:srgbClr val="1F8A8A"/>
                </a:solidFill>
                <a:latin typeface="Calibri" pitchFamily="34" charset="0"/>
                <a:ea typeface="Calibri" pitchFamily="34" charset="-122"/>
                <a:cs typeface="Calibri" pitchFamily="34" charset="-120"/>
              </a:rPr>
              <a:t>How we tested it</a:t>
            </a:r>
            <a:endParaRPr lang="en-US" sz="950" dirty="0"/>
          </a:p>
        </p:txBody>
      </p:sp>
      <p:sp>
        <p:nvSpPr>
          <p:cNvPr id="16" name="Text 13"/>
          <p:cNvSpPr txBox="1"/>
          <p:nvPr/>
        </p:nvSpPr>
        <p:spPr>
          <a:xfrm>
            <a:off x="5623560" y="2377440"/>
            <a:ext cx="2926080" cy="384048"/>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Every model at 500, 2,000 and 17,284 rows</a:t>
            </a:r>
            <a:endParaRPr lang="en-US" sz="1200" dirty="0"/>
          </a:p>
        </p:txBody>
      </p:sp>
      <p:sp>
        <p:nvSpPr>
          <p:cNvPr id="17" name="Shape 14"/>
          <p:cNvSpPr/>
          <p:nvPr/>
        </p:nvSpPr>
        <p:spPr>
          <a:xfrm>
            <a:off x="457200" y="2935224"/>
            <a:ext cx="8229600" cy="731520"/>
          </a:xfrm>
          <a:prstGeom prst="roundRect">
            <a:avLst>
              <a:gd name="adj" fmla="val 10000"/>
            </a:avLst>
          </a:prstGeom>
          <a:solidFill>
            <a:srgbClr val="F3F5F9"/>
          </a:solidFill>
          <a:ln w="12700">
            <a:solidFill>
              <a:srgbClr val="F3F5F9"/>
            </a:solidFill>
            <a:prstDash val="solid"/>
          </a:ln>
        </p:spPr>
      </p:sp>
      <p:sp>
        <p:nvSpPr>
          <p:cNvPr id="18" name="Shape 15"/>
          <p:cNvSpPr/>
          <p:nvPr/>
        </p:nvSpPr>
        <p:spPr>
          <a:xfrm>
            <a:off x="594360" y="3044952"/>
            <a:ext cx="512064" cy="512064"/>
          </a:xfrm>
          <a:prstGeom prst="ellipse">
            <a:avLst/>
          </a:prstGeom>
          <a:solidFill>
            <a:srgbClr val="14213D"/>
          </a:solidFill>
          <a:ln w="12700">
            <a:solidFill>
              <a:srgbClr val="14213D"/>
            </a:solidFill>
            <a:prstDash val="solid"/>
          </a:ln>
        </p:spPr>
      </p:sp>
      <p:sp>
        <p:nvSpPr>
          <p:cNvPr id="19" name="Text 16"/>
          <p:cNvSpPr txBox="1"/>
          <p:nvPr/>
        </p:nvSpPr>
        <p:spPr>
          <a:xfrm>
            <a:off x="594360" y="3044952"/>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Q3</a:t>
            </a:r>
            <a:endParaRPr lang="en-US" sz="1400" dirty="0"/>
          </a:p>
        </p:txBody>
      </p:sp>
      <p:sp>
        <p:nvSpPr>
          <p:cNvPr id="20" name="Text 17"/>
          <p:cNvSpPr txBox="1"/>
          <p:nvPr/>
        </p:nvSpPr>
        <p:spPr>
          <a:xfrm>
            <a:off x="1325880" y="2935224"/>
            <a:ext cx="4114800" cy="731520"/>
          </a:xfrm>
          <a:prstGeom prst="rect">
            <a:avLst/>
          </a:prstGeom>
          <a:noFill/>
          <a:ln/>
        </p:spPr>
        <p:txBody>
          <a:bodyPr wrap="square" lIns="0" tIns="0" rIns="0" bIns="0" rtlCol="0" anchor="ctr"/>
          <a:lstStyle/>
          <a:p>
            <a:pPr indent="0" marL="0">
              <a:buNone/>
            </a:pPr>
            <a:r>
              <a:rPr lang="en-US" sz="1350" b="1" dirty="0">
                <a:solidFill>
                  <a:srgbClr val="1F2937"/>
                </a:solidFill>
                <a:latin typeface="Calibri" pitchFamily="34" charset="0"/>
                <a:ea typeface="Calibri" pitchFamily="34" charset="-122"/>
                <a:cs typeface="Calibri" pitchFamily="34" charset="-120"/>
              </a:rPr>
              <a:t>Which features drive the risk, and do the models agree?</a:t>
            </a:r>
            <a:endParaRPr lang="en-US" sz="1350" dirty="0"/>
          </a:p>
        </p:txBody>
      </p:sp>
      <p:sp>
        <p:nvSpPr>
          <p:cNvPr id="21" name="Text 18"/>
          <p:cNvSpPr txBox="1"/>
          <p:nvPr/>
        </p:nvSpPr>
        <p:spPr>
          <a:xfrm>
            <a:off x="5623560" y="3026664"/>
            <a:ext cx="2926080" cy="182880"/>
          </a:xfrm>
          <a:prstGeom prst="rect">
            <a:avLst/>
          </a:prstGeom>
          <a:noFill/>
          <a:ln/>
        </p:spPr>
        <p:txBody>
          <a:bodyPr wrap="square" lIns="0" tIns="0" rIns="0" bIns="0" rtlCol="0" anchor="t"/>
          <a:lstStyle/>
          <a:p>
            <a:pPr indent="0" marL="0">
              <a:buNone/>
            </a:pPr>
            <a:r>
              <a:rPr lang="en-US" sz="950" b="1" dirty="0">
                <a:solidFill>
                  <a:srgbClr val="1F8A8A"/>
                </a:solidFill>
                <a:latin typeface="Calibri" pitchFamily="34" charset="0"/>
                <a:ea typeface="Calibri" pitchFamily="34" charset="-122"/>
                <a:cs typeface="Calibri" pitchFamily="34" charset="-120"/>
              </a:rPr>
              <a:t>How we tested it</a:t>
            </a:r>
            <a:endParaRPr lang="en-US" sz="950" dirty="0"/>
          </a:p>
        </p:txBody>
      </p:sp>
      <p:sp>
        <p:nvSpPr>
          <p:cNvPr id="22" name="Text 19"/>
          <p:cNvSpPr txBox="1"/>
          <p:nvPr/>
        </p:nvSpPr>
        <p:spPr>
          <a:xfrm>
            <a:off x="5623560" y="3227832"/>
            <a:ext cx="2926080" cy="384048"/>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SHAP for every model and every size</a:t>
            </a:r>
            <a:endParaRPr lang="en-US" sz="1200" dirty="0"/>
          </a:p>
        </p:txBody>
      </p:sp>
      <p:sp>
        <p:nvSpPr>
          <p:cNvPr id="23" name="Shape 20"/>
          <p:cNvSpPr/>
          <p:nvPr/>
        </p:nvSpPr>
        <p:spPr>
          <a:xfrm>
            <a:off x="457200" y="3785616"/>
            <a:ext cx="8229600" cy="731520"/>
          </a:xfrm>
          <a:prstGeom prst="roundRect">
            <a:avLst>
              <a:gd name="adj" fmla="val 10000"/>
            </a:avLst>
          </a:prstGeom>
          <a:solidFill>
            <a:srgbClr val="F3F5F9"/>
          </a:solidFill>
          <a:ln w="12700">
            <a:solidFill>
              <a:srgbClr val="F3F5F9"/>
            </a:solidFill>
            <a:prstDash val="solid"/>
          </a:ln>
        </p:spPr>
      </p:sp>
      <p:sp>
        <p:nvSpPr>
          <p:cNvPr id="24" name="Shape 21"/>
          <p:cNvSpPr/>
          <p:nvPr/>
        </p:nvSpPr>
        <p:spPr>
          <a:xfrm>
            <a:off x="594360" y="3895344"/>
            <a:ext cx="512064" cy="512064"/>
          </a:xfrm>
          <a:prstGeom prst="ellipse">
            <a:avLst/>
          </a:prstGeom>
          <a:solidFill>
            <a:srgbClr val="14213D"/>
          </a:solidFill>
          <a:ln w="12700">
            <a:solidFill>
              <a:srgbClr val="14213D"/>
            </a:solidFill>
            <a:prstDash val="solid"/>
          </a:ln>
        </p:spPr>
      </p:sp>
      <p:sp>
        <p:nvSpPr>
          <p:cNvPr id="25" name="Text 22"/>
          <p:cNvSpPr txBox="1"/>
          <p:nvPr/>
        </p:nvSpPr>
        <p:spPr>
          <a:xfrm>
            <a:off x="594360" y="3895344"/>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Q4</a:t>
            </a:r>
            <a:endParaRPr lang="en-US" sz="1400" dirty="0"/>
          </a:p>
        </p:txBody>
      </p:sp>
      <p:sp>
        <p:nvSpPr>
          <p:cNvPr id="26" name="Text 23"/>
          <p:cNvSpPr txBox="1"/>
          <p:nvPr/>
        </p:nvSpPr>
        <p:spPr>
          <a:xfrm>
            <a:off x="1325880" y="3785616"/>
            <a:ext cx="4114800" cy="731520"/>
          </a:xfrm>
          <a:prstGeom prst="rect">
            <a:avLst/>
          </a:prstGeom>
          <a:noFill/>
          <a:ln/>
        </p:spPr>
        <p:txBody>
          <a:bodyPr wrap="square" lIns="0" tIns="0" rIns="0" bIns="0" rtlCol="0" anchor="ctr"/>
          <a:lstStyle/>
          <a:p>
            <a:pPr indent="0" marL="0">
              <a:buNone/>
            </a:pPr>
            <a:r>
              <a:rPr lang="en-US" sz="1350" b="1" dirty="0">
                <a:solidFill>
                  <a:srgbClr val="1F2937"/>
                </a:solidFill>
                <a:latin typeface="Calibri" pitchFamily="34" charset="0"/>
                <a:ea typeface="Calibri" pitchFamily="34" charset="-122"/>
                <a:cs typeface="Calibri" pitchFamily="34" charset="-120"/>
              </a:rPr>
              <a:t>What does each model cost to run?</a:t>
            </a:r>
            <a:endParaRPr lang="en-US" sz="1350" dirty="0"/>
          </a:p>
        </p:txBody>
      </p:sp>
      <p:sp>
        <p:nvSpPr>
          <p:cNvPr id="27" name="Text 24"/>
          <p:cNvSpPr txBox="1"/>
          <p:nvPr/>
        </p:nvSpPr>
        <p:spPr>
          <a:xfrm>
            <a:off x="5623560" y="3877056"/>
            <a:ext cx="2926080" cy="182880"/>
          </a:xfrm>
          <a:prstGeom prst="rect">
            <a:avLst/>
          </a:prstGeom>
          <a:noFill/>
          <a:ln/>
        </p:spPr>
        <p:txBody>
          <a:bodyPr wrap="square" lIns="0" tIns="0" rIns="0" bIns="0" rtlCol="0" anchor="t"/>
          <a:lstStyle/>
          <a:p>
            <a:pPr indent="0" marL="0">
              <a:buNone/>
            </a:pPr>
            <a:r>
              <a:rPr lang="en-US" sz="950" b="1" dirty="0">
                <a:solidFill>
                  <a:srgbClr val="1F8A8A"/>
                </a:solidFill>
                <a:latin typeface="Calibri" pitchFamily="34" charset="0"/>
                <a:ea typeface="Calibri" pitchFamily="34" charset="-122"/>
                <a:cs typeface="Calibri" pitchFamily="34" charset="-120"/>
              </a:rPr>
              <a:t>How we tested it</a:t>
            </a:r>
            <a:endParaRPr lang="en-US" sz="950" dirty="0"/>
          </a:p>
        </p:txBody>
      </p:sp>
      <p:sp>
        <p:nvSpPr>
          <p:cNvPr id="28" name="Text 25"/>
          <p:cNvSpPr txBox="1"/>
          <p:nvPr/>
        </p:nvSpPr>
        <p:spPr>
          <a:xfrm>
            <a:off x="5623560" y="4078224"/>
            <a:ext cx="2926080" cy="384048"/>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Record run time, memory and problems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777240"/>
          </a:xfrm>
          <a:prstGeom prst="rect">
            <a:avLst/>
          </a:prstGeom>
          <a:noFill/>
          <a:ln/>
        </p:spPr>
        <p:txBody>
          <a:bodyPr wrap="square" lIns="0" tIns="0" rIns="0" bIns="0" rtlCol="0" anchor="t"/>
          <a:lstStyle/>
          <a:p>
            <a:pPr indent="0" marL="0">
              <a:buNone/>
            </a:pPr>
            <a:r>
              <a:rPr lang="en-US" sz="2500" b="1" dirty="0">
                <a:solidFill>
                  <a:srgbClr val="14213D"/>
                </a:solidFill>
                <a:latin typeface="Cambria" pitchFamily="34" charset="0"/>
                <a:ea typeface="Cambria" pitchFamily="34" charset="-122"/>
                <a:cs typeface="Cambria" pitchFamily="34" charset="-120"/>
              </a:rPr>
              <a:t>Earlier studies were useful, but they disagree</a:t>
            </a:r>
            <a:endParaRPr lang="en-US" sz="2500" dirty="0"/>
          </a:p>
        </p:txBody>
      </p:sp>
      <p:sp>
        <p:nvSpPr>
          <p:cNvPr id="3" name="Text 1"/>
          <p:cNvSpPr txBox="1"/>
          <p:nvPr/>
        </p:nvSpPr>
        <p:spPr>
          <a:xfrm>
            <a:off x="8229600" y="4773168"/>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5120640" cy="914400"/>
        </p:xfrm>
        <a:graphic>
          <a:graphicData uri="http://schemas.openxmlformats.org/drawingml/2006/table">
            <a:tbl>
              <a:tblPr/>
              <a:tblGrid>
                <a:gridCol w="1554480"/>
                <a:gridCol w="3566160"/>
              </a:tblGrid>
              <a:tr h="51206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Study</a:t>
                      </a:r>
                      <a:endParaRPr lang="en-US" sz="120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they found</a:t>
                      </a:r>
                      <a:endParaRPr lang="en-US" sz="120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14213D"/>
                    </a:solidFill>
                  </a:tcPr>
                </a:tc>
              </a:tr>
              <a:tr h="512064">
                <a:tc>
                  <a:txBody>
                    <a:bodyPr/>
                    <a:lstStyle/>
                    <a:p>
                      <a:pPr indent="0" marL="0">
                        <a:buNone/>
                      </a:pPr>
                      <a:r>
                        <a:rPr lang="en-US" sz="1150" b="1" dirty="0">
                          <a:solidFill>
                            <a:srgbClr val="1F2937"/>
                          </a:solidFill>
                          <a:latin typeface="Calibri" pitchFamily="34" charset="0"/>
                          <a:ea typeface="Calibri" pitchFamily="34" charset="-122"/>
                          <a:cs typeface="Calibri" pitchFamily="34" charset="-120"/>
                        </a:rPr>
                        <a:t>Widowati et al. [1]</a:t>
                      </a:r>
                      <a:endParaRPr lang="en-US" sz="11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Explainable system; keep data preparation inside cross-validation</a:t>
                      </a:r>
                      <a:endParaRPr lang="en-US" sz="11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r>
              <a:tr h="512064">
                <a:tc>
                  <a:txBody>
                    <a:bodyPr/>
                    <a:lstStyle/>
                    <a:p>
                      <a:pPr indent="0" marL="0">
                        <a:buNone/>
                      </a:pPr>
                      <a:r>
                        <a:rPr lang="en-US" sz="1150" b="1" dirty="0">
                          <a:solidFill>
                            <a:srgbClr val="1F2937"/>
                          </a:solidFill>
                          <a:latin typeface="Calibri" pitchFamily="34" charset="0"/>
                          <a:ea typeface="Calibri" pitchFamily="34" charset="-122"/>
                          <a:cs typeface="Calibri" pitchFamily="34" charset="-120"/>
                        </a:rPr>
                        <a:t>Sai et al. [3]</a:t>
                      </a:r>
                      <a:endParaRPr lang="en-US" sz="11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An ensemble beat single classifiers</a:t>
                      </a:r>
                      <a:endParaRPr lang="en-US" sz="11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r>
              <a:tr h="512064">
                <a:tc>
                  <a:txBody>
                    <a:bodyPr/>
                    <a:lstStyle/>
                    <a:p>
                      <a:pPr indent="0" marL="0">
                        <a:buNone/>
                      </a:pPr>
                      <a:r>
                        <a:rPr lang="en-US" sz="1150" b="1" dirty="0">
                          <a:solidFill>
                            <a:srgbClr val="1F2937"/>
                          </a:solidFill>
                          <a:latin typeface="Calibri" pitchFamily="34" charset="0"/>
                          <a:ea typeface="Calibri" pitchFamily="34" charset="-122"/>
                          <a:cs typeface="Calibri" pitchFamily="34" charset="-120"/>
                        </a:rPr>
                        <a:t>Patel et al. [4]</a:t>
                      </a:r>
                      <a:endParaRPr lang="en-US" sz="11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Random Forest beat XGBoost, CatBoost and LightGBM</a:t>
                      </a:r>
                      <a:endParaRPr lang="en-US" sz="11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r>
              <a:tr h="512064">
                <a:tc>
                  <a:txBody>
                    <a:bodyPr/>
                    <a:lstStyle/>
                    <a:p>
                      <a:pPr indent="0" marL="0">
                        <a:buNone/>
                      </a:pPr>
                      <a:r>
                        <a:rPr lang="en-US" sz="1150" b="1" dirty="0">
                          <a:solidFill>
                            <a:srgbClr val="1F2937"/>
                          </a:solidFill>
                          <a:latin typeface="Calibri" pitchFamily="34" charset="0"/>
                          <a:ea typeface="Calibri" pitchFamily="34" charset="-122"/>
                          <a:cs typeface="Calibri" pitchFamily="34" charset="-120"/>
                        </a:rPr>
                        <a:t>Chen et al. [5]</a:t>
                      </a:r>
                      <a:endParaRPr lang="en-US" sz="11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Neural networks find more, but are harder to explain</a:t>
                      </a:r>
                      <a:endParaRPr lang="en-US" sz="11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r>
              <a:tr h="512064">
                <a:tc>
                  <a:txBody>
                    <a:bodyPr/>
                    <a:lstStyle/>
                    <a:p>
                      <a:pPr indent="0" marL="0">
                        <a:buNone/>
                      </a:pPr>
                      <a:r>
                        <a:rPr lang="en-US" sz="1150" b="1" dirty="0">
                          <a:solidFill>
                            <a:srgbClr val="1F2937"/>
                          </a:solidFill>
                          <a:latin typeface="Calibri" pitchFamily="34" charset="0"/>
                          <a:ea typeface="Calibri" pitchFamily="34" charset="-122"/>
                          <a:cs typeface="Calibri" pitchFamily="34" charset="-120"/>
                        </a:rPr>
                        <a:t>Shakeel et al. [6]</a:t>
                      </a:r>
                      <a:endParaRPr lang="en-US" sz="11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Scalp images: SVM 91.4%, KNN 88.9%</a:t>
                      </a:r>
                      <a:endParaRPr lang="en-US" sz="11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r>
            </a:tbl>
          </a:graphicData>
        </a:graphic>
      </p:graphicFrame>
      <p:sp>
        <p:nvSpPr>
          <p:cNvPr id="6" name="Shape 2"/>
          <p:cNvSpPr/>
          <p:nvPr/>
        </p:nvSpPr>
        <p:spPr>
          <a:xfrm>
            <a:off x="5852160" y="1234440"/>
            <a:ext cx="2834640" cy="3108960"/>
          </a:xfrm>
          <a:prstGeom prst="roundRect">
            <a:avLst>
              <a:gd name="adj" fmla="val 2581"/>
            </a:avLst>
          </a:prstGeom>
          <a:solidFill>
            <a:srgbClr val="14213D"/>
          </a:solidFill>
          <a:ln w="12700">
            <a:solidFill>
              <a:srgbClr val="14213D"/>
            </a:solidFill>
            <a:prstDash val="solid"/>
          </a:ln>
          <a:effectLst>
            <a:outerShdw sx="100000" sy="100000" kx="0" ky="0" algn="bl" rotWithShape="0" blurRad="76200" dist="25400" dir="5400000">
              <a:srgbClr val="000000">
                <a:alpha val="12000"/>
              </a:srgbClr>
            </a:outerShdw>
          </a:effectLst>
        </p:spPr>
      </p:sp>
      <p:sp>
        <p:nvSpPr>
          <p:cNvPr id="7" name="Text 3"/>
          <p:cNvSpPr txBox="1"/>
          <p:nvPr/>
        </p:nvSpPr>
        <p:spPr>
          <a:xfrm>
            <a:off x="6080760" y="1371600"/>
            <a:ext cx="2377440" cy="320040"/>
          </a:xfrm>
          <a:prstGeom prst="rect">
            <a:avLst/>
          </a:prstGeom>
          <a:noFill/>
          <a:ln/>
        </p:spPr>
        <p:txBody>
          <a:bodyPr wrap="square" lIns="0" tIns="0" rIns="0" bIns="0" rtlCol="0" anchor="t"/>
          <a:lstStyle/>
          <a:p>
            <a:pPr indent="0" marL="0">
              <a:buNone/>
            </a:pPr>
            <a:r>
              <a:rPr lang="en-US" sz="1700" b="1" dirty="0">
                <a:solidFill>
                  <a:srgbClr val="E9A23B"/>
                </a:solidFill>
                <a:latin typeface="Cambria" pitchFamily="34" charset="0"/>
                <a:ea typeface="Cambria" pitchFamily="34" charset="-122"/>
                <a:cs typeface="Cambria" pitchFamily="34" charset="-120"/>
              </a:rPr>
              <a:t>The gap</a:t>
            </a:r>
            <a:endParaRPr lang="en-US" sz="1700" dirty="0"/>
          </a:p>
        </p:txBody>
      </p:sp>
      <p:sp>
        <p:nvSpPr>
          <p:cNvPr id="8" name="Text 4"/>
          <p:cNvSpPr txBox="1"/>
          <p:nvPr/>
        </p:nvSpPr>
        <p:spPr>
          <a:xfrm>
            <a:off x="6080760" y="1783080"/>
            <a:ext cx="2423160" cy="237744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FFFFFF"/>
                </a:solidFill>
                <a:latin typeface="Calibri" pitchFamily="34" charset="0"/>
                <a:ea typeface="Calibri" pitchFamily="34" charset="-122"/>
                <a:cs typeface="Calibri" pitchFamily="34" charset="-120"/>
              </a:rPr>
              <a:t>Conflicting answers on the best model</a:t>
            </a:r>
            <a:endParaRPr lang="en-US" sz="1300" dirty="0"/>
          </a:p>
          <a:p>
            <a:pPr marL="342900" indent="-342900">
              <a:spcAft>
                <a:spcPts val="900"/>
              </a:spcAft>
              <a:buSzPct val="100000"/>
              <a:buChar char="•"/>
            </a:pPr>
            <a:r>
              <a:rPr lang="en-US" sz="1300" dirty="0">
                <a:solidFill>
                  <a:srgbClr val="FFFFFF"/>
                </a:solidFill>
                <a:latin typeface="Calibri" pitchFamily="34" charset="0"/>
                <a:ea typeface="Calibri" pitchFamily="34" charset="-122"/>
                <a:cs typeface="Calibri" pitchFamily="34" charset="-120"/>
              </a:rPr>
              <a:t>Foundation models untested on hair fall data</a:t>
            </a:r>
            <a:endParaRPr lang="en-US" sz="1300" dirty="0"/>
          </a:p>
          <a:p>
            <a:pPr marL="342900" indent="-342900">
              <a:spcAft>
                <a:spcPts val="900"/>
              </a:spcAft>
              <a:buSzPct val="100000"/>
              <a:buChar char="•"/>
            </a:pPr>
            <a:r>
              <a:rPr lang="en-US" sz="1300" dirty="0">
                <a:solidFill>
                  <a:srgbClr val="FFFFFF"/>
                </a:solidFill>
                <a:latin typeface="Calibri" pitchFamily="34" charset="0"/>
                <a:ea typeface="Calibri" pitchFamily="34" charset="-122"/>
                <a:cs typeface="Calibri" pitchFamily="34" charset="-120"/>
              </a:rPr>
              <a:t>Explainability treated unevenly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777240"/>
          </a:xfrm>
          <a:prstGeom prst="rect">
            <a:avLst/>
          </a:prstGeom>
          <a:noFill/>
          <a:ln/>
        </p:spPr>
        <p:txBody>
          <a:bodyPr wrap="square" lIns="0" tIns="0" rIns="0" bIns="0" rtlCol="0" anchor="t"/>
          <a:lstStyle/>
          <a:p>
            <a:pPr indent="0" marL="0">
              <a:buNone/>
            </a:pPr>
            <a:r>
              <a:rPr lang="en-US" sz="2500" b="1" dirty="0">
                <a:solidFill>
                  <a:srgbClr val="14213D"/>
                </a:solidFill>
                <a:latin typeface="Cambria" pitchFamily="34" charset="0"/>
                <a:ea typeface="Cambria" pitchFamily="34" charset="-122"/>
                <a:cs typeface="Cambria" pitchFamily="34" charset="-120"/>
              </a:rPr>
              <a:t>Three models, three ways of learning</a:t>
            </a:r>
            <a:endParaRPr lang="en-US" sz="2500" dirty="0"/>
          </a:p>
        </p:txBody>
      </p:sp>
      <p:sp>
        <p:nvSpPr>
          <p:cNvPr id="3" name="Text 1"/>
          <p:cNvSpPr txBox="1"/>
          <p:nvPr/>
        </p:nvSpPr>
        <p:spPr>
          <a:xfrm>
            <a:off x="8229600" y="4773168"/>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
        <p:nvSpPr>
          <p:cNvPr id="5" name="Shape 2"/>
          <p:cNvSpPr/>
          <p:nvPr/>
        </p:nvSpPr>
        <p:spPr>
          <a:xfrm>
            <a:off x="457200" y="1234440"/>
            <a:ext cx="2606040" cy="2788920"/>
          </a:xfrm>
          <a:prstGeom prst="roundRect">
            <a:avLst>
              <a:gd name="adj" fmla="val 2807"/>
            </a:avLst>
          </a:prstGeom>
          <a:solidFill>
            <a:srgbClr val="F3F5F9"/>
          </a:solidFill>
          <a:ln w="9525">
            <a:solidFill>
              <a:srgbClr val="DCE3EE"/>
            </a:solidFill>
            <a:prstDash val="solid"/>
          </a:ln>
        </p:spPr>
      </p:sp>
      <p:sp>
        <p:nvSpPr>
          <p:cNvPr id="6" name="Shape 3"/>
          <p:cNvSpPr/>
          <p:nvPr/>
        </p:nvSpPr>
        <p:spPr>
          <a:xfrm>
            <a:off x="457200" y="1234440"/>
            <a:ext cx="2606040" cy="777240"/>
          </a:xfrm>
          <a:prstGeom prst="roundRect">
            <a:avLst>
              <a:gd name="adj" fmla="val 9412"/>
            </a:avLst>
          </a:prstGeom>
          <a:solidFill>
            <a:srgbClr val="E9A23B"/>
          </a:solidFill>
          <a:ln w="12700">
            <a:solidFill>
              <a:srgbClr val="E9A23B"/>
            </a:solidFill>
            <a:prstDash val="solid"/>
          </a:ln>
        </p:spPr>
      </p:sp>
      <p:sp>
        <p:nvSpPr>
          <p:cNvPr id="7" name="Text 4"/>
          <p:cNvSpPr txBox="1"/>
          <p:nvPr/>
        </p:nvSpPr>
        <p:spPr>
          <a:xfrm>
            <a:off x="640080" y="1298448"/>
            <a:ext cx="2286000" cy="365760"/>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CatBoost</a:t>
            </a:r>
            <a:endParaRPr lang="en-US" sz="1900" dirty="0"/>
          </a:p>
        </p:txBody>
      </p:sp>
      <p:sp>
        <p:nvSpPr>
          <p:cNvPr id="8" name="Text 5"/>
          <p:cNvSpPr txBox="1"/>
          <p:nvPr/>
        </p:nvSpPr>
        <p:spPr>
          <a:xfrm>
            <a:off x="640080" y="1664208"/>
            <a:ext cx="228600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Learns from the data</a:t>
            </a:r>
            <a:endParaRPr lang="en-US" sz="1200" dirty="0"/>
          </a:p>
        </p:txBody>
      </p:sp>
      <p:sp>
        <p:nvSpPr>
          <p:cNvPr id="9" name="Text 6"/>
          <p:cNvSpPr txBox="1"/>
          <p:nvPr/>
        </p:nvSpPr>
        <p:spPr>
          <a:xfrm>
            <a:off x="640080" y="2194560"/>
            <a:ext cx="2286000" cy="17373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Many small decision trees, each fixing the last one's mistakes</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Tuned by grid search and 5-fold cross-validation</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Trains in seconds, small model</a:t>
            </a:r>
            <a:endParaRPr lang="en-US" sz="1200" dirty="0"/>
          </a:p>
        </p:txBody>
      </p:sp>
      <p:sp>
        <p:nvSpPr>
          <p:cNvPr id="10" name="Shape 7"/>
          <p:cNvSpPr/>
          <p:nvPr/>
        </p:nvSpPr>
        <p:spPr>
          <a:xfrm>
            <a:off x="3268980" y="1234440"/>
            <a:ext cx="2606040" cy="2788920"/>
          </a:xfrm>
          <a:prstGeom prst="roundRect">
            <a:avLst>
              <a:gd name="adj" fmla="val 2807"/>
            </a:avLst>
          </a:prstGeom>
          <a:solidFill>
            <a:srgbClr val="F3F5F9"/>
          </a:solidFill>
          <a:ln w="9525">
            <a:solidFill>
              <a:srgbClr val="DCE3EE"/>
            </a:solidFill>
            <a:prstDash val="solid"/>
          </a:ln>
        </p:spPr>
      </p:sp>
      <p:sp>
        <p:nvSpPr>
          <p:cNvPr id="11" name="Shape 8"/>
          <p:cNvSpPr/>
          <p:nvPr/>
        </p:nvSpPr>
        <p:spPr>
          <a:xfrm>
            <a:off x="3268980" y="1234440"/>
            <a:ext cx="2606040" cy="777240"/>
          </a:xfrm>
          <a:prstGeom prst="roundRect">
            <a:avLst>
              <a:gd name="adj" fmla="val 9412"/>
            </a:avLst>
          </a:prstGeom>
          <a:solidFill>
            <a:srgbClr val="2F6FD6"/>
          </a:solidFill>
          <a:ln w="12700">
            <a:solidFill>
              <a:srgbClr val="2F6FD6"/>
            </a:solidFill>
            <a:prstDash val="solid"/>
          </a:ln>
        </p:spPr>
      </p:sp>
      <p:sp>
        <p:nvSpPr>
          <p:cNvPr id="12" name="Text 9"/>
          <p:cNvSpPr txBox="1"/>
          <p:nvPr/>
        </p:nvSpPr>
        <p:spPr>
          <a:xfrm>
            <a:off x="3451860" y="1298448"/>
            <a:ext cx="2286000" cy="365760"/>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TabPFN</a:t>
            </a:r>
            <a:endParaRPr lang="en-US" sz="1900" dirty="0"/>
          </a:p>
        </p:txBody>
      </p:sp>
      <p:sp>
        <p:nvSpPr>
          <p:cNvPr id="13" name="Text 10"/>
          <p:cNvSpPr txBox="1"/>
          <p:nvPr/>
        </p:nvSpPr>
        <p:spPr>
          <a:xfrm>
            <a:off x="3451860" y="1664208"/>
            <a:ext cx="228600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Pre-trained, no training</a:t>
            </a:r>
            <a:endParaRPr lang="en-US" sz="1200" dirty="0"/>
          </a:p>
        </p:txBody>
      </p:sp>
      <p:sp>
        <p:nvSpPr>
          <p:cNvPr id="14" name="Text 11"/>
          <p:cNvSpPr txBox="1"/>
          <p:nvPr/>
        </p:nvSpPr>
        <p:spPr>
          <a:xfrm>
            <a:off x="3451860" y="2194560"/>
            <a:ext cx="2286000" cy="17373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Transformer trained on millions of synthetic tables</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Reads our training rows as examples and predicts in one pass</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Needs the rows at prediction time</a:t>
            </a:r>
            <a:endParaRPr lang="en-US" sz="1200" dirty="0"/>
          </a:p>
        </p:txBody>
      </p:sp>
      <p:sp>
        <p:nvSpPr>
          <p:cNvPr id="15" name="Shape 12"/>
          <p:cNvSpPr/>
          <p:nvPr/>
        </p:nvSpPr>
        <p:spPr>
          <a:xfrm>
            <a:off x="6080760" y="1234440"/>
            <a:ext cx="2606040" cy="2788920"/>
          </a:xfrm>
          <a:prstGeom prst="roundRect">
            <a:avLst>
              <a:gd name="adj" fmla="val 2807"/>
            </a:avLst>
          </a:prstGeom>
          <a:solidFill>
            <a:srgbClr val="F3F5F9"/>
          </a:solidFill>
          <a:ln w="9525">
            <a:solidFill>
              <a:srgbClr val="DCE3EE"/>
            </a:solidFill>
            <a:prstDash val="solid"/>
          </a:ln>
        </p:spPr>
      </p:sp>
      <p:sp>
        <p:nvSpPr>
          <p:cNvPr id="16" name="Shape 13"/>
          <p:cNvSpPr/>
          <p:nvPr/>
        </p:nvSpPr>
        <p:spPr>
          <a:xfrm>
            <a:off x="6080760" y="1234440"/>
            <a:ext cx="2606040" cy="777240"/>
          </a:xfrm>
          <a:prstGeom prst="roundRect">
            <a:avLst>
              <a:gd name="adj" fmla="val 9412"/>
            </a:avLst>
          </a:prstGeom>
          <a:solidFill>
            <a:srgbClr val="2EA44F"/>
          </a:solidFill>
          <a:ln w="12700">
            <a:solidFill>
              <a:srgbClr val="2EA44F"/>
            </a:solidFill>
            <a:prstDash val="solid"/>
          </a:ln>
        </p:spPr>
      </p:sp>
      <p:sp>
        <p:nvSpPr>
          <p:cNvPr id="17" name="Text 14"/>
          <p:cNvSpPr txBox="1"/>
          <p:nvPr/>
        </p:nvSpPr>
        <p:spPr>
          <a:xfrm>
            <a:off x="6263640" y="1298448"/>
            <a:ext cx="2286000" cy="365760"/>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TabFM</a:t>
            </a:r>
            <a:endParaRPr lang="en-US" sz="1900" dirty="0"/>
          </a:p>
        </p:txBody>
      </p:sp>
      <p:sp>
        <p:nvSpPr>
          <p:cNvPr id="18" name="Text 15"/>
          <p:cNvSpPr txBox="1"/>
          <p:nvPr/>
        </p:nvSpPr>
        <p:spPr>
          <a:xfrm>
            <a:off x="6263640" y="1664208"/>
            <a:ext cx="228600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Google's foundation model</a:t>
            </a:r>
            <a:endParaRPr lang="en-US" sz="1200" dirty="0"/>
          </a:p>
        </p:txBody>
      </p:sp>
      <p:sp>
        <p:nvSpPr>
          <p:cNvPr id="19" name="Text 16"/>
          <p:cNvSpPr txBox="1"/>
          <p:nvPr/>
        </p:nvSpPr>
        <p:spPr>
          <a:xfrm>
            <a:off x="6263640" y="2194560"/>
            <a:ext cx="2286000" cy="17373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Same idea, with attention over rows and columns</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About 6.5 GB of weights, the slowest of the three</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Needs a GPU for full-size data</a:t>
            </a:r>
            <a:endParaRPr lang="en-US" sz="1200" dirty="0"/>
          </a:p>
        </p:txBody>
      </p:sp>
      <p:sp>
        <p:nvSpPr>
          <p:cNvPr id="20" name="Shape 17"/>
          <p:cNvSpPr/>
          <p:nvPr/>
        </p:nvSpPr>
        <p:spPr>
          <a:xfrm>
            <a:off x="457200" y="4160520"/>
            <a:ext cx="8229600" cy="502920"/>
          </a:xfrm>
          <a:prstGeom prst="roundRect">
            <a:avLst>
              <a:gd name="adj" fmla="val 14545"/>
            </a:avLst>
          </a:prstGeom>
          <a:solidFill>
            <a:srgbClr val="14213D"/>
          </a:solidFill>
          <a:ln w="12700">
            <a:solidFill>
              <a:srgbClr val="14213D"/>
            </a:solidFill>
            <a:prstDash val="solid"/>
          </a:ln>
          <a:effectLst>
            <a:outerShdw sx="100000" sy="100000" kx="0" ky="0" algn="bl" rotWithShape="0" blurRad="76200" dist="25400" dir="5400000">
              <a:srgbClr val="000000">
                <a:alpha val="12000"/>
              </a:srgbClr>
            </a:outerShdw>
          </a:effectLst>
        </p:spPr>
      </p:sp>
      <p:sp>
        <p:nvSpPr>
          <p:cNvPr id="21" name="Text 18"/>
          <p:cNvSpPr txBox="1"/>
          <p:nvPr/>
        </p:nvSpPr>
        <p:spPr>
          <a:xfrm>
            <a:off x="640080" y="4160520"/>
            <a:ext cx="786384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Foundation model = a model that has already learned how tables work, so it needs no training on our data.</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777240"/>
          </a:xfrm>
          <a:prstGeom prst="rect">
            <a:avLst/>
          </a:prstGeom>
          <a:noFill/>
          <a:ln/>
        </p:spPr>
        <p:txBody>
          <a:bodyPr wrap="square" lIns="0" tIns="0" rIns="0" bIns="0" rtlCol="0" anchor="t"/>
          <a:lstStyle/>
          <a:p>
            <a:pPr indent="0" marL="0">
              <a:buNone/>
            </a:pPr>
            <a:r>
              <a:rPr lang="en-US" sz="2500" b="1" dirty="0">
                <a:solidFill>
                  <a:srgbClr val="14213D"/>
                </a:solidFill>
                <a:latin typeface="Cambria" pitchFamily="34" charset="0"/>
                <a:ea typeface="Cambria" pitchFamily="34" charset="-122"/>
                <a:cs typeface="Cambria" pitchFamily="34" charset="-120"/>
              </a:rPr>
              <a:t>The data: 21,606 patients, 20 features, 3 risk tiers</a:t>
            </a:r>
            <a:endParaRPr lang="en-US" sz="2500" dirty="0"/>
          </a:p>
        </p:txBody>
      </p:sp>
      <p:sp>
        <p:nvSpPr>
          <p:cNvPr id="3" name="Text 1"/>
          <p:cNvSpPr txBox="1"/>
          <p:nvPr/>
        </p:nvSpPr>
        <p:spPr>
          <a:xfrm>
            <a:off x="8229600" y="4773168"/>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graphicFrame>
        <p:nvGraphicFramePr>
          <p:cNvPr id="5" name="Chart 0" descr=""/>
          <p:cNvGraphicFramePr/>
          <p:nvPr/>
        </p:nvGraphicFramePr>
        <p:xfrm>
          <a:off x="365760" y="1143000"/>
          <a:ext cx="3840480" cy="32004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4526280" y="1307592"/>
            <a:ext cx="201168" cy="201168"/>
          </a:xfrm>
          <a:prstGeom prst="ellipse">
            <a:avLst/>
          </a:prstGeom>
          <a:solidFill>
            <a:srgbClr val="1F8A8A"/>
          </a:solidFill>
          <a:ln w="12700">
            <a:solidFill>
              <a:srgbClr val="1F8A8A"/>
            </a:solidFill>
            <a:prstDash val="solid"/>
          </a:ln>
        </p:spPr>
      </p:sp>
      <p:sp>
        <p:nvSpPr>
          <p:cNvPr id="7" name="Text 3"/>
          <p:cNvSpPr txBox="1"/>
          <p:nvPr/>
        </p:nvSpPr>
        <p:spPr>
          <a:xfrm>
            <a:off x="4846320" y="1234440"/>
            <a:ext cx="3840480" cy="27432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Blood markers</a:t>
            </a:r>
            <a:endParaRPr lang="en-US" sz="1400" dirty="0"/>
          </a:p>
        </p:txBody>
      </p:sp>
      <p:sp>
        <p:nvSpPr>
          <p:cNvPr id="8" name="Text 4"/>
          <p:cNvSpPr txBox="1"/>
          <p:nvPr/>
        </p:nvSpPr>
        <p:spPr>
          <a:xfrm>
            <a:off x="4846320" y="1508760"/>
            <a:ext cx="3840480" cy="45720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iron, protein, calcium, vitamin D, liver enzyme ALT, manganese, body water</a:t>
            </a:r>
            <a:endParaRPr lang="en-US" sz="1150" dirty="0"/>
          </a:p>
        </p:txBody>
      </p:sp>
      <p:sp>
        <p:nvSpPr>
          <p:cNvPr id="9" name="Shape 5"/>
          <p:cNvSpPr/>
          <p:nvPr/>
        </p:nvSpPr>
        <p:spPr>
          <a:xfrm>
            <a:off x="4526280" y="2066544"/>
            <a:ext cx="201168" cy="201168"/>
          </a:xfrm>
          <a:prstGeom prst="ellipse">
            <a:avLst/>
          </a:prstGeom>
          <a:solidFill>
            <a:srgbClr val="2F6FD6"/>
          </a:solidFill>
          <a:ln w="12700">
            <a:solidFill>
              <a:srgbClr val="2F6FD6"/>
            </a:solidFill>
            <a:prstDash val="solid"/>
          </a:ln>
        </p:spPr>
      </p:sp>
      <p:sp>
        <p:nvSpPr>
          <p:cNvPr id="10" name="Text 6"/>
          <p:cNvSpPr txBox="1"/>
          <p:nvPr/>
        </p:nvSpPr>
        <p:spPr>
          <a:xfrm>
            <a:off x="4846320" y="1993392"/>
            <a:ext cx="3840480" cy="27432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Stress and hair scores</a:t>
            </a:r>
            <a:endParaRPr lang="en-US" sz="1400" dirty="0"/>
          </a:p>
        </p:txBody>
      </p:sp>
      <p:sp>
        <p:nvSpPr>
          <p:cNvPr id="11" name="Text 7"/>
          <p:cNvSpPr txBox="1"/>
          <p:nvPr/>
        </p:nvSpPr>
        <p:spPr>
          <a:xfrm>
            <a:off x="4846320" y="2267712"/>
            <a:ext cx="3840480" cy="45720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stress level, hair texture, keratine</a:t>
            </a:r>
            <a:endParaRPr lang="en-US" sz="1150" dirty="0"/>
          </a:p>
        </p:txBody>
      </p:sp>
      <p:sp>
        <p:nvSpPr>
          <p:cNvPr id="12" name="Shape 8"/>
          <p:cNvSpPr/>
          <p:nvPr/>
        </p:nvSpPr>
        <p:spPr>
          <a:xfrm>
            <a:off x="4526280" y="2825496"/>
            <a:ext cx="201168" cy="201168"/>
          </a:xfrm>
          <a:prstGeom prst="ellipse">
            <a:avLst/>
          </a:prstGeom>
          <a:solidFill>
            <a:srgbClr val="E9A23B"/>
          </a:solidFill>
          <a:ln w="12700">
            <a:solidFill>
              <a:srgbClr val="E9A23B"/>
            </a:solidFill>
            <a:prstDash val="solid"/>
          </a:ln>
        </p:spPr>
      </p:sp>
      <p:sp>
        <p:nvSpPr>
          <p:cNvPr id="13" name="Text 9"/>
          <p:cNvSpPr txBox="1"/>
          <p:nvPr/>
        </p:nvSpPr>
        <p:spPr>
          <a:xfrm>
            <a:off x="4846320" y="2752344"/>
            <a:ext cx="3840480" cy="27432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Lifestyle and history</a:t>
            </a:r>
            <a:endParaRPr lang="en-US" sz="1400" dirty="0"/>
          </a:p>
        </p:txBody>
      </p:sp>
      <p:sp>
        <p:nvSpPr>
          <p:cNvPr id="14" name="Text 10"/>
          <p:cNvSpPr txBox="1"/>
          <p:nvPr/>
        </p:nvSpPr>
        <p:spPr>
          <a:xfrm>
            <a:off x="4846320" y="3026664"/>
            <a:ext cx="3840480" cy="45720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sleep, chemicals, water, anemia, illness, family history</a:t>
            </a:r>
            <a:endParaRPr lang="en-US" sz="1150" dirty="0"/>
          </a:p>
        </p:txBody>
      </p:sp>
      <p:sp>
        <p:nvSpPr>
          <p:cNvPr id="15" name="Shape 11"/>
          <p:cNvSpPr/>
          <p:nvPr/>
        </p:nvSpPr>
        <p:spPr>
          <a:xfrm>
            <a:off x="4526280" y="3584448"/>
            <a:ext cx="201168" cy="201168"/>
          </a:xfrm>
          <a:prstGeom prst="ellipse">
            <a:avLst/>
          </a:prstGeom>
          <a:solidFill>
            <a:srgbClr val="2EA44F"/>
          </a:solidFill>
          <a:ln w="12700">
            <a:solidFill>
              <a:srgbClr val="2EA44F"/>
            </a:solidFill>
            <a:prstDash val="solid"/>
          </a:ln>
        </p:spPr>
      </p:sp>
      <p:sp>
        <p:nvSpPr>
          <p:cNvPr id="16" name="Text 12"/>
          <p:cNvSpPr txBox="1"/>
          <p:nvPr/>
        </p:nvSpPr>
        <p:spPr>
          <a:xfrm>
            <a:off x="4846320" y="3511296"/>
            <a:ext cx="3840480" cy="27432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Basics</a:t>
            </a:r>
            <a:endParaRPr lang="en-US" sz="1400" dirty="0"/>
          </a:p>
        </p:txBody>
      </p:sp>
      <p:sp>
        <p:nvSpPr>
          <p:cNvPr id="17" name="Text 13"/>
          <p:cNvSpPr txBox="1"/>
          <p:nvPr/>
        </p:nvSpPr>
        <p:spPr>
          <a:xfrm>
            <a:off x="4846320" y="3785616"/>
            <a:ext cx="3840480" cy="45720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age and gender</a:t>
            </a:r>
            <a:endParaRPr lang="en-US" sz="1150" dirty="0"/>
          </a:p>
        </p:txBody>
      </p:sp>
      <p:sp>
        <p:nvSpPr>
          <p:cNvPr id="18" name="Shape 14"/>
          <p:cNvSpPr/>
          <p:nvPr/>
        </p:nvSpPr>
        <p:spPr>
          <a:xfrm>
            <a:off x="4526280" y="4206240"/>
            <a:ext cx="4160520" cy="457200"/>
          </a:xfrm>
          <a:prstGeom prst="roundRect">
            <a:avLst>
              <a:gd name="adj" fmla="val 16000"/>
            </a:avLst>
          </a:prstGeom>
          <a:solidFill>
            <a:srgbClr val="F3F5F9"/>
          </a:solidFill>
          <a:ln w="12700">
            <a:solidFill>
              <a:srgbClr val="F3F5F9"/>
            </a:solidFill>
            <a:prstDash val="solid"/>
          </a:ln>
        </p:spPr>
      </p:sp>
      <p:sp>
        <p:nvSpPr>
          <p:cNvPr id="19" name="Text 15"/>
          <p:cNvSpPr txBox="1"/>
          <p:nvPr/>
        </p:nvSpPr>
        <p:spPr>
          <a:xfrm>
            <a:off x="4663440" y="4206240"/>
            <a:ext cx="3931920" cy="45720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Company dataset: a benchmark, not a clinical trial.</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777240"/>
          </a:xfrm>
          <a:prstGeom prst="rect">
            <a:avLst/>
          </a:prstGeom>
          <a:noFill/>
          <a:ln/>
        </p:spPr>
        <p:txBody>
          <a:bodyPr wrap="square" lIns="0" tIns="0" rIns="0" bIns="0" rtlCol="0" anchor="t"/>
          <a:lstStyle/>
          <a:p>
            <a:pPr indent="0" marL="0">
              <a:buNone/>
            </a:pPr>
            <a:r>
              <a:rPr lang="en-US" sz="2500" b="1" dirty="0">
                <a:solidFill>
                  <a:srgbClr val="14213D"/>
                </a:solidFill>
                <a:latin typeface="Cambria" pitchFamily="34" charset="0"/>
                <a:ea typeface="Cambria" pitchFamily="34" charset="-122"/>
                <a:cs typeface="Cambria" pitchFamily="34" charset="-120"/>
              </a:rPr>
              <a:t>The study in one picture</a:t>
            </a:r>
            <a:endParaRPr lang="en-US" sz="2500" dirty="0"/>
          </a:p>
        </p:txBody>
      </p:sp>
      <p:sp>
        <p:nvSpPr>
          <p:cNvPr id="3" name="Text 1"/>
          <p:cNvSpPr txBox="1"/>
          <p:nvPr/>
        </p:nvSpPr>
        <p:spPr>
          <a:xfrm>
            <a:off x="8229600" y="4773168"/>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
        <p:nvSpPr>
          <p:cNvPr id="5" name="Shape 2"/>
          <p:cNvSpPr/>
          <p:nvPr/>
        </p:nvSpPr>
        <p:spPr>
          <a:xfrm>
            <a:off x="457200" y="1280160"/>
            <a:ext cx="1783080" cy="1280160"/>
          </a:xfrm>
          <a:prstGeom prst="roundRect">
            <a:avLst>
              <a:gd name="adj" fmla="val 5714"/>
            </a:avLst>
          </a:prstGeom>
          <a:solidFill>
            <a:srgbClr val="F3F5F9"/>
          </a:solidFill>
          <a:ln w="12700">
            <a:solidFill>
              <a:srgbClr val="F3F5F9"/>
            </a:solidFill>
            <a:prstDash val="solid"/>
          </a:ln>
        </p:spPr>
      </p:sp>
      <p:sp>
        <p:nvSpPr>
          <p:cNvPr id="6" name="Shape 3"/>
          <p:cNvSpPr/>
          <p:nvPr/>
        </p:nvSpPr>
        <p:spPr>
          <a:xfrm>
            <a:off x="457200" y="1280160"/>
            <a:ext cx="1783080" cy="1280160"/>
          </a:xfrm>
          <a:prstGeom prst="roundRect">
            <a:avLst>
              <a:gd name="adj" fmla="val 5714"/>
            </a:avLst>
          </a:prstGeom>
          <a:solidFill>
            <a:srgbClr val="F3F5F9"/>
          </a:solidFill>
          <a:ln w="9525">
            <a:solidFill>
              <a:srgbClr val="DCE3EE"/>
            </a:solidFill>
            <a:prstDash val="solid"/>
          </a:ln>
        </p:spPr>
      </p:sp>
      <p:sp>
        <p:nvSpPr>
          <p:cNvPr id="7" name="Shape 4"/>
          <p:cNvSpPr/>
          <p:nvPr/>
        </p:nvSpPr>
        <p:spPr>
          <a:xfrm>
            <a:off x="594360" y="1417320"/>
            <a:ext cx="457200" cy="457200"/>
          </a:xfrm>
          <a:prstGeom prst="ellipse">
            <a:avLst/>
          </a:prstGeom>
          <a:solidFill>
            <a:srgbClr val="1F8A8A"/>
          </a:solidFill>
          <a:ln w="12700">
            <a:solidFill>
              <a:srgbClr val="1F8A8A"/>
            </a:solidFill>
            <a:prstDash val="solid"/>
          </a:ln>
        </p:spPr>
      </p:sp>
      <p:pic>
        <p:nvPicPr>
          <p:cNvPr id="8" name="Image 0" descr="preencoded.png">    </p:cNvPr>
          <p:cNvPicPr>
            <a:picLocks noChangeAspect="1"/>
          </p:cNvPicPr>
          <p:nvPr/>
        </p:nvPicPr>
        <p:blipFill>
          <a:blip r:embed="rId1"/>
          <a:stretch>
            <a:fillRect/>
          </a:stretch>
        </p:blipFill>
        <p:spPr>
          <a:xfrm>
            <a:off x="713232" y="1536192"/>
            <a:ext cx="219456" cy="219456"/>
          </a:xfrm>
          <a:prstGeom prst="rect">
            <a:avLst/>
          </a:prstGeom>
        </p:spPr>
      </p:pic>
      <p:sp>
        <p:nvSpPr>
          <p:cNvPr id="9" name="Text 5"/>
          <p:cNvSpPr txBox="1"/>
          <p:nvPr/>
        </p:nvSpPr>
        <p:spPr>
          <a:xfrm>
            <a:off x="1874520" y="1389888"/>
            <a:ext cx="274320" cy="228600"/>
          </a:xfrm>
          <a:prstGeom prst="rect">
            <a:avLst/>
          </a:prstGeom>
          <a:noFill/>
          <a:ln/>
        </p:spPr>
        <p:txBody>
          <a:bodyPr wrap="square" lIns="0" tIns="0" rIns="0" bIns="0" rtlCol="0" anchor="t"/>
          <a:lstStyle/>
          <a:p>
            <a:pPr algn="r" indent="0" marL="0">
              <a:buNone/>
            </a:pPr>
            <a:r>
              <a:rPr lang="en-US" sz="1100" b="1" dirty="0">
                <a:solidFill>
                  <a:srgbClr val="6B7280"/>
                </a:solidFill>
                <a:latin typeface="Calibri" pitchFamily="34" charset="0"/>
                <a:ea typeface="Calibri" pitchFamily="34" charset="-122"/>
                <a:cs typeface="Calibri" pitchFamily="34" charset="-120"/>
              </a:rPr>
              <a:t>1</a:t>
            </a:r>
            <a:endParaRPr lang="en-US" sz="1100" dirty="0"/>
          </a:p>
        </p:txBody>
      </p:sp>
      <p:sp>
        <p:nvSpPr>
          <p:cNvPr id="10" name="Text 6"/>
          <p:cNvSpPr txBox="1"/>
          <p:nvPr/>
        </p:nvSpPr>
        <p:spPr>
          <a:xfrm>
            <a:off x="594360" y="1938528"/>
            <a:ext cx="1554480" cy="256032"/>
          </a:xfrm>
          <a:prstGeom prst="rect">
            <a:avLst/>
          </a:prstGeom>
          <a:noFill/>
          <a:ln/>
        </p:spPr>
        <p:txBody>
          <a:bodyPr wrap="square" lIns="0" tIns="0" rIns="0" bIns="0" rtlCol="0" anchor="t"/>
          <a:lstStyle/>
          <a:p>
            <a:pPr indent="0" marL="0">
              <a:buNone/>
            </a:pPr>
            <a:r>
              <a:rPr lang="en-US" sz="1350" b="1" dirty="0">
                <a:solidFill>
                  <a:srgbClr val="14213D"/>
                </a:solidFill>
                <a:latin typeface="Cambria" pitchFamily="34" charset="0"/>
                <a:ea typeface="Cambria" pitchFamily="34" charset="-122"/>
                <a:cs typeface="Cambria" pitchFamily="34" charset="-120"/>
              </a:rPr>
              <a:t>Data</a:t>
            </a:r>
            <a:endParaRPr lang="en-US" sz="1350" dirty="0"/>
          </a:p>
        </p:txBody>
      </p:sp>
      <p:sp>
        <p:nvSpPr>
          <p:cNvPr id="11" name="Text 7"/>
          <p:cNvSpPr txBox="1"/>
          <p:nvPr/>
        </p:nvSpPr>
        <p:spPr>
          <a:xfrm>
            <a:off x="594360" y="2194560"/>
            <a:ext cx="1554480" cy="36576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Company dataset, 21,606 records</a:t>
            </a:r>
            <a:endParaRPr lang="en-US" sz="1050" dirty="0"/>
          </a:p>
        </p:txBody>
      </p:sp>
      <p:sp>
        <p:nvSpPr>
          <p:cNvPr id="12" name="Shape 8"/>
          <p:cNvSpPr/>
          <p:nvPr/>
        </p:nvSpPr>
        <p:spPr>
          <a:xfrm>
            <a:off x="2240280" y="1920240"/>
            <a:ext cx="365760" cy="0"/>
          </a:xfrm>
          <a:prstGeom prst="line">
            <a:avLst/>
          </a:prstGeom>
          <a:noFill/>
          <a:ln w="19050">
            <a:solidFill>
              <a:srgbClr val="6B7280"/>
            </a:solidFill>
            <a:prstDash val="solid"/>
            <a:tailEnd type="triangle"/>
          </a:ln>
        </p:spPr>
      </p:sp>
      <p:sp>
        <p:nvSpPr>
          <p:cNvPr id="13" name="Shape 9"/>
          <p:cNvSpPr/>
          <p:nvPr/>
        </p:nvSpPr>
        <p:spPr>
          <a:xfrm>
            <a:off x="2606040" y="1280160"/>
            <a:ext cx="1783080" cy="1280160"/>
          </a:xfrm>
          <a:prstGeom prst="roundRect">
            <a:avLst>
              <a:gd name="adj" fmla="val 5714"/>
            </a:avLst>
          </a:prstGeom>
          <a:solidFill>
            <a:srgbClr val="F3F5F9"/>
          </a:solidFill>
          <a:ln w="12700">
            <a:solidFill>
              <a:srgbClr val="F3F5F9"/>
            </a:solidFill>
            <a:prstDash val="solid"/>
          </a:ln>
        </p:spPr>
      </p:sp>
      <p:sp>
        <p:nvSpPr>
          <p:cNvPr id="14" name="Shape 10"/>
          <p:cNvSpPr/>
          <p:nvPr/>
        </p:nvSpPr>
        <p:spPr>
          <a:xfrm>
            <a:off x="2606040" y="1280160"/>
            <a:ext cx="1783080" cy="1280160"/>
          </a:xfrm>
          <a:prstGeom prst="roundRect">
            <a:avLst>
              <a:gd name="adj" fmla="val 5714"/>
            </a:avLst>
          </a:prstGeom>
          <a:solidFill>
            <a:srgbClr val="F3F5F9"/>
          </a:solidFill>
          <a:ln w="9525">
            <a:solidFill>
              <a:srgbClr val="DCE3EE"/>
            </a:solidFill>
            <a:prstDash val="solid"/>
          </a:ln>
        </p:spPr>
      </p:sp>
      <p:sp>
        <p:nvSpPr>
          <p:cNvPr id="15" name="Shape 11"/>
          <p:cNvSpPr/>
          <p:nvPr/>
        </p:nvSpPr>
        <p:spPr>
          <a:xfrm>
            <a:off x="2743200" y="1417320"/>
            <a:ext cx="457200" cy="457200"/>
          </a:xfrm>
          <a:prstGeom prst="ellipse">
            <a:avLst/>
          </a:prstGeom>
          <a:solidFill>
            <a:srgbClr val="1F8A8A"/>
          </a:solidFill>
          <a:ln w="12700">
            <a:solidFill>
              <a:srgbClr val="1F8A8A"/>
            </a:solidFill>
            <a:prstDash val="solid"/>
          </a:ln>
        </p:spPr>
      </p:sp>
      <p:pic>
        <p:nvPicPr>
          <p:cNvPr id="16" name="Image 1" descr="preencoded.png">    </p:cNvPr>
          <p:cNvPicPr>
            <a:picLocks noChangeAspect="1"/>
          </p:cNvPicPr>
          <p:nvPr/>
        </p:nvPicPr>
        <p:blipFill>
          <a:blip r:embed="rId2"/>
          <a:stretch>
            <a:fillRect/>
          </a:stretch>
        </p:blipFill>
        <p:spPr>
          <a:xfrm>
            <a:off x="2862072" y="1536192"/>
            <a:ext cx="219456" cy="219456"/>
          </a:xfrm>
          <a:prstGeom prst="rect">
            <a:avLst/>
          </a:prstGeom>
        </p:spPr>
      </p:pic>
      <p:sp>
        <p:nvSpPr>
          <p:cNvPr id="17" name="Text 12"/>
          <p:cNvSpPr txBox="1"/>
          <p:nvPr/>
        </p:nvSpPr>
        <p:spPr>
          <a:xfrm>
            <a:off x="4023360" y="1389888"/>
            <a:ext cx="274320" cy="228600"/>
          </a:xfrm>
          <a:prstGeom prst="rect">
            <a:avLst/>
          </a:prstGeom>
          <a:noFill/>
          <a:ln/>
        </p:spPr>
        <p:txBody>
          <a:bodyPr wrap="square" lIns="0" tIns="0" rIns="0" bIns="0" rtlCol="0" anchor="t"/>
          <a:lstStyle/>
          <a:p>
            <a:pPr algn="r" indent="0" marL="0">
              <a:buNone/>
            </a:pPr>
            <a:r>
              <a:rPr lang="en-US" sz="1100" b="1" dirty="0">
                <a:solidFill>
                  <a:srgbClr val="6B7280"/>
                </a:solidFill>
                <a:latin typeface="Calibri" pitchFamily="34" charset="0"/>
                <a:ea typeface="Calibri" pitchFamily="34" charset="-122"/>
                <a:cs typeface="Calibri" pitchFamily="34" charset="-120"/>
              </a:rPr>
              <a:t>2</a:t>
            </a:r>
            <a:endParaRPr lang="en-US" sz="1100" dirty="0"/>
          </a:p>
        </p:txBody>
      </p:sp>
      <p:sp>
        <p:nvSpPr>
          <p:cNvPr id="18" name="Text 13"/>
          <p:cNvSpPr txBox="1"/>
          <p:nvPr/>
        </p:nvSpPr>
        <p:spPr>
          <a:xfrm>
            <a:off x="2743200" y="1938528"/>
            <a:ext cx="1554480" cy="256032"/>
          </a:xfrm>
          <a:prstGeom prst="rect">
            <a:avLst/>
          </a:prstGeom>
          <a:noFill/>
          <a:ln/>
        </p:spPr>
        <p:txBody>
          <a:bodyPr wrap="square" lIns="0" tIns="0" rIns="0" bIns="0" rtlCol="0" anchor="t"/>
          <a:lstStyle/>
          <a:p>
            <a:pPr indent="0" marL="0">
              <a:buNone/>
            </a:pPr>
            <a:r>
              <a:rPr lang="en-US" sz="1350" b="1" dirty="0">
                <a:solidFill>
                  <a:srgbClr val="14213D"/>
                </a:solidFill>
                <a:latin typeface="Cambria" pitchFamily="34" charset="0"/>
                <a:ea typeface="Cambria" pitchFamily="34" charset="-122"/>
                <a:cs typeface="Cambria" pitchFamily="34" charset="-120"/>
              </a:rPr>
              <a:t>Clean data</a:t>
            </a:r>
            <a:endParaRPr lang="en-US" sz="1350" dirty="0"/>
          </a:p>
        </p:txBody>
      </p:sp>
      <p:sp>
        <p:nvSpPr>
          <p:cNvPr id="19" name="Text 14"/>
          <p:cNvSpPr txBox="1"/>
          <p:nvPr/>
        </p:nvSpPr>
        <p:spPr>
          <a:xfrm>
            <a:off x="2743200" y="2194560"/>
            <a:ext cx="1554480" cy="36576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reference ranges; drop names and id</a:t>
            </a:r>
            <a:endParaRPr lang="en-US" sz="1050" dirty="0"/>
          </a:p>
        </p:txBody>
      </p:sp>
      <p:sp>
        <p:nvSpPr>
          <p:cNvPr id="20" name="Shape 15"/>
          <p:cNvSpPr/>
          <p:nvPr/>
        </p:nvSpPr>
        <p:spPr>
          <a:xfrm>
            <a:off x="4389120" y="1920240"/>
            <a:ext cx="365760" cy="0"/>
          </a:xfrm>
          <a:prstGeom prst="line">
            <a:avLst/>
          </a:prstGeom>
          <a:noFill/>
          <a:ln w="19050">
            <a:solidFill>
              <a:srgbClr val="6B7280"/>
            </a:solidFill>
            <a:prstDash val="solid"/>
            <a:tailEnd type="triangle"/>
          </a:ln>
        </p:spPr>
      </p:sp>
      <p:sp>
        <p:nvSpPr>
          <p:cNvPr id="21" name="Shape 16"/>
          <p:cNvSpPr/>
          <p:nvPr/>
        </p:nvSpPr>
        <p:spPr>
          <a:xfrm>
            <a:off x="4754880" y="1280160"/>
            <a:ext cx="1783080" cy="1280160"/>
          </a:xfrm>
          <a:prstGeom prst="roundRect">
            <a:avLst>
              <a:gd name="adj" fmla="val 5714"/>
            </a:avLst>
          </a:prstGeom>
          <a:solidFill>
            <a:srgbClr val="F3F5F9"/>
          </a:solidFill>
          <a:ln w="12700">
            <a:solidFill>
              <a:srgbClr val="F3F5F9"/>
            </a:solidFill>
            <a:prstDash val="solid"/>
          </a:ln>
        </p:spPr>
      </p:sp>
      <p:sp>
        <p:nvSpPr>
          <p:cNvPr id="22" name="Shape 17"/>
          <p:cNvSpPr/>
          <p:nvPr/>
        </p:nvSpPr>
        <p:spPr>
          <a:xfrm>
            <a:off x="4754880" y="1280160"/>
            <a:ext cx="1783080" cy="1280160"/>
          </a:xfrm>
          <a:prstGeom prst="roundRect">
            <a:avLst>
              <a:gd name="adj" fmla="val 5714"/>
            </a:avLst>
          </a:prstGeom>
          <a:solidFill>
            <a:srgbClr val="F3F5F9"/>
          </a:solidFill>
          <a:ln w="9525">
            <a:solidFill>
              <a:srgbClr val="DCE3EE"/>
            </a:solidFill>
            <a:prstDash val="solid"/>
          </a:ln>
        </p:spPr>
      </p:sp>
      <p:sp>
        <p:nvSpPr>
          <p:cNvPr id="23" name="Shape 18"/>
          <p:cNvSpPr/>
          <p:nvPr/>
        </p:nvSpPr>
        <p:spPr>
          <a:xfrm>
            <a:off x="4892040" y="1417320"/>
            <a:ext cx="457200" cy="457200"/>
          </a:xfrm>
          <a:prstGeom prst="ellipse">
            <a:avLst/>
          </a:prstGeom>
          <a:solidFill>
            <a:srgbClr val="1F8A8A"/>
          </a:solidFill>
          <a:ln w="12700">
            <a:solidFill>
              <a:srgbClr val="1F8A8A"/>
            </a:solidFill>
            <a:prstDash val="solid"/>
          </a:ln>
        </p:spPr>
      </p:sp>
      <p:pic>
        <p:nvPicPr>
          <p:cNvPr id="24" name="Image 2" descr="preencoded.png">    </p:cNvPr>
          <p:cNvPicPr>
            <a:picLocks noChangeAspect="1"/>
          </p:cNvPicPr>
          <p:nvPr/>
        </p:nvPicPr>
        <p:blipFill>
          <a:blip r:embed="rId3"/>
          <a:stretch>
            <a:fillRect/>
          </a:stretch>
        </p:blipFill>
        <p:spPr>
          <a:xfrm>
            <a:off x="5010912" y="1536192"/>
            <a:ext cx="219456" cy="219456"/>
          </a:xfrm>
          <a:prstGeom prst="rect">
            <a:avLst/>
          </a:prstGeom>
        </p:spPr>
      </p:pic>
      <p:sp>
        <p:nvSpPr>
          <p:cNvPr id="25" name="Text 19"/>
          <p:cNvSpPr txBox="1"/>
          <p:nvPr/>
        </p:nvSpPr>
        <p:spPr>
          <a:xfrm>
            <a:off x="6172200" y="1389888"/>
            <a:ext cx="274320" cy="228600"/>
          </a:xfrm>
          <a:prstGeom prst="rect">
            <a:avLst/>
          </a:prstGeom>
          <a:noFill/>
          <a:ln/>
        </p:spPr>
        <p:txBody>
          <a:bodyPr wrap="square" lIns="0" tIns="0" rIns="0" bIns="0" rtlCol="0" anchor="t"/>
          <a:lstStyle/>
          <a:p>
            <a:pPr algn="r" indent="0" marL="0">
              <a:buNone/>
            </a:pPr>
            <a:r>
              <a:rPr lang="en-US" sz="1100" b="1" dirty="0">
                <a:solidFill>
                  <a:srgbClr val="6B7280"/>
                </a:solidFill>
                <a:latin typeface="Calibri" pitchFamily="34" charset="0"/>
                <a:ea typeface="Calibri" pitchFamily="34" charset="-122"/>
                <a:cs typeface="Calibri" pitchFamily="34" charset="-120"/>
              </a:rPr>
              <a:t>3</a:t>
            </a:r>
            <a:endParaRPr lang="en-US" sz="1100" dirty="0"/>
          </a:p>
        </p:txBody>
      </p:sp>
      <p:sp>
        <p:nvSpPr>
          <p:cNvPr id="26" name="Text 20"/>
          <p:cNvSpPr txBox="1"/>
          <p:nvPr/>
        </p:nvSpPr>
        <p:spPr>
          <a:xfrm>
            <a:off x="4892040" y="1938528"/>
            <a:ext cx="1554480" cy="256032"/>
          </a:xfrm>
          <a:prstGeom prst="rect">
            <a:avLst/>
          </a:prstGeom>
          <a:noFill/>
          <a:ln/>
        </p:spPr>
        <p:txBody>
          <a:bodyPr wrap="square" lIns="0" tIns="0" rIns="0" bIns="0" rtlCol="0" anchor="t"/>
          <a:lstStyle/>
          <a:p>
            <a:pPr indent="0" marL="0">
              <a:buNone/>
            </a:pPr>
            <a:r>
              <a:rPr lang="en-US" sz="1350" b="1" dirty="0">
                <a:solidFill>
                  <a:srgbClr val="14213D"/>
                </a:solidFill>
                <a:latin typeface="Cambria" pitchFamily="34" charset="0"/>
                <a:ea typeface="Cambria" pitchFamily="34" charset="-122"/>
                <a:cs typeface="Cambria" pitchFamily="34" charset="-120"/>
              </a:rPr>
              <a:t>Split once</a:t>
            </a:r>
            <a:endParaRPr lang="en-US" sz="1350" dirty="0"/>
          </a:p>
        </p:txBody>
      </p:sp>
      <p:sp>
        <p:nvSpPr>
          <p:cNvPr id="27" name="Text 21"/>
          <p:cNvSpPr txBox="1"/>
          <p:nvPr/>
        </p:nvSpPr>
        <p:spPr>
          <a:xfrm>
            <a:off x="4892040" y="2194560"/>
            <a:ext cx="1554480" cy="36576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80% train (17,284), 20% test (4,322)</a:t>
            </a:r>
            <a:endParaRPr lang="en-US" sz="1050" dirty="0"/>
          </a:p>
        </p:txBody>
      </p:sp>
      <p:sp>
        <p:nvSpPr>
          <p:cNvPr id="28" name="Shape 22"/>
          <p:cNvSpPr/>
          <p:nvPr/>
        </p:nvSpPr>
        <p:spPr>
          <a:xfrm>
            <a:off x="6537960" y="1920240"/>
            <a:ext cx="365760" cy="0"/>
          </a:xfrm>
          <a:prstGeom prst="line">
            <a:avLst/>
          </a:prstGeom>
          <a:noFill/>
          <a:ln w="19050">
            <a:solidFill>
              <a:srgbClr val="6B7280"/>
            </a:solidFill>
            <a:prstDash val="solid"/>
            <a:tailEnd type="triangle"/>
          </a:ln>
        </p:spPr>
      </p:sp>
      <p:sp>
        <p:nvSpPr>
          <p:cNvPr id="29" name="Shape 23"/>
          <p:cNvSpPr/>
          <p:nvPr/>
        </p:nvSpPr>
        <p:spPr>
          <a:xfrm>
            <a:off x="6903720" y="1280160"/>
            <a:ext cx="1783080" cy="1280160"/>
          </a:xfrm>
          <a:prstGeom prst="roundRect">
            <a:avLst>
              <a:gd name="adj" fmla="val 5714"/>
            </a:avLst>
          </a:prstGeom>
          <a:solidFill>
            <a:srgbClr val="F3F5F9"/>
          </a:solidFill>
          <a:ln w="12700">
            <a:solidFill>
              <a:srgbClr val="F3F5F9"/>
            </a:solidFill>
            <a:prstDash val="solid"/>
          </a:ln>
        </p:spPr>
      </p:sp>
      <p:sp>
        <p:nvSpPr>
          <p:cNvPr id="30" name="Shape 24"/>
          <p:cNvSpPr/>
          <p:nvPr/>
        </p:nvSpPr>
        <p:spPr>
          <a:xfrm>
            <a:off x="6903720" y="1280160"/>
            <a:ext cx="1783080" cy="1280160"/>
          </a:xfrm>
          <a:prstGeom prst="roundRect">
            <a:avLst>
              <a:gd name="adj" fmla="val 5714"/>
            </a:avLst>
          </a:prstGeom>
          <a:solidFill>
            <a:srgbClr val="F3F5F9"/>
          </a:solidFill>
          <a:ln w="9525">
            <a:solidFill>
              <a:srgbClr val="DCE3EE"/>
            </a:solidFill>
            <a:prstDash val="solid"/>
          </a:ln>
        </p:spPr>
      </p:sp>
      <p:sp>
        <p:nvSpPr>
          <p:cNvPr id="31" name="Shape 25"/>
          <p:cNvSpPr/>
          <p:nvPr/>
        </p:nvSpPr>
        <p:spPr>
          <a:xfrm>
            <a:off x="7040880" y="1417320"/>
            <a:ext cx="457200" cy="457200"/>
          </a:xfrm>
          <a:prstGeom prst="ellipse">
            <a:avLst/>
          </a:prstGeom>
          <a:solidFill>
            <a:srgbClr val="1F8A8A"/>
          </a:solidFill>
          <a:ln w="12700">
            <a:solidFill>
              <a:srgbClr val="1F8A8A"/>
            </a:solidFill>
            <a:prstDash val="solid"/>
          </a:ln>
        </p:spPr>
      </p:sp>
      <p:pic>
        <p:nvPicPr>
          <p:cNvPr id="32" name="Image 3" descr="preencoded.png">    </p:cNvPr>
          <p:cNvPicPr>
            <a:picLocks noChangeAspect="1"/>
          </p:cNvPicPr>
          <p:nvPr/>
        </p:nvPicPr>
        <p:blipFill>
          <a:blip r:embed="rId4"/>
          <a:stretch>
            <a:fillRect/>
          </a:stretch>
        </p:blipFill>
        <p:spPr>
          <a:xfrm>
            <a:off x="7159752" y="1536192"/>
            <a:ext cx="219456" cy="219456"/>
          </a:xfrm>
          <a:prstGeom prst="rect">
            <a:avLst/>
          </a:prstGeom>
        </p:spPr>
      </p:pic>
      <p:sp>
        <p:nvSpPr>
          <p:cNvPr id="33" name="Text 26"/>
          <p:cNvSpPr txBox="1"/>
          <p:nvPr/>
        </p:nvSpPr>
        <p:spPr>
          <a:xfrm>
            <a:off x="8321040" y="1389888"/>
            <a:ext cx="274320" cy="228600"/>
          </a:xfrm>
          <a:prstGeom prst="rect">
            <a:avLst/>
          </a:prstGeom>
          <a:noFill/>
          <a:ln/>
        </p:spPr>
        <p:txBody>
          <a:bodyPr wrap="square" lIns="0" tIns="0" rIns="0" bIns="0" rtlCol="0" anchor="t"/>
          <a:lstStyle/>
          <a:p>
            <a:pPr algn="r" indent="0" marL="0">
              <a:buNone/>
            </a:pPr>
            <a:r>
              <a:rPr lang="en-US" sz="1100" b="1" dirty="0">
                <a:solidFill>
                  <a:srgbClr val="6B7280"/>
                </a:solidFill>
                <a:latin typeface="Calibri" pitchFamily="34" charset="0"/>
                <a:ea typeface="Calibri" pitchFamily="34" charset="-122"/>
                <a:cs typeface="Calibri" pitchFamily="34" charset="-120"/>
              </a:rPr>
              <a:t>4</a:t>
            </a:r>
            <a:endParaRPr lang="en-US" sz="1100" dirty="0"/>
          </a:p>
        </p:txBody>
      </p:sp>
      <p:sp>
        <p:nvSpPr>
          <p:cNvPr id="34" name="Text 27"/>
          <p:cNvSpPr txBox="1"/>
          <p:nvPr/>
        </p:nvSpPr>
        <p:spPr>
          <a:xfrm>
            <a:off x="7040880" y="1938528"/>
            <a:ext cx="1554480" cy="256032"/>
          </a:xfrm>
          <a:prstGeom prst="rect">
            <a:avLst/>
          </a:prstGeom>
          <a:noFill/>
          <a:ln/>
        </p:spPr>
        <p:txBody>
          <a:bodyPr wrap="square" lIns="0" tIns="0" rIns="0" bIns="0" rtlCol="0" anchor="t"/>
          <a:lstStyle/>
          <a:p>
            <a:pPr indent="0" marL="0">
              <a:buNone/>
            </a:pPr>
            <a:r>
              <a:rPr lang="en-US" sz="1350" b="1" dirty="0">
                <a:solidFill>
                  <a:srgbClr val="14213D"/>
                </a:solidFill>
                <a:latin typeface="Cambria" pitchFamily="34" charset="0"/>
                <a:ea typeface="Cambria" pitchFamily="34" charset="-122"/>
                <a:cs typeface="Cambria" pitchFamily="34" charset="-120"/>
              </a:rPr>
              <a:t>Three sizes</a:t>
            </a:r>
            <a:endParaRPr lang="en-US" sz="1350" dirty="0"/>
          </a:p>
        </p:txBody>
      </p:sp>
      <p:sp>
        <p:nvSpPr>
          <p:cNvPr id="35" name="Text 28"/>
          <p:cNvSpPr txBox="1"/>
          <p:nvPr/>
        </p:nvSpPr>
        <p:spPr>
          <a:xfrm>
            <a:off x="7040880" y="2194560"/>
            <a:ext cx="1554480" cy="36576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500 · 2,000 · Full training rows</a:t>
            </a:r>
            <a:endParaRPr lang="en-US" sz="1050" dirty="0"/>
          </a:p>
        </p:txBody>
      </p:sp>
      <p:sp>
        <p:nvSpPr>
          <p:cNvPr id="36" name="Shape 29"/>
          <p:cNvSpPr/>
          <p:nvPr/>
        </p:nvSpPr>
        <p:spPr>
          <a:xfrm>
            <a:off x="457200" y="2971800"/>
            <a:ext cx="1783080" cy="1280160"/>
          </a:xfrm>
          <a:prstGeom prst="roundRect">
            <a:avLst>
              <a:gd name="adj" fmla="val 5714"/>
            </a:avLst>
          </a:prstGeom>
          <a:solidFill>
            <a:srgbClr val="F3F5F9"/>
          </a:solidFill>
          <a:ln w="12700">
            <a:solidFill>
              <a:srgbClr val="F3F5F9"/>
            </a:solidFill>
            <a:prstDash val="solid"/>
          </a:ln>
        </p:spPr>
      </p:sp>
      <p:sp>
        <p:nvSpPr>
          <p:cNvPr id="37" name="Shape 30"/>
          <p:cNvSpPr/>
          <p:nvPr/>
        </p:nvSpPr>
        <p:spPr>
          <a:xfrm>
            <a:off x="457200" y="2971800"/>
            <a:ext cx="1783080" cy="1280160"/>
          </a:xfrm>
          <a:prstGeom prst="roundRect">
            <a:avLst>
              <a:gd name="adj" fmla="val 5714"/>
            </a:avLst>
          </a:prstGeom>
          <a:solidFill>
            <a:srgbClr val="F3F5F9"/>
          </a:solidFill>
          <a:ln w="9525">
            <a:solidFill>
              <a:srgbClr val="DCE3EE"/>
            </a:solidFill>
            <a:prstDash val="solid"/>
          </a:ln>
        </p:spPr>
      </p:sp>
      <p:sp>
        <p:nvSpPr>
          <p:cNvPr id="38" name="Shape 31"/>
          <p:cNvSpPr/>
          <p:nvPr/>
        </p:nvSpPr>
        <p:spPr>
          <a:xfrm>
            <a:off x="594360" y="3108960"/>
            <a:ext cx="457200" cy="457200"/>
          </a:xfrm>
          <a:prstGeom prst="ellipse">
            <a:avLst/>
          </a:prstGeom>
          <a:solidFill>
            <a:srgbClr val="14213D"/>
          </a:solidFill>
          <a:ln w="12700">
            <a:solidFill>
              <a:srgbClr val="14213D"/>
            </a:solidFill>
            <a:prstDash val="solid"/>
          </a:ln>
        </p:spPr>
      </p:sp>
      <p:pic>
        <p:nvPicPr>
          <p:cNvPr id="39" name="Image 4" descr="preencoded.png">    </p:cNvPr>
          <p:cNvPicPr>
            <a:picLocks noChangeAspect="1"/>
          </p:cNvPicPr>
          <p:nvPr/>
        </p:nvPicPr>
        <p:blipFill>
          <a:blip r:embed="rId5"/>
          <a:stretch>
            <a:fillRect/>
          </a:stretch>
        </p:blipFill>
        <p:spPr>
          <a:xfrm>
            <a:off x="713232" y="3227832"/>
            <a:ext cx="219456" cy="219456"/>
          </a:xfrm>
          <a:prstGeom prst="rect">
            <a:avLst/>
          </a:prstGeom>
        </p:spPr>
      </p:pic>
      <p:sp>
        <p:nvSpPr>
          <p:cNvPr id="40" name="Text 32"/>
          <p:cNvSpPr txBox="1"/>
          <p:nvPr/>
        </p:nvSpPr>
        <p:spPr>
          <a:xfrm>
            <a:off x="1874520" y="3081528"/>
            <a:ext cx="274320" cy="228600"/>
          </a:xfrm>
          <a:prstGeom prst="rect">
            <a:avLst/>
          </a:prstGeom>
          <a:noFill/>
          <a:ln/>
        </p:spPr>
        <p:txBody>
          <a:bodyPr wrap="square" lIns="0" tIns="0" rIns="0" bIns="0" rtlCol="0" anchor="t"/>
          <a:lstStyle/>
          <a:p>
            <a:pPr algn="r" indent="0" marL="0">
              <a:buNone/>
            </a:pPr>
            <a:r>
              <a:rPr lang="en-US" sz="1100" b="1" dirty="0">
                <a:solidFill>
                  <a:srgbClr val="6B7280"/>
                </a:solidFill>
                <a:latin typeface="Calibri" pitchFamily="34" charset="0"/>
                <a:ea typeface="Calibri" pitchFamily="34" charset="-122"/>
                <a:cs typeface="Calibri" pitchFamily="34" charset="-120"/>
              </a:rPr>
              <a:t>5</a:t>
            </a:r>
            <a:endParaRPr lang="en-US" sz="1100" dirty="0"/>
          </a:p>
        </p:txBody>
      </p:sp>
      <p:sp>
        <p:nvSpPr>
          <p:cNvPr id="41" name="Text 33"/>
          <p:cNvSpPr txBox="1"/>
          <p:nvPr/>
        </p:nvSpPr>
        <p:spPr>
          <a:xfrm>
            <a:off x="594360" y="3630168"/>
            <a:ext cx="1554480" cy="256032"/>
          </a:xfrm>
          <a:prstGeom prst="rect">
            <a:avLst/>
          </a:prstGeom>
          <a:noFill/>
          <a:ln/>
        </p:spPr>
        <p:txBody>
          <a:bodyPr wrap="square" lIns="0" tIns="0" rIns="0" bIns="0" rtlCol="0" anchor="t"/>
          <a:lstStyle/>
          <a:p>
            <a:pPr indent="0" marL="0">
              <a:buNone/>
            </a:pPr>
            <a:r>
              <a:rPr lang="en-US" sz="1350" b="1" dirty="0">
                <a:solidFill>
                  <a:srgbClr val="14213D"/>
                </a:solidFill>
                <a:latin typeface="Cambria" pitchFamily="34" charset="0"/>
                <a:ea typeface="Cambria" pitchFamily="34" charset="-122"/>
                <a:cs typeface="Cambria" pitchFamily="34" charset="-120"/>
              </a:rPr>
              <a:t>Three models</a:t>
            </a:r>
            <a:endParaRPr lang="en-US" sz="1350" dirty="0"/>
          </a:p>
        </p:txBody>
      </p:sp>
      <p:sp>
        <p:nvSpPr>
          <p:cNvPr id="42" name="Text 34"/>
          <p:cNvSpPr txBox="1"/>
          <p:nvPr/>
        </p:nvSpPr>
        <p:spPr>
          <a:xfrm>
            <a:off x="594360" y="3886200"/>
            <a:ext cx="1554480" cy="36576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CatBoost, TabPFN, TabFM</a:t>
            </a:r>
            <a:endParaRPr lang="en-US" sz="1050" dirty="0"/>
          </a:p>
        </p:txBody>
      </p:sp>
      <p:sp>
        <p:nvSpPr>
          <p:cNvPr id="43" name="Shape 35"/>
          <p:cNvSpPr/>
          <p:nvPr/>
        </p:nvSpPr>
        <p:spPr>
          <a:xfrm>
            <a:off x="2240280" y="3611880"/>
            <a:ext cx="365760" cy="0"/>
          </a:xfrm>
          <a:prstGeom prst="line">
            <a:avLst/>
          </a:prstGeom>
          <a:noFill/>
          <a:ln w="19050">
            <a:solidFill>
              <a:srgbClr val="6B7280"/>
            </a:solidFill>
            <a:prstDash val="solid"/>
            <a:tailEnd type="triangle"/>
          </a:ln>
        </p:spPr>
      </p:sp>
      <p:sp>
        <p:nvSpPr>
          <p:cNvPr id="44" name="Shape 36"/>
          <p:cNvSpPr/>
          <p:nvPr/>
        </p:nvSpPr>
        <p:spPr>
          <a:xfrm>
            <a:off x="2606040" y="2971800"/>
            <a:ext cx="1783080" cy="1280160"/>
          </a:xfrm>
          <a:prstGeom prst="roundRect">
            <a:avLst>
              <a:gd name="adj" fmla="val 5714"/>
            </a:avLst>
          </a:prstGeom>
          <a:solidFill>
            <a:srgbClr val="F3F5F9"/>
          </a:solidFill>
          <a:ln w="12700">
            <a:solidFill>
              <a:srgbClr val="F3F5F9"/>
            </a:solidFill>
            <a:prstDash val="solid"/>
          </a:ln>
        </p:spPr>
      </p:sp>
      <p:sp>
        <p:nvSpPr>
          <p:cNvPr id="45" name="Shape 37"/>
          <p:cNvSpPr/>
          <p:nvPr/>
        </p:nvSpPr>
        <p:spPr>
          <a:xfrm>
            <a:off x="2606040" y="2971800"/>
            <a:ext cx="1783080" cy="1280160"/>
          </a:xfrm>
          <a:prstGeom prst="roundRect">
            <a:avLst>
              <a:gd name="adj" fmla="val 5714"/>
            </a:avLst>
          </a:prstGeom>
          <a:solidFill>
            <a:srgbClr val="F3F5F9"/>
          </a:solidFill>
          <a:ln w="9525">
            <a:solidFill>
              <a:srgbClr val="DCE3EE"/>
            </a:solidFill>
            <a:prstDash val="solid"/>
          </a:ln>
        </p:spPr>
      </p:sp>
      <p:sp>
        <p:nvSpPr>
          <p:cNvPr id="46" name="Shape 38"/>
          <p:cNvSpPr/>
          <p:nvPr/>
        </p:nvSpPr>
        <p:spPr>
          <a:xfrm>
            <a:off x="2743200" y="3108960"/>
            <a:ext cx="457200" cy="457200"/>
          </a:xfrm>
          <a:prstGeom prst="ellipse">
            <a:avLst/>
          </a:prstGeom>
          <a:solidFill>
            <a:srgbClr val="14213D"/>
          </a:solidFill>
          <a:ln w="12700">
            <a:solidFill>
              <a:srgbClr val="14213D"/>
            </a:solidFill>
            <a:prstDash val="solid"/>
          </a:ln>
        </p:spPr>
      </p:sp>
      <p:pic>
        <p:nvPicPr>
          <p:cNvPr id="47" name="Image 5" descr="preencoded.png">    </p:cNvPr>
          <p:cNvPicPr>
            <a:picLocks noChangeAspect="1"/>
          </p:cNvPicPr>
          <p:nvPr/>
        </p:nvPicPr>
        <p:blipFill>
          <a:blip r:embed="rId6"/>
          <a:stretch>
            <a:fillRect/>
          </a:stretch>
        </p:blipFill>
        <p:spPr>
          <a:xfrm>
            <a:off x="2862072" y="3227832"/>
            <a:ext cx="219456" cy="219456"/>
          </a:xfrm>
          <a:prstGeom prst="rect">
            <a:avLst/>
          </a:prstGeom>
        </p:spPr>
      </p:pic>
      <p:sp>
        <p:nvSpPr>
          <p:cNvPr id="48" name="Text 39"/>
          <p:cNvSpPr txBox="1"/>
          <p:nvPr/>
        </p:nvSpPr>
        <p:spPr>
          <a:xfrm>
            <a:off x="4023360" y="3081528"/>
            <a:ext cx="274320" cy="228600"/>
          </a:xfrm>
          <a:prstGeom prst="rect">
            <a:avLst/>
          </a:prstGeom>
          <a:noFill/>
          <a:ln/>
        </p:spPr>
        <p:txBody>
          <a:bodyPr wrap="square" lIns="0" tIns="0" rIns="0" bIns="0" rtlCol="0" anchor="t"/>
          <a:lstStyle/>
          <a:p>
            <a:pPr algn="r" indent="0" marL="0">
              <a:buNone/>
            </a:pPr>
            <a:r>
              <a:rPr lang="en-US" sz="1100" b="1" dirty="0">
                <a:solidFill>
                  <a:srgbClr val="6B7280"/>
                </a:solidFill>
                <a:latin typeface="Calibri" pitchFamily="34" charset="0"/>
                <a:ea typeface="Calibri" pitchFamily="34" charset="-122"/>
                <a:cs typeface="Calibri" pitchFamily="34" charset="-120"/>
              </a:rPr>
              <a:t>6</a:t>
            </a:r>
            <a:endParaRPr lang="en-US" sz="1100" dirty="0"/>
          </a:p>
        </p:txBody>
      </p:sp>
      <p:sp>
        <p:nvSpPr>
          <p:cNvPr id="49" name="Text 40"/>
          <p:cNvSpPr txBox="1"/>
          <p:nvPr/>
        </p:nvSpPr>
        <p:spPr>
          <a:xfrm>
            <a:off x="2743200" y="3630168"/>
            <a:ext cx="1554480" cy="256032"/>
          </a:xfrm>
          <a:prstGeom prst="rect">
            <a:avLst/>
          </a:prstGeom>
          <a:noFill/>
          <a:ln/>
        </p:spPr>
        <p:txBody>
          <a:bodyPr wrap="square" lIns="0" tIns="0" rIns="0" bIns="0" rtlCol="0" anchor="t"/>
          <a:lstStyle/>
          <a:p>
            <a:pPr indent="0" marL="0">
              <a:buNone/>
            </a:pPr>
            <a:r>
              <a:rPr lang="en-US" sz="1350" b="1" dirty="0">
                <a:solidFill>
                  <a:srgbClr val="14213D"/>
                </a:solidFill>
                <a:latin typeface="Cambria" pitchFamily="34" charset="0"/>
                <a:ea typeface="Cambria" pitchFamily="34" charset="-122"/>
                <a:cs typeface="Cambria" pitchFamily="34" charset="-120"/>
              </a:rPr>
              <a:t>Same test set</a:t>
            </a:r>
            <a:endParaRPr lang="en-US" sz="1350" dirty="0"/>
          </a:p>
        </p:txBody>
      </p:sp>
      <p:sp>
        <p:nvSpPr>
          <p:cNvPr id="50" name="Text 41"/>
          <p:cNvSpPr txBox="1"/>
          <p:nvPr/>
        </p:nvSpPr>
        <p:spPr>
          <a:xfrm>
            <a:off x="2743200" y="3886200"/>
            <a:ext cx="1554480" cy="36576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accuracy, F1, AUC, kappa</a:t>
            </a:r>
            <a:endParaRPr lang="en-US" sz="1050" dirty="0"/>
          </a:p>
        </p:txBody>
      </p:sp>
      <p:sp>
        <p:nvSpPr>
          <p:cNvPr id="51" name="Shape 42"/>
          <p:cNvSpPr/>
          <p:nvPr/>
        </p:nvSpPr>
        <p:spPr>
          <a:xfrm>
            <a:off x="4389120" y="3611880"/>
            <a:ext cx="365760" cy="0"/>
          </a:xfrm>
          <a:prstGeom prst="line">
            <a:avLst/>
          </a:prstGeom>
          <a:noFill/>
          <a:ln w="19050">
            <a:solidFill>
              <a:srgbClr val="6B7280"/>
            </a:solidFill>
            <a:prstDash val="solid"/>
            <a:tailEnd type="triangle"/>
          </a:ln>
        </p:spPr>
      </p:sp>
      <p:sp>
        <p:nvSpPr>
          <p:cNvPr id="52" name="Shape 43"/>
          <p:cNvSpPr/>
          <p:nvPr/>
        </p:nvSpPr>
        <p:spPr>
          <a:xfrm>
            <a:off x="4754880" y="2971800"/>
            <a:ext cx="1783080" cy="1280160"/>
          </a:xfrm>
          <a:prstGeom prst="roundRect">
            <a:avLst>
              <a:gd name="adj" fmla="val 5714"/>
            </a:avLst>
          </a:prstGeom>
          <a:solidFill>
            <a:srgbClr val="F3F5F9"/>
          </a:solidFill>
          <a:ln w="12700">
            <a:solidFill>
              <a:srgbClr val="F3F5F9"/>
            </a:solidFill>
            <a:prstDash val="solid"/>
          </a:ln>
        </p:spPr>
      </p:sp>
      <p:sp>
        <p:nvSpPr>
          <p:cNvPr id="53" name="Shape 44"/>
          <p:cNvSpPr/>
          <p:nvPr/>
        </p:nvSpPr>
        <p:spPr>
          <a:xfrm>
            <a:off x="4754880" y="2971800"/>
            <a:ext cx="1783080" cy="1280160"/>
          </a:xfrm>
          <a:prstGeom prst="roundRect">
            <a:avLst>
              <a:gd name="adj" fmla="val 5714"/>
            </a:avLst>
          </a:prstGeom>
          <a:solidFill>
            <a:srgbClr val="F3F5F9"/>
          </a:solidFill>
          <a:ln w="9525">
            <a:solidFill>
              <a:srgbClr val="DCE3EE"/>
            </a:solidFill>
            <a:prstDash val="solid"/>
          </a:ln>
        </p:spPr>
      </p:sp>
      <p:sp>
        <p:nvSpPr>
          <p:cNvPr id="54" name="Shape 45"/>
          <p:cNvSpPr/>
          <p:nvPr/>
        </p:nvSpPr>
        <p:spPr>
          <a:xfrm>
            <a:off x="4892040" y="3108960"/>
            <a:ext cx="457200" cy="457200"/>
          </a:xfrm>
          <a:prstGeom prst="ellipse">
            <a:avLst/>
          </a:prstGeom>
          <a:solidFill>
            <a:srgbClr val="14213D"/>
          </a:solidFill>
          <a:ln w="12700">
            <a:solidFill>
              <a:srgbClr val="14213D"/>
            </a:solidFill>
            <a:prstDash val="solid"/>
          </a:ln>
        </p:spPr>
      </p:sp>
      <p:pic>
        <p:nvPicPr>
          <p:cNvPr id="55" name="Image 6" descr="preencoded.png">    </p:cNvPr>
          <p:cNvPicPr>
            <a:picLocks noChangeAspect="1"/>
          </p:cNvPicPr>
          <p:nvPr/>
        </p:nvPicPr>
        <p:blipFill>
          <a:blip r:embed="rId7"/>
          <a:stretch>
            <a:fillRect/>
          </a:stretch>
        </p:blipFill>
        <p:spPr>
          <a:xfrm>
            <a:off x="5010912" y="3227832"/>
            <a:ext cx="219456" cy="219456"/>
          </a:xfrm>
          <a:prstGeom prst="rect">
            <a:avLst/>
          </a:prstGeom>
        </p:spPr>
      </p:pic>
      <p:sp>
        <p:nvSpPr>
          <p:cNvPr id="56" name="Text 46"/>
          <p:cNvSpPr txBox="1"/>
          <p:nvPr/>
        </p:nvSpPr>
        <p:spPr>
          <a:xfrm>
            <a:off x="6172200" y="3081528"/>
            <a:ext cx="274320" cy="228600"/>
          </a:xfrm>
          <a:prstGeom prst="rect">
            <a:avLst/>
          </a:prstGeom>
          <a:noFill/>
          <a:ln/>
        </p:spPr>
        <p:txBody>
          <a:bodyPr wrap="square" lIns="0" tIns="0" rIns="0" bIns="0" rtlCol="0" anchor="t"/>
          <a:lstStyle/>
          <a:p>
            <a:pPr algn="r" indent="0" marL="0">
              <a:buNone/>
            </a:pPr>
            <a:r>
              <a:rPr lang="en-US" sz="1100" b="1" dirty="0">
                <a:solidFill>
                  <a:srgbClr val="6B7280"/>
                </a:solidFill>
                <a:latin typeface="Calibri" pitchFamily="34" charset="0"/>
                <a:ea typeface="Calibri" pitchFamily="34" charset="-122"/>
                <a:cs typeface="Calibri" pitchFamily="34" charset="-120"/>
              </a:rPr>
              <a:t>7</a:t>
            </a:r>
            <a:endParaRPr lang="en-US" sz="1100" dirty="0"/>
          </a:p>
        </p:txBody>
      </p:sp>
      <p:sp>
        <p:nvSpPr>
          <p:cNvPr id="57" name="Text 47"/>
          <p:cNvSpPr txBox="1"/>
          <p:nvPr/>
        </p:nvSpPr>
        <p:spPr>
          <a:xfrm>
            <a:off x="4892040" y="3630168"/>
            <a:ext cx="1554480" cy="256032"/>
          </a:xfrm>
          <a:prstGeom prst="rect">
            <a:avLst/>
          </a:prstGeom>
          <a:noFill/>
          <a:ln/>
        </p:spPr>
        <p:txBody>
          <a:bodyPr wrap="square" lIns="0" tIns="0" rIns="0" bIns="0" rtlCol="0" anchor="t"/>
          <a:lstStyle/>
          <a:p>
            <a:pPr indent="0" marL="0">
              <a:buNone/>
            </a:pPr>
            <a:r>
              <a:rPr lang="en-US" sz="1350" b="1" dirty="0">
                <a:solidFill>
                  <a:srgbClr val="14213D"/>
                </a:solidFill>
                <a:latin typeface="Cambria" pitchFamily="34" charset="0"/>
                <a:ea typeface="Cambria" pitchFamily="34" charset="-122"/>
                <a:cs typeface="Cambria" pitchFamily="34" charset="-120"/>
              </a:rPr>
              <a:t>Explain</a:t>
            </a:r>
            <a:endParaRPr lang="en-US" sz="1350" dirty="0"/>
          </a:p>
        </p:txBody>
      </p:sp>
      <p:sp>
        <p:nvSpPr>
          <p:cNvPr id="58" name="Text 48"/>
          <p:cNvSpPr txBox="1"/>
          <p:nvPr/>
        </p:nvSpPr>
        <p:spPr>
          <a:xfrm>
            <a:off x="4892040" y="3886200"/>
            <a:ext cx="1554480" cy="36576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SHAP for all nine runs</a:t>
            </a:r>
            <a:endParaRPr lang="en-US" sz="1050" dirty="0"/>
          </a:p>
        </p:txBody>
      </p:sp>
      <p:sp>
        <p:nvSpPr>
          <p:cNvPr id="59" name="Shape 49"/>
          <p:cNvSpPr/>
          <p:nvPr/>
        </p:nvSpPr>
        <p:spPr>
          <a:xfrm>
            <a:off x="6537960" y="3611880"/>
            <a:ext cx="365760" cy="0"/>
          </a:xfrm>
          <a:prstGeom prst="line">
            <a:avLst/>
          </a:prstGeom>
          <a:noFill/>
          <a:ln w="19050">
            <a:solidFill>
              <a:srgbClr val="6B7280"/>
            </a:solidFill>
            <a:prstDash val="solid"/>
            <a:tailEnd type="triangle"/>
          </a:ln>
        </p:spPr>
      </p:sp>
      <p:sp>
        <p:nvSpPr>
          <p:cNvPr id="60" name="Shape 50"/>
          <p:cNvSpPr/>
          <p:nvPr/>
        </p:nvSpPr>
        <p:spPr>
          <a:xfrm>
            <a:off x="6903720" y="2971800"/>
            <a:ext cx="1783080" cy="1280160"/>
          </a:xfrm>
          <a:prstGeom prst="roundRect">
            <a:avLst>
              <a:gd name="adj" fmla="val 5714"/>
            </a:avLst>
          </a:prstGeom>
          <a:solidFill>
            <a:srgbClr val="F3F5F9"/>
          </a:solidFill>
          <a:ln w="12700">
            <a:solidFill>
              <a:srgbClr val="F3F5F9"/>
            </a:solidFill>
            <a:prstDash val="solid"/>
          </a:ln>
        </p:spPr>
      </p:sp>
      <p:sp>
        <p:nvSpPr>
          <p:cNvPr id="61" name="Shape 51"/>
          <p:cNvSpPr/>
          <p:nvPr/>
        </p:nvSpPr>
        <p:spPr>
          <a:xfrm>
            <a:off x="6903720" y="2971800"/>
            <a:ext cx="1783080" cy="1280160"/>
          </a:xfrm>
          <a:prstGeom prst="roundRect">
            <a:avLst>
              <a:gd name="adj" fmla="val 5714"/>
            </a:avLst>
          </a:prstGeom>
          <a:solidFill>
            <a:srgbClr val="F3F5F9"/>
          </a:solidFill>
          <a:ln w="9525">
            <a:solidFill>
              <a:srgbClr val="DCE3EE"/>
            </a:solidFill>
            <a:prstDash val="solid"/>
          </a:ln>
        </p:spPr>
      </p:sp>
      <p:sp>
        <p:nvSpPr>
          <p:cNvPr id="62" name="Shape 52"/>
          <p:cNvSpPr/>
          <p:nvPr/>
        </p:nvSpPr>
        <p:spPr>
          <a:xfrm>
            <a:off x="7040880" y="3108960"/>
            <a:ext cx="457200" cy="457200"/>
          </a:xfrm>
          <a:prstGeom prst="ellipse">
            <a:avLst/>
          </a:prstGeom>
          <a:solidFill>
            <a:srgbClr val="14213D"/>
          </a:solidFill>
          <a:ln w="12700">
            <a:solidFill>
              <a:srgbClr val="14213D"/>
            </a:solidFill>
            <a:prstDash val="solid"/>
          </a:ln>
        </p:spPr>
      </p:sp>
      <p:pic>
        <p:nvPicPr>
          <p:cNvPr id="63" name="Image 7" descr="preencoded.png">    </p:cNvPr>
          <p:cNvPicPr>
            <a:picLocks noChangeAspect="1"/>
          </p:cNvPicPr>
          <p:nvPr/>
        </p:nvPicPr>
        <p:blipFill>
          <a:blip r:embed="rId8"/>
          <a:stretch>
            <a:fillRect/>
          </a:stretch>
        </p:blipFill>
        <p:spPr>
          <a:xfrm>
            <a:off x="7159752" y="3227832"/>
            <a:ext cx="219456" cy="219456"/>
          </a:xfrm>
          <a:prstGeom prst="rect">
            <a:avLst/>
          </a:prstGeom>
        </p:spPr>
      </p:pic>
      <p:sp>
        <p:nvSpPr>
          <p:cNvPr id="64" name="Text 53"/>
          <p:cNvSpPr txBox="1"/>
          <p:nvPr/>
        </p:nvSpPr>
        <p:spPr>
          <a:xfrm>
            <a:off x="8321040" y="3081528"/>
            <a:ext cx="274320" cy="228600"/>
          </a:xfrm>
          <a:prstGeom prst="rect">
            <a:avLst/>
          </a:prstGeom>
          <a:noFill/>
          <a:ln/>
        </p:spPr>
        <p:txBody>
          <a:bodyPr wrap="square" lIns="0" tIns="0" rIns="0" bIns="0" rtlCol="0" anchor="t"/>
          <a:lstStyle/>
          <a:p>
            <a:pPr algn="r" indent="0" marL="0">
              <a:buNone/>
            </a:pPr>
            <a:r>
              <a:rPr lang="en-US" sz="1100" b="1" dirty="0">
                <a:solidFill>
                  <a:srgbClr val="6B7280"/>
                </a:solidFill>
                <a:latin typeface="Calibri" pitchFamily="34" charset="0"/>
                <a:ea typeface="Calibri" pitchFamily="34" charset="-122"/>
                <a:cs typeface="Calibri" pitchFamily="34" charset="-120"/>
              </a:rPr>
              <a:t>8</a:t>
            </a:r>
            <a:endParaRPr lang="en-US" sz="1100" dirty="0"/>
          </a:p>
        </p:txBody>
      </p:sp>
      <p:sp>
        <p:nvSpPr>
          <p:cNvPr id="65" name="Text 54"/>
          <p:cNvSpPr txBox="1"/>
          <p:nvPr/>
        </p:nvSpPr>
        <p:spPr>
          <a:xfrm>
            <a:off x="7040880" y="3630168"/>
            <a:ext cx="1554480" cy="256032"/>
          </a:xfrm>
          <a:prstGeom prst="rect">
            <a:avLst/>
          </a:prstGeom>
          <a:noFill/>
          <a:ln/>
        </p:spPr>
        <p:txBody>
          <a:bodyPr wrap="square" lIns="0" tIns="0" rIns="0" bIns="0" rtlCol="0" anchor="t"/>
          <a:lstStyle/>
          <a:p>
            <a:pPr indent="0" marL="0">
              <a:buNone/>
            </a:pPr>
            <a:r>
              <a:rPr lang="en-US" sz="1350" b="1" dirty="0">
                <a:solidFill>
                  <a:srgbClr val="14213D"/>
                </a:solidFill>
                <a:latin typeface="Cambria" pitchFamily="34" charset="0"/>
                <a:ea typeface="Cambria" pitchFamily="34" charset="-122"/>
                <a:cs typeface="Cambria" pitchFamily="34" charset="-120"/>
              </a:rPr>
              <a:t>Compare</a:t>
            </a:r>
            <a:endParaRPr lang="en-US" sz="1350" dirty="0"/>
          </a:p>
        </p:txBody>
      </p:sp>
      <p:sp>
        <p:nvSpPr>
          <p:cNvPr id="66" name="Text 55"/>
          <p:cNvSpPr txBox="1"/>
          <p:nvPr/>
        </p:nvSpPr>
        <p:spPr>
          <a:xfrm>
            <a:off x="7040880" y="3886200"/>
            <a:ext cx="1554480" cy="36576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McNemar, run time, scaling</a:t>
            </a:r>
            <a:endParaRPr lang="en-US" sz="1050" dirty="0"/>
          </a:p>
        </p:txBody>
      </p:sp>
      <p:sp>
        <p:nvSpPr>
          <p:cNvPr id="67" name="Shape 56"/>
          <p:cNvSpPr/>
          <p:nvPr/>
        </p:nvSpPr>
        <p:spPr>
          <a:xfrm>
            <a:off x="7795260" y="2560320"/>
            <a:ext cx="0" cy="182880"/>
          </a:xfrm>
          <a:prstGeom prst="line">
            <a:avLst/>
          </a:prstGeom>
          <a:noFill/>
          <a:ln w="19050">
            <a:solidFill>
              <a:srgbClr val="6B7280"/>
            </a:solidFill>
            <a:prstDash val="solid"/>
          </a:ln>
        </p:spPr>
      </p:sp>
      <p:sp>
        <p:nvSpPr>
          <p:cNvPr id="68" name="Shape 57"/>
          <p:cNvSpPr/>
          <p:nvPr/>
        </p:nvSpPr>
        <p:spPr>
          <a:xfrm>
            <a:off x="1348740" y="2743200"/>
            <a:ext cx="6446520" cy="0"/>
          </a:xfrm>
          <a:prstGeom prst="line">
            <a:avLst/>
          </a:prstGeom>
          <a:noFill/>
          <a:ln w="19050">
            <a:solidFill>
              <a:srgbClr val="6B7280"/>
            </a:solidFill>
            <a:prstDash val="solid"/>
          </a:ln>
        </p:spPr>
      </p:sp>
      <p:sp>
        <p:nvSpPr>
          <p:cNvPr id="69" name="Shape 58"/>
          <p:cNvSpPr/>
          <p:nvPr/>
        </p:nvSpPr>
        <p:spPr>
          <a:xfrm>
            <a:off x="1348740" y="2743200"/>
            <a:ext cx="0" cy="228600"/>
          </a:xfrm>
          <a:prstGeom prst="line">
            <a:avLst/>
          </a:prstGeom>
          <a:noFill/>
          <a:ln w="19050">
            <a:solidFill>
              <a:srgbClr val="6B7280"/>
            </a:solidFill>
            <a:prstDash val="solid"/>
            <a:tailEnd type="triangle"/>
          </a:ln>
        </p:spPr>
      </p:sp>
      <p:sp>
        <p:nvSpPr>
          <p:cNvPr id="70" name="Text 59"/>
          <p:cNvSpPr txBox="1"/>
          <p:nvPr/>
        </p:nvSpPr>
        <p:spPr>
          <a:xfrm>
            <a:off x="457200" y="4526280"/>
            <a:ext cx="7680960" cy="22860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Each stage is one step in our own Hairfall Lab; the final runs were executed on a Kaggle Tesla T4 GPU.</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777240"/>
          </a:xfrm>
          <a:prstGeom prst="rect">
            <a:avLst/>
          </a:prstGeom>
          <a:noFill/>
          <a:ln/>
        </p:spPr>
        <p:txBody>
          <a:bodyPr wrap="square" lIns="0" tIns="0" rIns="0" bIns="0" rtlCol="0" anchor="t"/>
          <a:lstStyle/>
          <a:p>
            <a:pPr indent="0" marL="0">
              <a:buNone/>
            </a:pPr>
            <a:r>
              <a:rPr lang="en-US" sz="2500" b="1" dirty="0">
                <a:solidFill>
                  <a:srgbClr val="14213D"/>
                </a:solidFill>
                <a:latin typeface="Cambria" pitchFamily="34" charset="0"/>
                <a:ea typeface="Cambria" pitchFamily="34" charset="-122"/>
                <a:cs typeface="Cambria" pitchFamily="34" charset="-120"/>
              </a:rPr>
              <a:t>Six rules that keep the comparison fair</a:t>
            </a:r>
            <a:endParaRPr lang="en-US" sz="2500" dirty="0"/>
          </a:p>
        </p:txBody>
      </p:sp>
      <p:sp>
        <p:nvSpPr>
          <p:cNvPr id="3" name="Text 1"/>
          <p:cNvSpPr txBox="1"/>
          <p:nvPr/>
        </p:nvSpPr>
        <p:spPr>
          <a:xfrm>
            <a:off x="8229600" y="4773168"/>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
        <p:nvSpPr>
          <p:cNvPr id="5" name="Shape 2"/>
          <p:cNvSpPr/>
          <p:nvPr/>
        </p:nvSpPr>
        <p:spPr>
          <a:xfrm>
            <a:off x="457200" y="1280160"/>
            <a:ext cx="2606040" cy="1463040"/>
          </a:xfrm>
          <a:prstGeom prst="roundRect">
            <a:avLst>
              <a:gd name="adj" fmla="val 5000"/>
            </a:avLst>
          </a:prstGeom>
          <a:solidFill>
            <a:srgbClr val="F3F5F9"/>
          </a:solidFill>
          <a:ln w="12700">
            <a:solidFill>
              <a:srgbClr val="F3F5F9"/>
            </a:solidFill>
            <a:prstDash val="solid"/>
          </a:ln>
        </p:spPr>
      </p:sp>
      <p:sp>
        <p:nvSpPr>
          <p:cNvPr id="6" name="Shape 3"/>
          <p:cNvSpPr/>
          <p:nvPr/>
        </p:nvSpPr>
        <p:spPr>
          <a:xfrm>
            <a:off x="457200" y="1280160"/>
            <a:ext cx="2606040" cy="1463040"/>
          </a:xfrm>
          <a:prstGeom prst="roundRect">
            <a:avLst>
              <a:gd name="adj" fmla="val 5000"/>
            </a:avLst>
          </a:prstGeom>
          <a:solidFill>
            <a:srgbClr val="F3F5F9"/>
          </a:solidFill>
          <a:ln w="9525">
            <a:solidFill>
              <a:srgbClr val="DCE3EE"/>
            </a:solidFill>
            <a:prstDash val="solid"/>
          </a:ln>
        </p:spPr>
      </p:sp>
      <p:sp>
        <p:nvSpPr>
          <p:cNvPr id="7" name="Shape 4"/>
          <p:cNvSpPr/>
          <p:nvPr/>
        </p:nvSpPr>
        <p:spPr>
          <a:xfrm>
            <a:off x="640080" y="1463040"/>
            <a:ext cx="384048" cy="384048"/>
          </a:xfrm>
          <a:prstGeom prst="ellipse">
            <a:avLst/>
          </a:prstGeom>
          <a:solidFill>
            <a:srgbClr val="1F8A8A"/>
          </a:solidFill>
          <a:ln w="12700">
            <a:solidFill>
              <a:srgbClr val="1F8A8A"/>
            </a:solidFill>
            <a:prstDash val="solid"/>
          </a:ln>
        </p:spPr>
      </p:sp>
      <p:sp>
        <p:nvSpPr>
          <p:cNvPr id="8" name="Text 5"/>
          <p:cNvSpPr txBox="1"/>
          <p:nvPr/>
        </p:nvSpPr>
        <p:spPr>
          <a:xfrm>
            <a:off x="640080" y="1463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txBox="1"/>
          <p:nvPr/>
        </p:nvSpPr>
        <p:spPr>
          <a:xfrm>
            <a:off x="1143000" y="1463040"/>
            <a:ext cx="1783080" cy="384048"/>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Same split</a:t>
            </a:r>
            <a:endParaRPr lang="en-US" sz="1400" dirty="0"/>
          </a:p>
        </p:txBody>
      </p:sp>
      <p:sp>
        <p:nvSpPr>
          <p:cNvPr id="10" name="Text 7"/>
          <p:cNvSpPr txBox="1"/>
          <p:nvPr/>
        </p:nvSpPr>
        <p:spPr>
          <a:xfrm>
            <a:off x="640080" y="2029968"/>
            <a:ext cx="2286000" cy="64008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17,284 training and 4,322 test records; fixed seed 42</a:t>
            </a:r>
            <a:endParaRPr lang="en-US" sz="1200" dirty="0"/>
          </a:p>
        </p:txBody>
      </p:sp>
      <p:sp>
        <p:nvSpPr>
          <p:cNvPr id="11" name="Shape 8"/>
          <p:cNvSpPr/>
          <p:nvPr/>
        </p:nvSpPr>
        <p:spPr>
          <a:xfrm>
            <a:off x="3268980" y="1280160"/>
            <a:ext cx="2606040" cy="1463040"/>
          </a:xfrm>
          <a:prstGeom prst="roundRect">
            <a:avLst>
              <a:gd name="adj" fmla="val 5000"/>
            </a:avLst>
          </a:prstGeom>
          <a:solidFill>
            <a:srgbClr val="F3F5F9"/>
          </a:solidFill>
          <a:ln w="12700">
            <a:solidFill>
              <a:srgbClr val="F3F5F9"/>
            </a:solidFill>
            <a:prstDash val="solid"/>
          </a:ln>
        </p:spPr>
      </p:sp>
      <p:sp>
        <p:nvSpPr>
          <p:cNvPr id="12" name="Shape 9"/>
          <p:cNvSpPr/>
          <p:nvPr/>
        </p:nvSpPr>
        <p:spPr>
          <a:xfrm>
            <a:off x="3268980" y="1280160"/>
            <a:ext cx="2606040" cy="1463040"/>
          </a:xfrm>
          <a:prstGeom prst="roundRect">
            <a:avLst>
              <a:gd name="adj" fmla="val 5000"/>
            </a:avLst>
          </a:prstGeom>
          <a:solidFill>
            <a:srgbClr val="F3F5F9"/>
          </a:solidFill>
          <a:ln w="9525">
            <a:solidFill>
              <a:srgbClr val="DCE3EE"/>
            </a:solidFill>
            <a:prstDash val="solid"/>
          </a:ln>
        </p:spPr>
      </p:sp>
      <p:sp>
        <p:nvSpPr>
          <p:cNvPr id="13" name="Shape 10"/>
          <p:cNvSpPr/>
          <p:nvPr/>
        </p:nvSpPr>
        <p:spPr>
          <a:xfrm>
            <a:off x="3451860" y="1463040"/>
            <a:ext cx="384048" cy="384048"/>
          </a:xfrm>
          <a:prstGeom prst="ellipse">
            <a:avLst/>
          </a:prstGeom>
          <a:solidFill>
            <a:srgbClr val="1F8A8A"/>
          </a:solidFill>
          <a:ln w="12700">
            <a:solidFill>
              <a:srgbClr val="1F8A8A"/>
            </a:solidFill>
            <a:prstDash val="solid"/>
          </a:ln>
        </p:spPr>
      </p:sp>
      <p:sp>
        <p:nvSpPr>
          <p:cNvPr id="14" name="Text 11"/>
          <p:cNvSpPr txBox="1"/>
          <p:nvPr/>
        </p:nvSpPr>
        <p:spPr>
          <a:xfrm>
            <a:off x="3451860" y="1463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2"/>
          <p:cNvSpPr txBox="1"/>
          <p:nvPr/>
        </p:nvSpPr>
        <p:spPr>
          <a:xfrm>
            <a:off x="3954780" y="1463040"/>
            <a:ext cx="1783080" cy="384048"/>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Same test patients</a:t>
            </a:r>
            <a:endParaRPr lang="en-US" sz="1400" dirty="0"/>
          </a:p>
        </p:txBody>
      </p:sp>
      <p:sp>
        <p:nvSpPr>
          <p:cNvPr id="16" name="Text 13"/>
          <p:cNvSpPr txBox="1"/>
          <p:nvPr/>
        </p:nvSpPr>
        <p:spPr>
          <a:xfrm>
            <a:off x="3451860" y="2029968"/>
            <a:ext cx="2286000" cy="64008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Every model is scored on all 4,322; never used for tuning</a:t>
            </a:r>
            <a:endParaRPr lang="en-US" sz="1200" dirty="0"/>
          </a:p>
        </p:txBody>
      </p:sp>
      <p:sp>
        <p:nvSpPr>
          <p:cNvPr id="17" name="Shape 14"/>
          <p:cNvSpPr/>
          <p:nvPr/>
        </p:nvSpPr>
        <p:spPr>
          <a:xfrm>
            <a:off x="6080760" y="1280160"/>
            <a:ext cx="2606040" cy="1463040"/>
          </a:xfrm>
          <a:prstGeom prst="roundRect">
            <a:avLst>
              <a:gd name="adj" fmla="val 5000"/>
            </a:avLst>
          </a:prstGeom>
          <a:solidFill>
            <a:srgbClr val="F3F5F9"/>
          </a:solidFill>
          <a:ln w="12700">
            <a:solidFill>
              <a:srgbClr val="F3F5F9"/>
            </a:solidFill>
            <a:prstDash val="solid"/>
          </a:ln>
        </p:spPr>
      </p:sp>
      <p:sp>
        <p:nvSpPr>
          <p:cNvPr id="18" name="Shape 15"/>
          <p:cNvSpPr/>
          <p:nvPr/>
        </p:nvSpPr>
        <p:spPr>
          <a:xfrm>
            <a:off x="6080760" y="1280160"/>
            <a:ext cx="2606040" cy="1463040"/>
          </a:xfrm>
          <a:prstGeom prst="roundRect">
            <a:avLst>
              <a:gd name="adj" fmla="val 5000"/>
            </a:avLst>
          </a:prstGeom>
          <a:solidFill>
            <a:srgbClr val="F3F5F9"/>
          </a:solidFill>
          <a:ln w="9525">
            <a:solidFill>
              <a:srgbClr val="DCE3EE"/>
            </a:solidFill>
            <a:prstDash val="solid"/>
          </a:ln>
        </p:spPr>
      </p:sp>
      <p:sp>
        <p:nvSpPr>
          <p:cNvPr id="19" name="Shape 16"/>
          <p:cNvSpPr/>
          <p:nvPr/>
        </p:nvSpPr>
        <p:spPr>
          <a:xfrm>
            <a:off x="6263640" y="1463040"/>
            <a:ext cx="384048" cy="384048"/>
          </a:xfrm>
          <a:prstGeom prst="ellipse">
            <a:avLst/>
          </a:prstGeom>
          <a:solidFill>
            <a:srgbClr val="1F8A8A"/>
          </a:solidFill>
          <a:ln w="12700">
            <a:solidFill>
              <a:srgbClr val="1F8A8A"/>
            </a:solidFill>
            <a:prstDash val="solid"/>
          </a:ln>
        </p:spPr>
      </p:sp>
      <p:sp>
        <p:nvSpPr>
          <p:cNvPr id="20" name="Text 17"/>
          <p:cNvSpPr txBox="1"/>
          <p:nvPr/>
        </p:nvSpPr>
        <p:spPr>
          <a:xfrm>
            <a:off x="6263640" y="1463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8"/>
          <p:cNvSpPr txBox="1"/>
          <p:nvPr/>
        </p:nvSpPr>
        <p:spPr>
          <a:xfrm>
            <a:off x="6766560" y="1463040"/>
            <a:ext cx="1783080" cy="384048"/>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Three training sizes</a:t>
            </a:r>
            <a:endParaRPr lang="en-US" sz="1400" dirty="0"/>
          </a:p>
        </p:txBody>
      </p:sp>
      <p:sp>
        <p:nvSpPr>
          <p:cNvPr id="22" name="Text 19"/>
          <p:cNvSpPr txBox="1"/>
          <p:nvPr/>
        </p:nvSpPr>
        <p:spPr>
          <a:xfrm>
            <a:off x="6263640" y="2029968"/>
            <a:ext cx="2286000" cy="64008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500, 2,000 and 17,284 rows for every model</a:t>
            </a:r>
            <a:endParaRPr lang="en-US" sz="1200" dirty="0"/>
          </a:p>
        </p:txBody>
      </p:sp>
      <p:sp>
        <p:nvSpPr>
          <p:cNvPr id="23" name="Shape 20"/>
          <p:cNvSpPr/>
          <p:nvPr/>
        </p:nvSpPr>
        <p:spPr>
          <a:xfrm>
            <a:off x="457200" y="2971800"/>
            <a:ext cx="2606040" cy="1463040"/>
          </a:xfrm>
          <a:prstGeom prst="roundRect">
            <a:avLst>
              <a:gd name="adj" fmla="val 5000"/>
            </a:avLst>
          </a:prstGeom>
          <a:solidFill>
            <a:srgbClr val="F3F5F9"/>
          </a:solidFill>
          <a:ln w="12700">
            <a:solidFill>
              <a:srgbClr val="F3F5F9"/>
            </a:solidFill>
            <a:prstDash val="solid"/>
          </a:ln>
        </p:spPr>
      </p:sp>
      <p:sp>
        <p:nvSpPr>
          <p:cNvPr id="24" name="Shape 21"/>
          <p:cNvSpPr/>
          <p:nvPr/>
        </p:nvSpPr>
        <p:spPr>
          <a:xfrm>
            <a:off x="457200" y="2971800"/>
            <a:ext cx="2606040" cy="1463040"/>
          </a:xfrm>
          <a:prstGeom prst="roundRect">
            <a:avLst>
              <a:gd name="adj" fmla="val 5000"/>
            </a:avLst>
          </a:prstGeom>
          <a:solidFill>
            <a:srgbClr val="F3F5F9"/>
          </a:solidFill>
          <a:ln w="9525">
            <a:solidFill>
              <a:srgbClr val="DCE3EE"/>
            </a:solidFill>
            <a:prstDash val="solid"/>
          </a:ln>
        </p:spPr>
      </p:sp>
      <p:sp>
        <p:nvSpPr>
          <p:cNvPr id="25" name="Shape 22"/>
          <p:cNvSpPr/>
          <p:nvPr/>
        </p:nvSpPr>
        <p:spPr>
          <a:xfrm>
            <a:off x="640080" y="3154680"/>
            <a:ext cx="384048" cy="384048"/>
          </a:xfrm>
          <a:prstGeom prst="ellipse">
            <a:avLst/>
          </a:prstGeom>
          <a:solidFill>
            <a:srgbClr val="1F8A8A"/>
          </a:solidFill>
          <a:ln w="12700">
            <a:solidFill>
              <a:srgbClr val="1F8A8A"/>
            </a:solidFill>
            <a:prstDash val="solid"/>
          </a:ln>
        </p:spPr>
      </p:sp>
      <p:sp>
        <p:nvSpPr>
          <p:cNvPr id="26" name="Text 23"/>
          <p:cNvSpPr txBox="1"/>
          <p:nvPr/>
        </p:nvSpPr>
        <p:spPr>
          <a:xfrm>
            <a:off x="640080" y="31546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7" name="Text 24"/>
          <p:cNvSpPr txBox="1"/>
          <p:nvPr/>
        </p:nvSpPr>
        <p:spPr>
          <a:xfrm>
            <a:off x="1143000" y="3154680"/>
            <a:ext cx="1783080" cy="384048"/>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Fair baseline</a:t>
            </a:r>
            <a:endParaRPr lang="en-US" sz="1400" dirty="0"/>
          </a:p>
        </p:txBody>
      </p:sp>
      <p:sp>
        <p:nvSpPr>
          <p:cNvPr id="28" name="Text 25"/>
          <p:cNvSpPr txBox="1"/>
          <p:nvPr/>
        </p:nvSpPr>
        <p:spPr>
          <a:xfrm>
            <a:off x="640080" y="3721608"/>
            <a:ext cx="2286000" cy="64008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CatBoost tuned: 9 settings x 5-fold cross-validation</a:t>
            </a:r>
            <a:endParaRPr lang="en-US" sz="1200" dirty="0"/>
          </a:p>
        </p:txBody>
      </p:sp>
      <p:sp>
        <p:nvSpPr>
          <p:cNvPr id="29" name="Shape 26"/>
          <p:cNvSpPr/>
          <p:nvPr/>
        </p:nvSpPr>
        <p:spPr>
          <a:xfrm>
            <a:off x="3268980" y="2971800"/>
            <a:ext cx="2606040" cy="1463040"/>
          </a:xfrm>
          <a:prstGeom prst="roundRect">
            <a:avLst>
              <a:gd name="adj" fmla="val 5000"/>
            </a:avLst>
          </a:prstGeom>
          <a:solidFill>
            <a:srgbClr val="F3F5F9"/>
          </a:solidFill>
          <a:ln w="12700">
            <a:solidFill>
              <a:srgbClr val="F3F5F9"/>
            </a:solidFill>
            <a:prstDash val="solid"/>
          </a:ln>
        </p:spPr>
      </p:sp>
      <p:sp>
        <p:nvSpPr>
          <p:cNvPr id="30" name="Shape 27"/>
          <p:cNvSpPr/>
          <p:nvPr/>
        </p:nvSpPr>
        <p:spPr>
          <a:xfrm>
            <a:off x="3268980" y="2971800"/>
            <a:ext cx="2606040" cy="1463040"/>
          </a:xfrm>
          <a:prstGeom prst="roundRect">
            <a:avLst>
              <a:gd name="adj" fmla="val 5000"/>
            </a:avLst>
          </a:prstGeom>
          <a:solidFill>
            <a:srgbClr val="F3F5F9"/>
          </a:solidFill>
          <a:ln w="9525">
            <a:solidFill>
              <a:srgbClr val="DCE3EE"/>
            </a:solidFill>
            <a:prstDash val="solid"/>
          </a:ln>
        </p:spPr>
      </p:sp>
      <p:sp>
        <p:nvSpPr>
          <p:cNvPr id="31" name="Shape 28"/>
          <p:cNvSpPr/>
          <p:nvPr/>
        </p:nvSpPr>
        <p:spPr>
          <a:xfrm>
            <a:off x="3451860" y="3154680"/>
            <a:ext cx="384048" cy="384048"/>
          </a:xfrm>
          <a:prstGeom prst="ellipse">
            <a:avLst/>
          </a:prstGeom>
          <a:solidFill>
            <a:srgbClr val="1F8A8A"/>
          </a:solidFill>
          <a:ln w="12700">
            <a:solidFill>
              <a:srgbClr val="1F8A8A"/>
            </a:solidFill>
            <a:prstDash val="solid"/>
          </a:ln>
        </p:spPr>
      </p:sp>
      <p:sp>
        <p:nvSpPr>
          <p:cNvPr id="32" name="Text 29"/>
          <p:cNvSpPr txBox="1"/>
          <p:nvPr/>
        </p:nvSpPr>
        <p:spPr>
          <a:xfrm>
            <a:off x="3451860" y="31546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3" name="Text 30"/>
          <p:cNvSpPr txBox="1"/>
          <p:nvPr/>
        </p:nvSpPr>
        <p:spPr>
          <a:xfrm>
            <a:off x="3954780" y="3154680"/>
            <a:ext cx="1783080" cy="384048"/>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Many measures</a:t>
            </a:r>
            <a:endParaRPr lang="en-US" sz="1400" dirty="0"/>
          </a:p>
        </p:txBody>
      </p:sp>
      <p:sp>
        <p:nvSpPr>
          <p:cNvPr id="34" name="Text 31"/>
          <p:cNvSpPr txBox="1"/>
          <p:nvPr/>
        </p:nvSpPr>
        <p:spPr>
          <a:xfrm>
            <a:off x="3451860" y="3721608"/>
            <a:ext cx="2286000" cy="64008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Accuracy, macro-F1, ROC-AUC, kappa, log loss</a:t>
            </a:r>
            <a:endParaRPr lang="en-US" sz="1200" dirty="0"/>
          </a:p>
        </p:txBody>
      </p:sp>
      <p:sp>
        <p:nvSpPr>
          <p:cNvPr id="35" name="Shape 32"/>
          <p:cNvSpPr/>
          <p:nvPr/>
        </p:nvSpPr>
        <p:spPr>
          <a:xfrm>
            <a:off x="6080760" y="2971800"/>
            <a:ext cx="2606040" cy="1463040"/>
          </a:xfrm>
          <a:prstGeom prst="roundRect">
            <a:avLst>
              <a:gd name="adj" fmla="val 5000"/>
            </a:avLst>
          </a:prstGeom>
          <a:solidFill>
            <a:srgbClr val="F3F5F9"/>
          </a:solidFill>
          <a:ln w="12700">
            <a:solidFill>
              <a:srgbClr val="F3F5F9"/>
            </a:solidFill>
            <a:prstDash val="solid"/>
          </a:ln>
        </p:spPr>
      </p:sp>
      <p:sp>
        <p:nvSpPr>
          <p:cNvPr id="36" name="Shape 33"/>
          <p:cNvSpPr/>
          <p:nvPr/>
        </p:nvSpPr>
        <p:spPr>
          <a:xfrm>
            <a:off x="6080760" y="2971800"/>
            <a:ext cx="2606040" cy="1463040"/>
          </a:xfrm>
          <a:prstGeom prst="roundRect">
            <a:avLst>
              <a:gd name="adj" fmla="val 5000"/>
            </a:avLst>
          </a:prstGeom>
          <a:solidFill>
            <a:srgbClr val="F3F5F9"/>
          </a:solidFill>
          <a:ln w="9525">
            <a:solidFill>
              <a:srgbClr val="DCE3EE"/>
            </a:solidFill>
            <a:prstDash val="solid"/>
          </a:ln>
        </p:spPr>
      </p:sp>
      <p:sp>
        <p:nvSpPr>
          <p:cNvPr id="37" name="Shape 34"/>
          <p:cNvSpPr/>
          <p:nvPr/>
        </p:nvSpPr>
        <p:spPr>
          <a:xfrm>
            <a:off x="6263640" y="3154680"/>
            <a:ext cx="384048" cy="384048"/>
          </a:xfrm>
          <a:prstGeom prst="ellipse">
            <a:avLst/>
          </a:prstGeom>
          <a:solidFill>
            <a:srgbClr val="1F8A8A"/>
          </a:solidFill>
          <a:ln w="12700">
            <a:solidFill>
              <a:srgbClr val="1F8A8A"/>
            </a:solidFill>
            <a:prstDash val="solid"/>
          </a:ln>
        </p:spPr>
      </p:sp>
      <p:sp>
        <p:nvSpPr>
          <p:cNvPr id="38" name="Text 35"/>
          <p:cNvSpPr txBox="1"/>
          <p:nvPr/>
        </p:nvSpPr>
        <p:spPr>
          <a:xfrm>
            <a:off x="6263640" y="31546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9" name="Text 36"/>
          <p:cNvSpPr txBox="1"/>
          <p:nvPr/>
        </p:nvSpPr>
        <p:spPr>
          <a:xfrm>
            <a:off x="6766560" y="3154680"/>
            <a:ext cx="1783080" cy="384048"/>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Real tests</a:t>
            </a:r>
            <a:endParaRPr lang="en-US" sz="1400" dirty="0"/>
          </a:p>
        </p:txBody>
      </p:sp>
      <p:sp>
        <p:nvSpPr>
          <p:cNvPr id="40" name="Text 37"/>
          <p:cNvSpPr txBox="1"/>
          <p:nvPr/>
        </p:nvSpPr>
        <p:spPr>
          <a:xfrm>
            <a:off x="6263640" y="3721608"/>
            <a:ext cx="2286000" cy="64008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McNemar's test and 95% confidence intervals; SHAP for all</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777240"/>
          </a:xfrm>
          <a:prstGeom prst="rect">
            <a:avLst/>
          </a:prstGeom>
          <a:noFill/>
          <a:ln/>
        </p:spPr>
        <p:txBody>
          <a:bodyPr wrap="square" lIns="0" tIns="0" rIns="0" bIns="0" rtlCol="0" anchor="t"/>
          <a:lstStyle/>
          <a:p>
            <a:pPr indent="0" marL="0">
              <a:buNone/>
            </a:pPr>
            <a:r>
              <a:rPr lang="en-US" sz="2500" b="1" dirty="0">
                <a:solidFill>
                  <a:srgbClr val="14213D"/>
                </a:solidFill>
                <a:latin typeface="Cambria" pitchFamily="34" charset="0"/>
                <a:ea typeface="Cambria" pitchFamily="34" charset="-122"/>
                <a:cs typeface="Cambria" pitchFamily="34" charset="-120"/>
              </a:rPr>
              <a:t>With all the data, the three models are almost equal (78.2% to 78.7%)</a:t>
            </a:r>
            <a:endParaRPr lang="en-US" sz="2500" dirty="0"/>
          </a:p>
        </p:txBody>
      </p:sp>
      <p:sp>
        <p:nvSpPr>
          <p:cNvPr id="3" name="Text 1"/>
          <p:cNvSpPr txBox="1"/>
          <p:nvPr/>
        </p:nvSpPr>
        <p:spPr>
          <a:xfrm>
            <a:off x="8229600" y="4773168"/>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graphicFrame>
        <p:nvGraphicFramePr>
          <p:cNvPr id="5" name="Chart 0" descr=""/>
          <p:cNvGraphicFramePr/>
          <p:nvPr/>
        </p:nvGraphicFramePr>
        <p:xfrm>
          <a:off x="365760" y="1143000"/>
          <a:ext cx="5669280" cy="352044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6263640" y="1234440"/>
            <a:ext cx="2423160" cy="274320"/>
          </a:xfrm>
          <a:prstGeom prst="rect">
            <a:avLst/>
          </a:prstGeom>
          <a:noFill/>
          <a:ln/>
        </p:spPr>
        <p:txBody>
          <a:bodyPr wrap="square" lIns="0" tIns="0" rIns="0" bIns="0" rtlCol="0" anchor="t"/>
          <a:lstStyle/>
          <a:p>
            <a:pPr indent="0" marL="0">
              <a:buNone/>
            </a:pPr>
            <a:r>
              <a:rPr lang="en-US" sz="1200" b="1" dirty="0">
                <a:solidFill>
                  <a:srgbClr val="6B7280"/>
                </a:solidFill>
                <a:latin typeface="Calibri" pitchFamily="34" charset="0"/>
                <a:ea typeface="Calibri" pitchFamily="34" charset="-122"/>
                <a:cs typeface="Calibri" pitchFamily="34" charset="-120"/>
              </a:rPr>
              <a:t>Full training data</a:t>
            </a:r>
            <a:endParaRPr lang="en-US" sz="1200" dirty="0"/>
          </a:p>
        </p:txBody>
      </p:sp>
      <p:sp>
        <p:nvSpPr>
          <p:cNvPr id="7" name="Shape 3"/>
          <p:cNvSpPr/>
          <p:nvPr/>
        </p:nvSpPr>
        <p:spPr>
          <a:xfrm>
            <a:off x="6263640" y="1600200"/>
            <a:ext cx="2423160" cy="658368"/>
          </a:xfrm>
          <a:prstGeom prst="roundRect">
            <a:avLst>
              <a:gd name="adj" fmla="val 11111"/>
            </a:avLst>
          </a:prstGeom>
          <a:solidFill>
            <a:srgbClr val="F3F5F9"/>
          </a:solidFill>
          <a:ln w="12700">
            <a:solidFill>
              <a:srgbClr val="F3F5F9"/>
            </a:solidFill>
            <a:prstDash val="solid"/>
          </a:ln>
        </p:spPr>
      </p:sp>
      <p:sp>
        <p:nvSpPr>
          <p:cNvPr id="8" name="Shape 4"/>
          <p:cNvSpPr/>
          <p:nvPr/>
        </p:nvSpPr>
        <p:spPr>
          <a:xfrm>
            <a:off x="6400800" y="1801368"/>
            <a:ext cx="256032" cy="256032"/>
          </a:xfrm>
          <a:prstGeom prst="ellipse">
            <a:avLst/>
          </a:prstGeom>
          <a:solidFill>
            <a:srgbClr val="2EA44F"/>
          </a:solidFill>
          <a:ln w="12700">
            <a:solidFill>
              <a:srgbClr val="2EA44F"/>
            </a:solidFill>
            <a:prstDash val="solid"/>
          </a:ln>
        </p:spPr>
      </p:sp>
      <p:sp>
        <p:nvSpPr>
          <p:cNvPr id="9" name="Text 5"/>
          <p:cNvSpPr txBox="1"/>
          <p:nvPr/>
        </p:nvSpPr>
        <p:spPr>
          <a:xfrm>
            <a:off x="6766560" y="1645920"/>
            <a:ext cx="1828800" cy="365760"/>
          </a:xfrm>
          <a:prstGeom prst="rect">
            <a:avLst/>
          </a:prstGeom>
          <a:noFill/>
          <a:ln/>
        </p:spPr>
        <p:txBody>
          <a:bodyPr wrap="square" lIns="0" tIns="0" rIns="0" bIns="0" rtlCol="0" anchor="t"/>
          <a:lstStyle/>
          <a:p>
            <a:pPr indent="0" marL="0">
              <a:buNone/>
            </a:pPr>
            <a:r>
              <a:rPr lang="en-US" sz="2100" b="1" dirty="0">
                <a:solidFill>
                  <a:srgbClr val="14213D"/>
                </a:solidFill>
                <a:latin typeface="Cambria" pitchFamily="34" charset="0"/>
                <a:ea typeface="Cambria" pitchFamily="34" charset="-122"/>
                <a:cs typeface="Cambria" pitchFamily="34" charset="-120"/>
              </a:rPr>
              <a:t>78.67%</a:t>
            </a:r>
            <a:endParaRPr lang="en-US" sz="2100" dirty="0"/>
          </a:p>
        </p:txBody>
      </p:sp>
      <p:sp>
        <p:nvSpPr>
          <p:cNvPr id="10" name="Text 6"/>
          <p:cNvSpPr txBox="1"/>
          <p:nvPr/>
        </p:nvSpPr>
        <p:spPr>
          <a:xfrm>
            <a:off x="6766560" y="2002536"/>
            <a:ext cx="1874520" cy="201168"/>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TabFM  ·  macro-F1 0.780</a:t>
            </a:r>
            <a:endParaRPr lang="en-US" sz="1050" dirty="0"/>
          </a:p>
        </p:txBody>
      </p:sp>
      <p:sp>
        <p:nvSpPr>
          <p:cNvPr id="11" name="Shape 7"/>
          <p:cNvSpPr/>
          <p:nvPr/>
        </p:nvSpPr>
        <p:spPr>
          <a:xfrm>
            <a:off x="6263640" y="2377440"/>
            <a:ext cx="2423160" cy="658368"/>
          </a:xfrm>
          <a:prstGeom prst="roundRect">
            <a:avLst>
              <a:gd name="adj" fmla="val 11111"/>
            </a:avLst>
          </a:prstGeom>
          <a:solidFill>
            <a:srgbClr val="F3F5F9"/>
          </a:solidFill>
          <a:ln w="12700">
            <a:solidFill>
              <a:srgbClr val="F3F5F9"/>
            </a:solidFill>
            <a:prstDash val="solid"/>
          </a:ln>
        </p:spPr>
      </p:sp>
      <p:sp>
        <p:nvSpPr>
          <p:cNvPr id="12" name="Shape 8"/>
          <p:cNvSpPr/>
          <p:nvPr/>
        </p:nvSpPr>
        <p:spPr>
          <a:xfrm>
            <a:off x="6400800" y="2578608"/>
            <a:ext cx="256032" cy="256032"/>
          </a:xfrm>
          <a:prstGeom prst="ellipse">
            <a:avLst/>
          </a:prstGeom>
          <a:solidFill>
            <a:srgbClr val="2F6FD6"/>
          </a:solidFill>
          <a:ln w="12700">
            <a:solidFill>
              <a:srgbClr val="2F6FD6"/>
            </a:solidFill>
            <a:prstDash val="solid"/>
          </a:ln>
        </p:spPr>
      </p:sp>
      <p:sp>
        <p:nvSpPr>
          <p:cNvPr id="13" name="Text 9"/>
          <p:cNvSpPr txBox="1"/>
          <p:nvPr/>
        </p:nvSpPr>
        <p:spPr>
          <a:xfrm>
            <a:off x="6766560" y="2423160"/>
            <a:ext cx="1828800" cy="365760"/>
          </a:xfrm>
          <a:prstGeom prst="rect">
            <a:avLst/>
          </a:prstGeom>
          <a:noFill/>
          <a:ln/>
        </p:spPr>
        <p:txBody>
          <a:bodyPr wrap="square" lIns="0" tIns="0" rIns="0" bIns="0" rtlCol="0" anchor="t"/>
          <a:lstStyle/>
          <a:p>
            <a:pPr indent="0" marL="0">
              <a:buNone/>
            </a:pPr>
            <a:r>
              <a:rPr lang="en-US" sz="2100" b="1" dirty="0">
                <a:solidFill>
                  <a:srgbClr val="14213D"/>
                </a:solidFill>
                <a:latin typeface="Cambria" pitchFamily="34" charset="0"/>
                <a:ea typeface="Cambria" pitchFamily="34" charset="-122"/>
                <a:cs typeface="Cambria" pitchFamily="34" charset="-120"/>
              </a:rPr>
              <a:t>78.62%</a:t>
            </a:r>
            <a:endParaRPr lang="en-US" sz="2100" dirty="0"/>
          </a:p>
        </p:txBody>
      </p:sp>
      <p:sp>
        <p:nvSpPr>
          <p:cNvPr id="14" name="Text 10"/>
          <p:cNvSpPr txBox="1"/>
          <p:nvPr/>
        </p:nvSpPr>
        <p:spPr>
          <a:xfrm>
            <a:off x="6766560" y="2779776"/>
            <a:ext cx="1874520" cy="201168"/>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TabPFN  ·  macro-F1 0.778</a:t>
            </a:r>
            <a:endParaRPr lang="en-US" sz="1050" dirty="0"/>
          </a:p>
        </p:txBody>
      </p:sp>
      <p:sp>
        <p:nvSpPr>
          <p:cNvPr id="15" name="Shape 11"/>
          <p:cNvSpPr/>
          <p:nvPr/>
        </p:nvSpPr>
        <p:spPr>
          <a:xfrm>
            <a:off x="6263640" y="3154680"/>
            <a:ext cx="2423160" cy="658368"/>
          </a:xfrm>
          <a:prstGeom prst="roundRect">
            <a:avLst>
              <a:gd name="adj" fmla="val 11111"/>
            </a:avLst>
          </a:prstGeom>
          <a:solidFill>
            <a:srgbClr val="F3F5F9"/>
          </a:solidFill>
          <a:ln w="12700">
            <a:solidFill>
              <a:srgbClr val="F3F5F9"/>
            </a:solidFill>
            <a:prstDash val="solid"/>
          </a:ln>
        </p:spPr>
      </p:sp>
      <p:sp>
        <p:nvSpPr>
          <p:cNvPr id="16" name="Shape 12"/>
          <p:cNvSpPr/>
          <p:nvPr/>
        </p:nvSpPr>
        <p:spPr>
          <a:xfrm>
            <a:off x="6400800" y="3355848"/>
            <a:ext cx="256032" cy="256032"/>
          </a:xfrm>
          <a:prstGeom prst="ellipse">
            <a:avLst/>
          </a:prstGeom>
          <a:solidFill>
            <a:srgbClr val="E9A23B"/>
          </a:solidFill>
          <a:ln w="12700">
            <a:solidFill>
              <a:srgbClr val="E9A23B"/>
            </a:solidFill>
            <a:prstDash val="solid"/>
          </a:ln>
        </p:spPr>
      </p:sp>
      <p:sp>
        <p:nvSpPr>
          <p:cNvPr id="17" name="Text 13"/>
          <p:cNvSpPr txBox="1"/>
          <p:nvPr/>
        </p:nvSpPr>
        <p:spPr>
          <a:xfrm>
            <a:off x="6766560" y="3200400"/>
            <a:ext cx="1828800" cy="365760"/>
          </a:xfrm>
          <a:prstGeom prst="rect">
            <a:avLst/>
          </a:prstGeom>
          <a:noFill/>
          <a:ln/>
        </p:spPr>
        <p:txBody>
          <a:bodyPr wrap="square" lIns="0" tIns="0" rIns="0" bIns="0" rtlCol="0" anchor="t"/>
          <a:lstStyle/>
          <a:p>
            <a:pPr indent="0" marL="0">
              <a:buNone/>
            </a:pPr>
            <a:r>
              <a:rPr lang="en-US" sz="2100" b="1" dirty="0">
                <a:solidFill>
                  <a:srgbClr val="14213D"/>
                </a:solidFill>
                <a:latin typeface="Cambria" pitchFamily="34" charset="0"/>
                <a:ea typeface="Cambria" pitchFamily="34" charset="-122"/>
                <a:cs typeface="Cambria" pitchFamily="34" charset="-120"/>
              </a:rPr>
              <a:t>78.20%</a:t>
            </a:r>
            <a:endParaRPr lang="en-US" sz="2100" dirty="0"/>
          </a:p>
        </p:txBody>
      </p:sp>
      <p:sp>
        <p:nvSpPr>
          <p:cNvPr id="18" name="Text 14"/>
          <p:cNvSpPr txBox="1"/>
          <p:nvPr/>
        </p:nvSpPr>
        <p:spPr>
          <a:xfrm>
            <a:off x="6766560" y="3557016"/>
            <a:ext cx="1874520" cy="201168"/>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CatBoost  ·  macro-F1 0.774</a:t>
            </a:r>
            <a:endParaRPr lang="en-US" sz="1050" dirty="0"/>
          </a:p>
        </p:txBody>
      </p:sp>
      <p:sp>
        <p:nvSpPr>
          <p:cNvPr id="19" name="Text 15"/>
          <p:cNvSpPr txBox="1"/>
          <p:nvPr/>
        </p:nvSpPr>
        <p:spPr>
          <a:xfrm>
            <a:off x="6263640" y="4023360"/>
            <a:ext cx="2423160" cy="457200"/>
          </a:xfrm>
          <a:prstGeom prst="rect">
            <a:avLst/>
          </a:prstGeom>
          <a:noFill/>
          <a:ln/>
        </p:spPr>
        <p:txBody>
          <a:bodyPr wrap="square" lIns="0" tIns="0" rIns="0" bIns="0" rtlCol="0" anchor="t"/>
          <a:lstStyle/>
          <a:p>
            <a:pPr indent="0" marL="0">
              <a:buNone/>
            </a:pPr>
            <a:r>
              <a:rPr lang="en-US" sz="1200" b="1" dirty="0">
                <a:solidFill>
                  <a:srgbClr val="1F2937"/>
                </a:solidFill>
                <a:latin typeface="Calibri" pitchFamily="34" charset="0"/>
                <a:ea typeface="Calibri" pitchFamily="34" charset="-122"/>
                <a:cs typeface="Calibri" pitchFamily="34" charset="-120"/>
              </a:rPr>
              <a:t>Gap between best and worst: 0.47 points.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777240"/>
          </a:xfrm>
          <a:prstGeom prst="rect">
            <a:avLst/>
          </a:prstGeom>
          <a:noFill/>
          <a:ln/>
        </p:spPr>
        <p:txBody>
          <a:bodyPr wrap="square" lIns="0" tIns="0" rIns="0" bIns="0" rtlCol="0" anchor="t"/>
          <a:lstStyle/>
          <a:p>
            <a:pPr indent="0" marL="0">
              <a:buNone/>
            </a:pPr>
            <a:r>
              <a:rPr lang="en-US" sz="2500" b="1" dirty="0">
                <a:solidFill>
                  <a:srgbClr val="14213D"/>
                </a:solidFill>
                <a:latin typeface="Cambria" pitchFamily="34" charset="0"/>
                <a:ea typeface="Cambria" pitchFamily="34" charset="-122"/>
                <a:cs typeface="Cambria" pitchFamily="34" charset="-120"/>
              </a:rPr>
              <a:t>CatBoost needs lots of data; the foundation models do not</a:t>
            </a:r>
            <a:endParaRPr lang="en-US" sz="2500" dirty="0"/>
          </a:p>
        </p:txBody>
      </p:sp>
      <p:sp>
        <p:nvSpPr>
          <p:cNvPr id="3" name="Text 1"/>
          <p:cNvSpPr txBox="1"/>
          <p:nvPr/>
        </p:nvSpPr>
        <p:spPr>
          <a:xfrm>
            <a:off x="8229600" y="4773168"/>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12</a:t>
            </a:r>
            <a:endParaRPr lang="en-US" sz="1000" dirty="0"/>
          </a:p>
        </p:txBody>
      </p:sp>
      <p:graphicFrame>
        <p:nvGraphicFramePr>
          <p:cNvPr id="5" name="Chart 0" descr=""/>
          <p:cNvGraphicFramePr/>
          <p:nvPr/>
        </p:nvGraphicFramePr>
        <p:xfrm>
          <a:off x="365760" y="1143000"/>
          <a:ext cx="5394960" cy="352044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989320" y="1234440"/>
            <a:ext cx="2697480" cy="274320"/>
          </a:xfrm>
          <a:prstGeom prst="rect">
            <a:avLst/>
          </a:prstGeom>
          <a:noFill/>
          <a:ln/>
        </p:spPr>
        <p:txBody>
          <a:bodyPr wrap="square" lIns="0" tIns="0" rIns="0" bIns="0" rtlCol="0" anchor="t"/>
          <a:lstStyle/>
          <a:p>
            <a:pPr indent="0" marL="0">
              <a:buNone/>
            </a:pPr>
            <a:r>
              <a:rPr lang="en-US" sz="1200" b="1" dirty="0">
                <a:solidFill>
                  <a:srgbClr val="6B7280"/>
                </a:solidFill>
                <a:latin typeface="Calibri" pitchFamily="34" charset="0"/>
                <a:ea typeface="Calibri" pitchFamily="34" charset="-122"/>
                <a:cs typeface="Calibri" pitchFamily="34" charset="-120"/>
              </a:rPr>
              <a:t>Gain from 500 rows to all rows</a:t>
            </a:r>
            <a:endParaRPr lang="en-US" sz="1200" dirty="0"/>
          </a:p>
        </p:txBody>
      </p:sp>
      <p:sp>
        <p:nvSpPr>
          <p:cNvPr id="7" name="Shape 3"/>
          <p:cNvSpPr/>
          <p:nvPr/>
        </p:nvSpPr>
        <p:spPr>
          <a:xfrm>
            <a:off x="5989320" y="1600200"/>
            <a:ext cx="2697480" cy="749808"/>
          </a:xfrm>
          <a:prstGeom prst="roundRect">
            <a:avLst>
              <a:gd name="adj" fmla="val 9756"/>
            </a:avLst>
          </a:prstGeom>
          <a:solidFill>
            <a:srgbClr val="F3F5F9"/>
          </a:solidFill>
          <a:ln w="12700">
            <a:solidFill>
              <a:srgbClr val="F3F5F9"/>
            </a:solidFill>
            <a:prstDash val="solid"/>
          </a:ln>
        </p:spPr>
      </p:sp>
      <p:sp>
        <p:nvSpPr>
          <p:cNvPr id="8" name="Text 4"/>
          <p:cNvSpPr txBox="1"/>
          <p:nvPr/>
        </p:nvSpPr>
        <p:spPr>
          <a:xfrm>
            <a:off x="6126480" y="1673352"/>
            <a:ext cx="1325880" cy="548640"/>
          </a:xfrm>
          <a:prstGeom prst="rect">
            <a:avLst/>
          </a:prstGeom>
          <a:noFill/>
          <a:ln/>
        </p:spPr>
        <p:txBody>
          <a:bodyPr wrap="square" lIns="0" tIns="0" rIns="0" bIns="0" rtlCol="0" anchor="ctr"/>
          <a:lstStyle/>
          <a:p>
            <a:pPr indent="0" marL="0">
              <a:buNone/>
            </a:pPr>
            <a:r>
              <a:rPr lang="en-US" sz="2400" b="1" dirty="0">
                <a:solidFill>
                  <a:srgbClr val="E9A23B"/>
                </a:solidFill>
                <a:latin typeface="Cambria" pitchFamily="34" charset="0"/>
                <a:ea typeface="Cambria" pitchFamily="34" charset="-122"/>
                <a:cs typeface="Cambria" pitchFamily="34" charset="-120"/>
              </a:rPr>
              <a:t>+8.83</a:t>
            </a:r>
            <a:endParaRPr lang="en-US" sz="2400" dirty="0"/>
          </a:p>
        </p:txBody>
      </p:sp>
      <p:sp>
        <p:nvSpPr>
          <p:cNvPr id="9" name="Text 5"/>
          <p:cNvSpPr txBox="1"/>
          <p:nvPr/>
        </p:nvSpPr>
        <p:spPr>
          <a:xfrm>
            <a:off x="7498080" y="1691640"/>
            <a:ext cx="1143000" cy="54864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CatBoost</a:t>
            </a: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acc. points</a:t>
            </a:r>
            <a:endParaRPr lang="en-US" sz="1100" dirty="0"/>
          </a:p>
        </p:txBody>
      </p:sp>
      <p:sp>
        <p:nvSpPr>
          <p:cNvPr id="10" name="Shape 6"/>
          <p:cNvSpPr/>
          <p:nvPr/>
        </p:nvSpPr>
        <p:spPr>
          <a:xfrm>
            <a:off x="5989320" y="2468880"/>
            <a:ext cx="2697480" cy="749808"/>
          </a:xfrm>
          <a:prstGeom prst="roundRect">
            <a:avLst>
              <a:gd name="adj" fmla="val 9756"/>
            </a:avLst>
          </a:prstGeom>
          <a:solidFill>
            <a:srgbClr val="F3F5F9"/>
          </a:solidFill>
          <a:ln w="12700">
            <a:solidFill>
              <a:srgbClr val="F3F5F9"/>
            </a:solidFill>
            <a:prstDash val="solid"/>
          </a:ln>
        </p:spPr>
      </p:sp>
      <p:sp>
        <p:nvSpPr>
          <p:cNvPr id="11" name="Text 7"/>
          <p:cNvSpPr txBox="1"/>
          <p:nvPr/>
        </p:nvSpPr>
        <p:spPr>
          <a:xfrm>
            <a:off x="6126480" y="2542032"/>
            <a:ext cx="1325880" cy="548640"/>
          </a:xfrm>
          <a:prstGeom prst="rect">
            <a:avLst/>
          </a:prstGeom>
          <a:noFill/>
          <a:ln/>
        </p:spPr>
        <p:txBody>
          <a:bodyPr wrap="square" lIns="0" tIns="0" rIns="0" bIns="0" rtlCol="0" anchor="ctr"/>
          <a:lstStyle/>
          <a:p>
            <a:pPr indent="0" marL="0">
              <a:buNone/>
            </a:pPr>
            <a:r>
              <a:rPr lang="en-US" sz="2400" b="1" dirty="0">
                <a:solidFill>
                  <a:srgbClr val="2F6FD6"/>
                </a:solidFill>
                <a:latin typeface="Cambria" pitchFamily="34" charset="0"/>
                <a:ea typeface="Cambria" pitchFamily="34" charset="-122"/>
                <a:cs typeface="Cambria" pitchFamily="34" charset="-120"/>
              </a:rPr>
              <a:t>+1.73</a:t>
            </a:r>
            <a:endParaRPr lang="en-US" sz="2400" dirty="0"/>
          </a:p>
        </p:txBody>
      </p:sp>
      <p:sp>
        <p:nvSpPr>
          <p:cNvPr id="12" name="Text 8"/>
          <p:cNvSpPr txBox="1"/>
          <p:nvPr/>
        </p:nvSpPr>
        <p:spPr>
          <a:xfrm>
            <a:off x="7498080" y="2560320"/>
            <a:ext cx="1143000" cy="54864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TabPFN</a:t>
            </a: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acc. points</a:t>
            </a:r>
            <a:endParaRPr lang="en-US" sz="1100" dirty="0"/>
          </a:p>
        </p:txBody>
      </p:sp>
      <p:sp>
        <p:nvSpPr>
          <p:cNvPr id="13" name="Shape 9"/>
          <p:cNvSpPr/>
          <p:nvPr/>
        </p:nvSpPr>
        <p:spPr>
          <a:xfrm>
            <a:off x="5989320" y="3337560"/>
            <a:ext cx="2697480" cy="749808"/>
          </a:xfrm>
          <a:prstGeom prst="roundRect">
            <a:avLst>
              <a:gd name="adj" fmla="val 9756"/>
            </a:avLst>
          </a:prstGeom>
          <a:solidFill>
            <a:srgbClr val="F3F5F9"/>
          </a:solidFill>
          <a:ln w="12700">
            <a:solidFill>
              <a:srgbClr val="F3F5F9"/>
            </a:solidFill>
            <a:prstDash val="solid"/>
          </a:ln>
        </p:spPr>
      </p:sp>
      <p:sp>
        <p:nvSpPr>
          <p:cNvPr id="14" name="Text 10"/>
          <p:cNvSpPr txBox="1"/>
          <p:nvPr/>
        </p:nvSpPr>
        <p:spPr>
          <a:xfrm>
            <a:off x="6126480" y="3410712"/>
            <a:ext cx="1325880" cy="548640"/>
          </a:xfrm>
          <a:prstGeom prst="rect">
            <a:avLst/>
          </a:prstGeom>
          <a:noFill/>
          <a:ln/>
        </p:spPr>
        <p:txBody>
          <a:bodyPr wrap="square" lIns="0" tIns="0" rIns="0" bIns="0" rtlCol="0" anchor="ctr"/>
          <a:lstStyle/>
          <a:p>
            <a:pPr indent="0" marL="0">
              <a:buNone/>
            </a:pPr>
            <a:r>
              <a:rPr lang="en-US" sz="2400" b="1" dirty="0">
                <a:solidFill>
                  <a:srgbClr val="2EA44F"/>
                </a:solidFill>
                <a:latin typeface="Cambria" pitchFamily="34" charset="0"/>
                <a:ea typeface="Cambria" pitchFamily="34" charset="-122"/>
                <a:cs typeface="Cambria" pitchFamily="34" charset="-120"/>
              </a:rPr>
              <a:t>+1.83</a:t>
            </a:r>
            <a:endParaRPr lang="en-US" sz="2400" dirty="0"/>
          </a:p>
        </p:txBody>
      </p:sp>
      <p:sp>
        <p:nvSpPr>
          <p:cNvPr id="15" name="Text 11"/>
          <p:cNvSpPr txBox="1"/>
          <p:nvPr/>
        </p:nvSpPr>
        <p:spPr>
          <a:xfrm>
            <a:off x="7498080" y="3429000"/>
            <a:ext cx="1143000" cy="54864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TabFM</a:t>
            </a: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acc. points</a:t>
            </a:r>
            <a:endParaRPr lang="en-US" sz="1100" dirty="0"/>
          </a:p>
        </p:txBody>
      </p:sp>
      <p:sp>
        <p:nvSpPr>
          <p:cNvPr id="16" name="Text 12"/>
          <p:cNvSpPr txBox="1"/>
          <p:nvPr/>
        </p:nvSpPr>
        <p:spPr>
          <a:xfrm>
            <a:off x="5989320" y="4251960"/>
            <a:ext cx="2697480" cy="457200"/>
          </a:xfrm>
          <a:prstGeom prst="rect">
            <a:avLst/>
          </a:prstGeom>
          <a:noFill/>
          <a:ln/>
        </p:spPr>
        <p:txBody>
          <a:bodyPr wrap="square" lIns="0" tIns="0" rIns="0" bIns="0" rtlCol="0" anchor="t"/>
          <a:lstStyle/>
          <a:p>
            <a:pPr indent="0" marL="0">
              <a:buNone/>
            </a:pPr>
            <a:r>
              <a:rPr lang="en-US" sz="1150" b="1" dirty="0">
                <a:solidFill>
                  <a:srgbClr val="14213D"/>
                </a:solidFill>
                <a:latin typeface="Calibri" pitchFamily="34" charset="0"/>
                <a:ea typeface="Calibri" pitchFamily="34" charset="-122"/>
                <a:cs typeface="Calibri" pitchFamily="34" charset="-120"/>
              </a:rPr>
              <a:t>500 rows of a foundation model beat CatBoost with 2,000 rows.</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777240"/>
          </a:xfrm>
          <a:prstGeom prst="rect">
            <a:avLst/>
          </a:prstGeom>
          <a:noFill/>
          <a:ln/>
        </p:spPr>
        <p:txBody>
          <a:bodyPr wrap="square" lIns="0" tIns="0" rIns="0" bIns="0" rtlCol="0" anchor="t"/>
          <a:lstStyle/>
          <a:p>
            <a:pPr indent="0" marL="0">
              <a:buNone/>
            </a:pPr>
            <a:r>
              <a:rPr lang="en-US" sz="2500" b="1" dirty="0">
                <a:solidFill>
                  <a:srgbClr val="14213D"/>
                </a:solidFill>
                <a:latin typeface="Cambria" pitchFamily="34" charset="0"/>
                <a:ea typeface="Cambria" pitchFamily="34" charset="-122"/>
                <a:cs typeface="Cambria" pitchFamily="34" charset="-120"/>
              </a:rPr>
              <a:t>Is the gap real? Yes with little data, no with all the data</a:t>
            </a:r>
            <a:endParaRPr lang="en-US" sz="2500" dirty="0"/>
          </a:p>
        </p:txBody>
      </p:sp>
      <p:sp>
        <p:nvSpPr>
          <p:cNvPr id="3" name="Text 1"/>
          <p:cNvSpPr txBox="1"/>
          <p:nvPr/>
        </p:nvSpPr>
        <p:spPr>
          <a:xfrm>
            <a:off x="8229600" y="4773168"/>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13</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5440680" cy="914400"/>
        </p:xfrm>
        <a:graphic>
          <a:graphicData uri="http://schemas.openxmlformats.org/drawingml/2006/table">
            <a:tbl>
              <a:tblPr/>
              <a:tblGrid>
                <a:gridCol w="685800"/>
                <a:gridCol w="1874520"/>
                <a:gridCol w="594360"/>
                <a:gridCol w="594360"/>
                <a:gridCol w="868680"/>
                <a:gridCol w="822960"/>
              </a:tblGrid>
              <a:tr h="310896">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Rows</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1421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Comparison</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1421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b</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1421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c</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1421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p-value</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1421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Real gap?</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14213D"/>
                    </a:solidFill>
                  </a:tcPr>
                </a:tc>
              </a:tr>
              <a:tr h="310896">
                <a:tc>
                  <a:txBody>
                    <a:bodyPr/>
                    <a:lstStyle/>
                    <a:p>
                      <a:pPr algn="ctr" indent="0" marL="0">
                        <a:buNone/>
                      </a:pPr>
                      <a:r>
                        <a:rPr lang="en-US" sz="1050" dirty="0">
                          <a:solidFill>
                            <a:srgbClr val="1F2937"/>
                          </a:solidFill>
                          <a:latin typeface="Calibri" pitchFamily="34" charset="0"/>
                          <a:ea typeface="Calibri" pitchFamily="34" charset="-122"/>
                          <a:cs typeface="Calibri" pitchFamily="34" charset="-120"/>
                        </a:rPr>
                        <a:t>500</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CatBoost vs TabPFN</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050" dirty="0">
                          <a:solidFill>
                            <a:srgbClr val="1F2937"/>
                          </a:solidFill>
                          <a:latin typeface="Calibri" pitchFamily="34" charset="0"/>
                          <a:ea typeface="Calibri" pitchFamily="34" charset="-122"/>
                          <a:cs typeface="Calibri" pitchFamily="34" charset="-120"/>
                        </a:rPr>
                        <a:t>272</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050" dirty="0">
                          <a:solidFill>
                            <a:srgbClr val="1F2937"/>
                          </a:solidFill>
                          <a:latin typeface="Calibri" pitchFamily="34" charset="0"/>
                          <a:ea typeface="Calibri" pitchFamily="34" charset="-122"/>
                          <a:cs typeface="Calibri" pitchFamily="34" charset="-120"/>
                        </a:rPr>
                        <a:t>597</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050" dirty="0">
                          <a:solidFill>
                            <a:srgbClr val="1F2937"/>
                          </a:solidFill>
                          <a:latin typeface="Calibri" pitchFamily="34" charset="0"/>
                          <a:ea typeface="Calibri" pitchFamily="34" charset="-122"/>
                          <a:cs typeface="Calibri" pitchFamily="34" charset="-120"/>
                        </a:rPr>
                        <a:t>&lt; 0.0001</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050" b="1" dirty="0">
                          <a:solidFill>
                            <a:srgbClr val="8A5A00"/>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CE9C7"/>
                    </a:solidFill>
                  </a:tcPr>
                </a:tc>
              </a:tr>
              <a:tr h="310896">
                <a:tc>
                  <a:txBody>
                    <a:bodyPr/>
                    <a:lstStyle/>
                    <a:p>
                      <a:pPr algn="ctr" indent="0" marL="0">
                        <a:buNone/>
                      </a:pPr>
                      <a:r>
                        <a:rPr lang="en-US" sz="1050" dirty="0">
                          <a:solidFill>
                            <a:srgbClr val="1F2937"/>
                          </a:solidFill>
                          <a:latin typeface="Calibri" pitchFamily="34" charset="0"/>
                          <a:ea typeface="Calibri" pitchFamily="34" charset="-122"/>
                          <a:cs typeface="Calibri" pitchFamily="34" charset="-120"/>
                        </a:rPr>
                        <a:t>500</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CatBoost vs TabFM</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050" dirty="0">
                          <a:solidFill>
                            <a:srgbClr val="1F2937"/>
                          </a:solidFill>
                          <a:latin typeface="Calibri" pitchFamily="34" charset="0"/>
                          <a:ea typeface="Calibri" pitchFamily="34" charset="-122"/>
                          <a:cs typeface="Calibri" pitchFamily="34" charset="-120"/>
                        </a:rPr>
                        <a:t>280</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050" dirty="0">
                          <a:solidFill>
                            <a:srgbClr val="1F2937"/>
                          </a:solidFill>
                          <a:latin typeface="Calibri" pitchFamily="34" charset="0"/>
                          <a:ea typeface="Calibri" pitchFamily="34" charset="-122"/>
                          <a:cs typeface="Calibri" pitchFamily="34" charset="-120"/>
                        </a:rPr>
                        <a:t>603</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050" dirty="0">
                          <a:solidFill>
                            <a:srgbClr val="1F2937"/>
                          </a:solidFill>
                          <a:latin typeface="Calibri" pitchFamily="34" charset="0"/>
                          <a:ea typeface="Calibri" pitchFamily="34" charset="-122"/>
                          <a:cs typeface="Calibri" pitchFamily="34" charset="-120"/>
                        </a:rPr>
                        <a:t>&lt; 0.0001</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050" b="1" dirty="0">
                          <a:solidFill>
                            <a:srgbClr val="8A5A00"/>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CE9C7"/>
                    </a:solidFill>
                  </a:tcPr>
                </a:tc>
              </a:tr>
              <a:tr h="310896">
                <a:tc>
                  <a:txBody>
                    <a:bodyPr/>
                    <a:lstStyle/>
                    <a:p>
                      <a:pPr algn="ctr" indent="0" marL="0">
                        <a:buNone/>
                      </a:pPr>
                      <a:r>
                        <a:rPr lang="en-US" sz="1050" dirty="0">
                          <a:solidFill>
                            <a:srgbClr val="1F2937"/>
                          </a:solidFill>
                          <a:latin typeface="Calibri" pitchFamily="34" charset="0"/>
                          <a:ea typeface="Calibri" pitchFamily="34" charset="-122"/>
                          <a:cs typeface="Calibri" pitchFamily="34" charset="-120"/>
                        </a:rPr>
                        <a:t>500</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TabPFN vs TabFM</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050" dirty="0">
                          <a:solidFill>
                            <a:srgbClr val="1F2937"/>
                          </a:solidFill>
                          <a:latin typeface="Calibri" pitchFamily="34" charset="0"/>
                          <a:ea typeface="Calibri" pitchFamily="34" charset="-122"/>
                          <a:cs typeface="Calibri" pitchFamily="34" charset="-120"/>
                        </a:rPr>
                        <a:t>71</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050" dirty="0">
                          <a:solidFill>
                            <a:srgbClr val="1F2937"/>
                          </a:solidFill>
                          <a:latin typeface="Calibri" pitchFamily="34" charset="0"/>
                          <a:ea typeface="Calibri" pitchFamily="34" charset="-122"/>
                          <a:cs typeface="Calibri" pitchFamily="34" charset="-120"/>
                        </a:rPr>
                        <a:t>69</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050" dirty="0">
                          <a:solidFill>
                            <a:srgbClr val="1F2937"/>
                          </a:solidFill>
                          <a:latin typeface="Calibri" pitchFamily="34" charset="0"/>
                          <a:ea typeface="Calibri" pitchFamily="34" charset="-122"/>
                          <a:cs typeface="Calibri" pitchFamily="34" charset="-120"/>
                        </a:rPr>
                        <a:t>0.93</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050" b="1" dirty="0">
                          <a:solidFill>
                            <a:srgbClr val="1B6B34"/>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DDF1E3"/>
                    </a:solidFill>
                  </a:tcPr>
                </a:tc>
              </a:tr>
              <a:tr h="310896">
                <a:tc>
                  <a:txBody>
                    <a:bodyPr/>
                    <a:lstStyle/>
                    <a:p>
                      <a:pPr algn="ctr" indent="0" marL="0">
                        <a:buNone/>
                      </a:pPr>
                      <a:r>
                        <a:rPr lang="en-US" sz="1050" dirty="0">
                          <a:solidFill>
                            <a:srgbClr val="1F2937"/>
                          </a:solidFill>
                          <a:latin typeface="Calibri" pitchFamily="34" charset="0"/>
                          <a:ea typeface="Calibri" pitchFamily="34" charset="-122"/>
                          <a:cs typeface="Calibri" pitchFamily="34" charset="-120"/>
                        </a:rPr>
                        <a:t>2,000</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CatBoost vs TabPFN</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050" dirty="0">
                          <a:solidFill>
                            <a:srgbClr val="1F2937"/>
                          </a:solidFill>
                          <a:latin typeface="Calibri" pitchFamily="34" charset="0"/>
                          <a:ea typeface="Calibri" pitchFamily="34" charset="-122"/>
                          <a:cs typeface="Calibri" pitchFamily="34" charset="-120"/>
                        </a:rPr>
                        <a:t>194</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050" dirty="0">
                          <a:solidFill>
                            <a:srgbClr val="1F2937"/>
                          </a:solidFill>
                          <a:latin typeface="Calibri" pitchFamily="34" charset="0"/>
                          <a:ea typeface="Calibri" pitchFamily="34" charset="-122"/>
                          <a:cs typeface="Calibri" pitchFamily="34" charset="-120"/>
                        </a:rPr>
                        <a:t>337</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050" dirty="0">
                          <a:solidFill>
                            <a:srgbClr val="1F2937"/>
                          </a:solidFill>
                          <a:latin typeface="Calibri" pitchFamily="34" charset="0"/>
                          <a:ea typeface="Calibri" pitchFamily="34" charset="-122"/>
                          <a:cs typeface="Calibri" pitchFamily="34" charset="-120"/>
                        </a:rPr>
                        <a:t>&lt; 0.0001</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050" b="1" dirty="0">
                          <a:solidFill>
                            <a:srgbClr val="8A5A00"/>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CE9C7"/>
                    </a:solidFill>
                  </a:tcPr>
                </a:tc>
              </a:tr>
              <a:tr h="310896">
                <a:tc>
                  <a:txBody>
                    <a:bodyPr/>
                    <a:lstStyle/>
                    <a:p>
                      <a:pPr algn="ctr" indent="0" marL="0">
                        <a:buNone/>
                      </a:pPr>
                      <a:r>
                        <a:rPr lang="en-US" sz="1050" dirty="0">
                          <a:solidFill>
                            <a:srgbClr val="1F2937"/>
                          </a:solidFill>
                          <a:latin typeface="Calibri" pitchFamily="34" charset="0"/>
                          <a:ea typeface="Calibri" pitchFamily="34" charset="-122"/>
                          <a:cs typeface="Calibri" pitchFamily="34" charset="-120"/>
                        </a:rPr>
                        <a:t>2,000</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CatBoost vs TabFM</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050" dirty="0">
                          <a:solidFill>
                            <a:srgbClr val="1F2937"/>
                          </a:solidFill>
                          <a:latin typeface="Calibri" pitchFamily="34" charset="0"/>
                          <a:ea typeface="Calibri" pitchFamily="34" charset="-122"/>
                          <a:cs typeface="Calibri" pitchFamily="34" charset="-120"/>
                        </a:rPr>
                        <a:t>196</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050" dirty="0">
                          <a:solidFill>
                            <a:srgbClr val="1F2937"/>
                          </a:solidFill>
                          <a:latin typeface="Calibri" pitchFamily="34" charset="0"/>
                          <a:ea typeface="Calibri" pitchFamily="34" charset="-122"/>
                          <a:cs typeface="Calibri" pitchFamily="34" charset="-120"/>
                        </a:rPr>
                        <a:t>346</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050" dirty="0">
                          <a:solidFill>
                            <a:srgbClr val="1F2937"/>
                          </a:solidFill>
                          <a:latin typeface="Calibri" pitchFamily="34" charset="0"/>
                          <a:ea typeface="Calibri" pitchFamily="34" charset="-122"/>
                          <a:cs typeface="Calibri" pitchFamily="34" charset="-120"/>
                        </a:rPr>
                        <a:t>&lt; 0.0001</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050" b="1" dirty="0">
                          <a:solidFill>
                            <a:srgbClr val="8A5A00"/>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FCE9C7"/>
                    </a:solidFill>
                  </a:tcPr>
                </a:tc>
              </a:tr>
              <a:tr h="310896">
                <a:tc>
                  <a:txBody>
                    <a:bodyPr/>
                    <a:lstStyle/>
                    <a:p>
                      <a:pPr algn="ctr" indent="0" marL="0">
                        <a:buNone/>
                      </a:pPr>
                      <a:r>
                        <a:rPr lang="en-US" sz="1050" dirty="0">
                          <a:solidFill>
                            <a:srgbClr val="1F2937"/>
                          </a:solidFill>
                          <a:latin typeface="Calibri" pitchFamily="34" charset="0"/>
                          <a:ea typeface="Calibri" pitchFamily="34" charset="-122"/>
                          <a:cs typeface="Calibri" pitchFamily="34" charset="-120"/>
                        </a:rPr>
                        <a:t>2,000</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TabPFN vs TabFM</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050" dirty="0">
                          <a:solidFill>
                            <a:srgbClr val="1F2937"/>
                          </a:solidFill>
                          <a:latin typeface="Calibri" pitchFamily="34" charset="0"/>
                          <a:ea typeface="Calibri" pitchFamily="34" charset="-122"/>
                          <a:cs typeface="Calibri" pitchFamily="34" charset="-120"/>
                        </a:rPr>
                        <a:t>60</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050" dirty="0">
                          <a:solidFill>
                            <a:srgbClr val="1F2937"/>
                          </a:solidFill>
                          <a:latin typeface="Calibri" pitchFamily="34" charset="0"/>
                          <a:ea typeface="Calibri" pitchFamily="34" charset="-122"/>
                          <a:cs typeface="Calibri" pitchFamily="34" charset="-120"/>
                        </a:rPr>
                        <a:t>67</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050" dirty="0">
                          <a:solidFill>
                            <a:srgbClr val="1F2937"/>
                          </a:solidFill>
                          <a:latin typeface="Calibri" pitchFamily="34" charset="0"/>
                          <a:ea typeface="Calibri" pitchFamily="34" charset="-122"/>
                          <a:cs typeface="Calibri" pitchFamily="34" charset="-120"/>
                        </a:rPr>
                        <a:t>0.59</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050" b="1" dirty="0">
                          <a:solidFill>
                            <a:srgbClr val="1B6B34"/>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DDF1E3"/>
                    </a:solidFill>
                  </a:tcPr>
                </a:tc>
              </a:tr>
              <a:tr h="310896">
                <a:tc>
                  <a:txBody>
                    <a:bodyPr/>
                    <a:lstStyle/>
                    <a:p>
                      <a:pPr algn="ctr" indent="0" marL="0">
                        <a:buNone/>
                      </a:pPr>
                      <a:r>
                        <a:rPr lang="en-US" sz="1050" dirty="0">
                          <a:solidFill>
                            <a:srgbClr val="1F2937"/>
                          </a:solidFill>
                          <a:latin typeface="Calibri" pitchFamily="34" charset="0"/>
                          <a:ea typeface="Calibri" pitchFamily="34" charset="-122"/>
                          <a:cs typeface="Calibri" pitchFamily="34" charset="-120"/>
                        </a:rPr>
                        <a:t>Full</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CatBoost vs TabPFN</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050" dirty="0">
                          <a:solidFill>
                            <a:srgbClr val="1F2937"/>
                          </a:solidFill>
                          <a:latin typeface="Calibri" pitchFamily="34" charset="0"/>
                          <a:ea typeface="Calibri" pitchFamily="34" charset="-122"/>
                          <a:cs typeface="Calibri" pitchFamily="34" charset="-120"/>
                        </a:rPr>
                        <a:t>111</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050" dirty="0">
                          <a:solidFill>
                            <a:srgbClr val="1F2937"/>
                          </a:solidFill>
                          <a:latin typeface="Calibri" pitchFamily="34" charset="0"/>
                          <a:ea typeface="Calibri" pitchFamily="34" charset="-122"/>
                          <a:cs typeface="Calibri" pitchFamily="34" charset="-120"/>
                        </a:rPr>
                        <a:t>129</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050" dirty="0">
                          <a:solidFill>
                            <a:srgbClr val="1F2937"/>
                          </a:solidFill>
                          <a:latin typeface="Calibri" pitchFamily="34" charset="0"/>
                          <a:ea typeface="Calibri" pitchFamily="34" charset="-122"/>
                          <a:cs typeface="Calibri" pitchFamily="34" charset="-120"/>
                        </a:rPr>
                        <a:t>0.27</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050" b="1" dirty="0">
                          <a:solidFill>
                            <a:srgbClr val="1B6B34"/>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DDF1E3"/>
                    </a:solidFill>
                  </a:tcPr>
                </a:tc>
              </a:tr>
              <a:tr h="310896">
                <a:tc>
                  <a:txBody>
                    <a:bodyPr/>
                    <a:lstStyle/>
                    <a:p>
                      <a:pPr algn="ctr" indent="0" marL="0">
                        <a:buNone/>
                      </a:pPr>
                      <a:r>
                        <a:rPr lang="en-US" sz="1050" dirty="0">
                          <a:solidFill>
                            <a:srgbClr val="1F2937"/>
                          </a:solidFill>
                          <a:latin typeface="Calibri" pitchFamily="34" charset="0"/>
                          <a:ea typeface="Calibri" pitchFamily="34" charset="-122"/>
                          <a:cs typeface="Calibri" pitchFamily="34" charset="-120"/>
                        </a:rPr>
                        <a:t>Full</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CatBoost vs TabFM</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050" dirty="0">
                          <a:solidFill>
                            <a:srgbClr val="1F2937"/>
                          </a:solidFill>
                          <a:latin typeface="Calibri" pitchFamily="34" charset="0"/>
                          <a:ea typeface="Calibri" pitchFamily="34" charset="-122"/>
                          <a:cs typeface="Calibri" pitchFamily="34" charset="-120"/>
                        </a:rPr>
                        <a:t>114</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050" dirty="0">
                          <a:solidFill>
                            <a:srgbClr val="1F2937"/>
                          </a:solidFill>
                          <a:latin typeface="Calibri" pitchFamily="34" charset="0"/>
                          <a:ea typeface="Calibri" pitchFamily="34" charset="-122"/>
                          <a:cs typeface="Calibri" pitchFamily="34" charset="-120"/>
                        </a:rPr>
                        <a:t>134</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050" dirty="0">
                          <a:solidFill>
                            <a:srgbClr val="1F2937"/>
                          </a:solidFill>
                          <a:latin typeface="Calibri" pitchFamily="34" charset="0"/>
                          <a:ea typeface="Calibri" pitchFamily="34" charset="-122"/>
                          <a:cs typeface="Calibri" pitchFamily="34" charset="-120"/>
                        </a:rPr>
                        <a:t>0.23</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050" b="1" dirty="0">
                          <a:solidFill>
                            <a:srgbClr val="1B6B34"/>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DDF1E3"/>
                    </a:solidFill>
                  </a:tcPr>
                </a:tc>
              </a:tr>
              <a:tr h="310896">
                <a:tc>
                  <a:txBody>
                    <a:bodyPr/>
                    <a:lstStyle/>
                    <a:p>
                      <a:pPr algn="ctr" indent="0" marL="0">
                        <a:buNone/>
                      </a:pPr>
                      <a:r>
                        <a:rPr lang="en-US" sz="1050" dirty="0">
                          <a:solidFill>
                            <a:srgbClr val="1F2937"/>
                          </a:solidFill>
                          <a:latin typeface="Calibri" pitchFamily="34" charset="0"/>
                          <a:ea typeface="Calibri" pitchFamily="34" charset="-122"/>
                          <a:cs typeface="Calibri" pitchFamily="34" charset="-120"/>
                        </a:rPr>
                        <a:t>Full</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l" indent="0" marL="0">
                        <a:buNone/>
                      </a:pPr>
                      <a:r>
                        <a:rPr lang="en-US" sz="1050" dirty="0">
                          <a:solidFill>
                            <a:srgbClr val="1F2937"/>
                          </a:solidFill>
                          <a:latin typeface="Calibri" pitchFamily="34" charset="0"/>
                          <a:ea typeface="Calibri" pitchFamily="34" charset="-122"/>
                          <a:cs typeface="Calibri" pitchFamily="34" charset="-120"/>
                        </a:rPr>
                        <a:t>TabPFN vs TabFM</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050" dirty="0">
                          <a:solidFill>
                            <a:srgbClr val="1F2937"/>
                          </a:solidFill>
                          <a:latin typeface="Calibri" pitchFamily="34" charset="0"/>
                          <a:ea typeface="Calibri" pitchFamily="34" charset="-122"/>
                          <a:cs typeface="Calibri" pitchFamily="34" charset="-120"/>
                        </a:rPr>
                        <a:t>33</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050" dirty="0">
                          <a:solidFill>
                            <a:srgbClr val="1F2937"/>
                          </a:solidFill>
                          <a:latin typeface="Calibri" pitchFamily="34" charset="0"/>
                          <a:ea typeface="Calibri" pitchFamily="34" charset="-122"/>
                          <a:cs typeface="Calibri" pitchFamily="34" charset="-120"/>
                        </a:rPr>
                        <a:t>35</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050" dirty="0">
                          <a:solidFill>
                            <a:srgbClr val="1F2937"/>
                          </a:solidFill>
                          <a:latin typeface="Calibri" pitchFamily="34" charset="0"/>
                          <a:ea typeface="Calibri" pitchFamily="34" charset="-122"/>
                          <a:cs typeface="Calibri" pitchFamily="34" charset="-120"/>
                        </a:rPr>
                        <a:t>0.90</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050" b="1" dirty="0">
                          <a:solidFill>
                            <a:srgbClr val="1B6B34"/>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DDF1E3"/>
                    </a:solidFill>
                  </a:tcPr>
                </a:tc>
              </a:tr>
            </a:tbl>
          </a:graphicData>
        </a:graphic>
      </p:graphicFrame>
      <p:sp>
        <p:nvSpPr>
          <p:cNvPr id="6" name="Shape 2"/>
          <p:cNvSpPr/>
          <p:nvPr/>
        </p:nvSpPr>
        <p:spPr>
          <a:xfrm>
            <a:off x="6126480" y="1188720"/>
            <a:ext cx="2560320" cy="3429000"/>
          </a:xfrm>
          <a:prstGeom prst="roundRect">
            <a:avLst>
              <a:gd name="adj" fmla="val 2857"/>
            </a:avLst>
          </a:prstGeom>
          <a:solidFill>
            <a:srgbClr val="14213D"/>
          </a:solidFill>
          <a:ln w="12700">
            <a:solidFill>
              <a:srgbClr val="14213D"/>
            </a:solidFill>
            <a:prstDash val="solid"/>
          </a:ln>
          <a:effectLst>
            <a:outerShdw sx="100000" sy="100000" kx="0" ky="0" algn="bl" rotWithShape="0" blurRad="76200" dist="25400" dir="5400000">
              <a:srgbClr val="000000">
                <a:alpha val="12000"/>
              </a:srgbClr>
            </a:outerShdw>
          </a:effectLst>
        </p:spPr>
      </p:sp>
      <p:sp>
        <p:nvSpPr>
          <p:cNvPr id="7" name="Text 3"/>
          <p:cNvSpPr txBox="1"/>
          <p:nvPr/>
        </p:nvSpPr>
        <p:spPr>
          <a:xfrm>
            <a:off x="6309360" y="1325880"/>
            <a:ext cx="2194560" cy="274320"/>
          </a:xfrm>
          <a:prstGeom prst="rect">
            <a:avLst/>
          </a:prstGeom>
          <a:noFill/>
          <a:ln/>
        </p:spPr>
        <p:txBody>
          <a:bodyPr wrap="square" lIns="0" tIns="0" rIns="0" bIns="0" rtlCol="0" anchor="t"/>
          <a:lstStyle/>
          <a:p>
            <a:pPr indent="0" marL="0">
              <a:buNone/>
            </a:pPr>
            <a:r>
              <a:rPr lang="en-US" sz="1600" b="1" dirty="0">
                <a:solidFill>
                  <a:srgbClr val="E9A23B"/>
                </a:solidFill>
                <a:latin typeface="Cambria" pitchFamily="34" charset="0"/>
                <a:ea typeface="Cambria" pitchFamily="34" charset="-122"/>
                <a:cs typeface="Cambria" pitchFamily="34" charset="-120"/>
              </a:rPr>
              <a:t>What it means</a:t>
            </a:r>
            <a:endParaRPr lang="en-US" sz="1600" dirty="0"/>
          </a:p>
        </p:txBody>
      </p:sp>
      <p:sp>
        <p:nvSpPr>
          <p:cNvPr id="8" name="Text 4"/>
          <p:cNvSpPr txBox="1"/>
          <p:nvPr/>
        </p:nvSpPr>
        <p:spPr>
          <a:xfrm>
            <a:off x="6309360" y="1691640"/>
            <a:ext cx="2240280" cy="265176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500 and 2,000 rows: both foundation models beat CatBoost (p &lt; 0.0001)</a:t>
            </a:r>
            <a:endParaRPr lang="en-US" sz="1200" dirty="0"/>
          </a:p>
          <a:p>
            <a:pPr marL="342900" indent="-342900">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All rows: no significant difference (p = 0.27 and 0.23)</a:t>
            </a:r>
            <a:endParaRPr lang="en-US" sz="1200" dirty="0"/>
          </a:p>
          <a:p>
            <a:pPr marL="342900" indent="-342900">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TabPFN and TabFM: never different</a:t>
            </a:r>
            <a:endParaRPr lang="en-US" sz="1200" dirty="0"/>
          </a:p>
        </p:txBody>
      </p:sp>
      <p:sp>
        <p:nvSpPr>
          <p:cNvPr id="9" name="Text 5"/>
          <p:cNvSpPr txBox="1"/>
          <p:nvPr/>
        </p:nvSpPr>
        <p:spPr>
          <a:xfrm>
            <a:off x="457200" y="4434840"/>
            <a:ext cx="5440680" cy="228600"/>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b = only first model right, c = only second model right</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777240"/>
          </a:xfrm>
          <a:prstGeom prst="rect">
            <a:avLst/>
          </a:prstGeom>
          <a:noFill/>
          <a:ln/>
        </p:spPr>
        <p:txBody>
          <a:bodyPr wrap="square" lIns="0" tIns="0" rIns="0" bIns="0" rtlCol="0" anchor="t"/>
          <a:lstStyle/>
          <a:p>
            <a:pPr indent="0" marL="0">
              <a:buNone/>
            </a:pPr>
            <a:r>
              <a:rPr lang="en-US" sz="2500" b="1" dirty="0">
                <a:solidFill>
                  <a:srgbClr val="14213D"/>
                </a:solidFill>
                <a:latin typeface="Cambria" pitchFamily="34" charset="0"/>
                <a:ea typeface="Cambria" pitchFamily="34" charset="-122"/>
                <a:cs typeface="Cambria" pitchFamily="34" charset="-120"/>
              </a:rPr>
              <a:t>When models are wrong, they miss by one tier only</a:t>
            </a:r>
            <a:endParaRPr lang="en-US" sz="2500" dirty="0"/>
          </a:p>
        </p:txBody>
      </p:sp>
      <p:sp>
        <p:nvSpPr>
          <p:cNvPr id="3" name="Text 1"/>
          <p:cNvSpPr txBox="1"/>
          <p:nvPr/>
        </p:nvSpPr>
        <p:spPr>
          <a:xfrm>
            <a:off x="8229600" y="4773168"/>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14</a:t>
            </a:r>
            <a:endParaRPr lang="en-US" sz="1000" dirty="0"/>
          </a:p>
        </p:txBody>
      </p:sp>
      <p:pic>
        <p:nvPicPr>
          <p:cNvPr id="5" name="Image 0" descr="cm_TabPFN_Full.png">    </p:cNvPr>
          <p:cNvPicPr>
            <a:picLocks noChangeAspect="1"/>
          </p:cNvPicPr>
          <p:nvPr/>
        </p:nvPicPr>
        <p:blipFill>
          <a:blip r:embed="rId1"/>
          <a:stretch>
            <a:fillRect/>
          </a:stretch>
        </p:blipFill>
        <p:spPr>
          <a:xfrm>
            <a:off x="457200" y="1188720"/>
            <a:ext cx="3703320" cy="3291840"/>
          </a:xfrm>
          <a:prstGeom prst="rect">
            <a:avLst/>
          </a:prstGeom>
        </p:spPr>
      </p:pic>
      <p:sp>
        <p:nvSpPr>
          <p:cNvPr id="6" name="Text 2"/>
          <p:cNvSpPr txBox="1"/>
          <p:nvPr/>
        </p:nvSpPr>
        <p:spPr>
          <a:xfrm>
            <a:off x="457200" y="4480560"/>
            <a:ext cx="3703320" cy="228600"/>
          </a:xfrm>
          <a:prstGeom prst="rect">
            <a:avLst/>
          </a:prstGeom>
          <a:noFill/>
          <a:ln/>
        </p:spPr>
        <p:txBody>
          <a:bodyPr wrap="square" lIns="0" tIns="0" rIns="0" bIns="0" rtlCol="0" anchor="t"/>
          <a:lstStyle/>
          <a:p>
            <a:pPr algn="ctr" indent="0" marL="0">
              <a:buNone/>
            </a:pPr>
            <a:r>
              <a:rPr lang="en-US" sz="1050" dirty="0">
                <a:solidFill>
                  <a:srgbClr val="6B7280"/>
                </a:solidFill>
                <a:latin typeface="Calibri" pitchFamily="34" charset="0"/>
                <a:ea typeface="Calibri" pitchFamily="34" charset="-122"/>
                <a:cs typeface="Calibri" pitchFamily="34" charset="-120"/>
              </a:rPr>
              <a:t>TabPFN, full training data</a:t>
            </a:r>
            <a:endParaRPr lang="en-US" sz="1050" dirty="0"/>
          </a:p>
        </p:txBody>
      </p:sp>
      <p:sp>
        <p:nvSpPr>
          <p:cNvPr id="7" name="Shape 3"/>
          <p:cNvSpPr/>
          <p:nvPr/>
        </p:nvSpPr>
        <p:spPr>
          <a:xfrm>
            <a:off x="4526280" y="1234440"/>
            <a:ext cx="4160520" cy="960120"/>
          </a:xfrm>
          <a:prstGeom prst="roundRect">
            <a:avLst>
              <a:gd name="adj" fmla="val 7619"/>
            </a:avLst>
          </a:prstGeom>
          <a:solidFill>
            <a:srgbClr val="F3F5F9"/>
          </a:solidFill>
          <a:ln w="12700">
            <a:solidFill>
              <a:srgbClr val="F3F5F9"/>
            </a:solidFill>
            <a:prstDash val="solid"/>
          </a:ln>
        </p:spPr>
      </p:sp>
      <p:sp>
        <p:nvSpPr>
          <p:cNvPr id="8" name="Text 4"/>
          <p:cNvSpPr txBox="1"/>
          <p:nvPr/>
        </p:nvSpPr>
        <p:spPr>
          <a:xfrm>
            <a:off x="4663440" y="1325880"/>
            <a:ext cx="2011680" cy="777240"/>
          </a:xfrm>
          <a:prstGeom prst="rect">
            <a:avLst/>
          </a:prstGeom>
          <a:noFill/>
          <a:ln/>
        </p:spPr>
        <p:txBody>
          <a:bodyPr wrap="square" lIns="0" tIns="0" rIns="0" bIns="0" rtlCol="0" anchor="ctr"/>
          <a:lstStyle/>
          <a:p>
            <a:pPr indent="0" marL="0">
              <a:buNone/>
            </a:pPr>
            <a:r>
              <a:rPr lang="en-US" sz="2100" b="1" dirty="0">
                <a:solidFill>
                  <a:srgbClr val="1F8A8A"/>
                </a:solidFill>
                <a:latin typeface="Cambria" pitchFamily="34" charset="0"/>
                <a:ea typeface="Cambria" pitchFamily="34" charset="-122"/>
                <a:cs typeface="Cambria" pitchFamily="34" charset="-120"/>
              </a:rPr>
              <a:t>922 of 924</a:t>
            </a:r>
            <a:endParaRPr lang="en-US" sz="2100" dirty="0"/>
          </a:p>
        </p:txBody>
      </p:sp>
      <p:sp>
        <p:nvSpPr>
          <p:cNvPr id="9" name="Text 5"/>
          <p:cNvSpPr txBox="1"/>
          <p:nvPr/>
        </p:nvSpPr>
        <p:spPr>
          <a:xfrm>
            <a:off x="6720840" y="1325880"/>
            <a:ext cx="1874520" cy="77724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errors are between neighbouring tiers</a:t>
            </a:r>
            <a:endParaRPr lang="en-US" sz="1200" dirty="0"/>
          </a:p>
        </p:txBody>
      </p:sp>
      <p:sp>
        <p:nvSpPr>
          <p:cNvPr id="10" name="Shape 6"/>
          <p:cNvSpPr/>
          <p:nvPr/>
        </p:nvSpPr>
        <p:spPr>
          <a:xfrm>
            <a:off x="4526280" y="2331720"/>
            <a:ext cx="4160520" cy="960120"/>
          </a:xfrm>
          <a:prstGeom prst="roundRect">
            <a:avLst>
              <a:gd name="adj" fmla="val 7619"/>
            </a:avLst>
          </a:prstGeom>
          <a:solidFill>
            <a:srgbClr val="F3F5F9"/>
          </a:solidFill>
          <a:ln w="12700">
            <a:solidFill>
              <a:srgbClr val="F3F5F9"/>
            </a:solidFill>
            <a:prstDash val="solid"/>
          </a:ln>
        </p:spPr>
      </p:sp>
      <p:sp>
        <p:nvSpPr>
          <p:cNvPr id="11" name="Text 7"/>
          <p:cNvSpPr txBox="1"/>
          <p:nvPr/>
        </p:nvSpPr>
        <p:spPr>
          <a:xfrm>
            <a:off x="4663440" y="2423160"/>
            <a:ext cx="2011680" cy="777240"/>
          </a:xfrm>
          <a:prstGeom prst="rect">
            <a:avLst/>
          </a:prstGeom>
          <a:noFill/>
          <a:ln/>
        </p:spPr>
        <p:txBody>
          <a:bodyPr wrap="square" lIns="0" tIns="0" rIns="0" bIns="0" rtlCol="0" anchor="ctr"/>
          <a:lstStyle/>
          <a:p>
            <a:pPr indent="0" marL="0">
              <a:buNone/>
            </a:pPr>
            <a:r>
              <a:rPr lang="en-US" sz="2100" b="1" dirty="0">
                <a:solidFill>
                  <a:srgbClr val="2EA44F"/>
                </a:solidFill>
                <a:latin typeface="Cambria" pitchFamily="34" charset="0"/>
                <a:ea typeface="Cambria" pitchFamily="34" charset="-122"/>
                <a:cs typeface="Cambria" pitchFamily="34" charset="-120"/>
              </a:rPr>
              <a:t>2 and 0</a:t>
            </a:r>
            <a:endParaRPr lang="en-US" sz="2100" dirty="0"/>
          </a:p>
        </p:txBody>
      </p:sp>
      <p:sp>
        <p:nvSpPr>
          <p:cNvPr id="12" name="Text 8"/>
          <p:cNvSpPr txBox="1"/>
          <p:nvPr/>
        </p:nvSpPr>
        <p:spPr>
          <a:xfrm>
            <a:off x="6720840" y="2423160"/>
            <a:ext cx="1874520" cy="77724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Low called High, and High called Low</a:t>
            </a:r>
            <a:endParaRPr lang="en-US" sz="1200" dirty="0"/>
          </a:p>
        </p:txBody>
      </p:sp>
      <p:sp>
        <p:nvSpPr>
          <p:cNvPr id="13" name="Shape 9"/>
          <p:cNvSpPr/>
          <p:nvPr/>
        </p:nvSpPr>
        <p:spPr>
          <a:xfrm>
            <a:off x="4526280" y="3429000"/>
            <a:ext cx="4160520" cy="960120"/>
          </a:xfrm>
          <a:prstGeom prst="roundRect">
            <a:avLst>
              <a:gd name="adj" fmla="val 7619"/>
            </a:avLst>
          </a:prstGeom>
          <a:solidFill>
            <a:srgbClr val="F3F5F9"/>
          </a:solidFill>
          <a:ln w="12700">
            <a:solidFill>
              <a:srgbClr val="F3F5F9"/>
            </a:solidFill>
            <a:prstDash val="solid"/>
          </a:ln>
        </p:spPr>
      </p:sp>
      <p:sp>
        <p:nvSpPr>
          <p:cNvPr id="14" name="Text 10"/>
          <p:cNvSpPr txBox="1"/>
          <p:nvPr/>
        </p:nvSpPr>
        <p:spPr>
          <a:xfrm>
            <a:off x="4663440" y="3520440"/>
            <a:ext cx="2011680" cy="777240"/>
          </a:xfrm>
          <a:prstGeom prst="rect">
            <a:avLst/>
          </a:prstGeom>
          <a:noFill/>
          <a:ln/>
        </p:spPr>
        <p:txBody>
          <a:bodyPr wrap="square" lIns="0" tIns="0" rIns="0" bIns="0" rtlCol="0" anchor="ctr"/>
          <a:lstStyle/>
          <a:p>
            <a:pPr indent="0" marL="0">
              <a:buNone/>
            </a:pPr>
            <a:r>
              <a:rPr lang="en-US" sz="2100" b="1" dirty="0">
                <a:solidFill>
                  <a:srgbClr val="E9A23B"/>
                </a:solidFill>
                <a:latin typeface="Cambria" pitchFamily="34" charset="0"/>
                <a:ea typeface="Cambria" pitchFamily="34" charset="-122"/>
                <a:cs typeface="Cambria" pitchFamily="34" charset="-120"/>
              </a:rPr>
              <a:t>0.71</a:t>
            </a:r>
            <a:endParaRPr lang="en-US" sz="2100" dirty="0"/>
          </a:p>
        </p:txBody>
      </p:sp>
      <p:sp>
        <p:nvSpPr>
          <p:cNvPr id="15" name="Text 11"/>
          <p:cNvSpPr txBox="1"/>
          <p:nvPr/>
        </p:nvSpPr>
        <p:spPr>
          <a:xfrm>
            <a:off x="6720840" y="3520440"/>
            <a:ext cx="1874520" cy="77724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F1 of the Moderate tier: the hardest to classify</a:t>
            </a:r>
            <a:endParaRPr lang="en-US" sz="1200" dirty="0"/>
          </a:p>
        </p:txBody>
      </p:sp>
      <p:sp>
        <p:nvSpPr>
          <p:cNvPr id="16" name="Text 12"/>
          <p:cNvSpPr txBox="1"/>
          <p:nvPr/>
        </p:nvSpPr>
        <p:spPr>
          <a:xfrm>
            <a:off x="4526280" y="4526280"/>
            <a:ext cx="4160520" cy="228600"/>
          </a:xfrm>
          <a:prstGeom prst="rect">
            <a:avLst/>
          </a:prstGeom>
          <a:noFill/>
          <a:ln/>
        </p:spPr>
        <p:txBody>
          <a:bodyPr wrap="square" lIns="0" tIns="0" rIns="0" bIns="0" rtlCol="0" anchor="t"/>
          <a:lstStyle/>
          <a:p>
            <a:pPr indent="0" marL="0">
              <a:buNone/>
            </a:pPr>
            <a:r>
              <a:rPr lang="en-US" sz="1100" i="1" dirty="0">
                <a:solidFill>
                  <a:srgbClr val="6B7280"/>
                </a:solidFill>
                <a:latin typeface="Calibri" pitchFamily="34" charset="0"/>
                <a:ea typeface="Calibri" pitchFamily="34" charset="-122"/>
                <a:cs typeface="Calibri" pitchFamily="34" charset="-120"/>
              </a:rPr>
              <a:t>All three models show the same pattern.</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777240"/>
          </a:xfrm>
          <a:prstGeom prst="rect">
            <a:avLst/>
          </a:prstGeom>
          <a:noFill/>
          <a:ln/>
        </p:spPr>
        <p:txBody>
          <a:bodyPr wrap="square" lIns="0" tIns="0" rIns="0" bIns="0" rtlCol="0" anchor="t"/>
          <a:lstStyle/>
          <a:p>
            <a:pPr indent="0" marL="0">
              <a:buNone/>
            </a:pPr>
            <a:r>
              <a:rPr lang="en-US" sz="2500" b="1" dirty="0">
                <a:solidFill>
                  <a:srgbClr val="14213D"/>
                </a:solidFill>
                <a:latin typeface="Cambria" pitchFamily="34" charset="0"/>
                <a:ea typeface="Cambria" pitchFamily="34" charset="-122"/>
                <a:cs typeface="Cambria" pitchFamily="34" charset="-120"/>
              </a:rPr>
              <a:t>Three more checks: probabilities, shared mistakes, fairness</a:t>
            </a:r>
            <a:endParaRPr lang="en-US" sz="2500" dirty="0"/>
          </a:p>
        </p:txBody>
      </p:sp>
      <p:sp>
        <p:nvSpPr>
          <p:cNvPr id="3" name="Text 1"/>
          <p:cNvSpPr txBox="1"/>
          <p:nvPr/>
        </p:nvSpPr>
        <p:spPr>
          <a:xfrm>
            <a:off x="8229600" y="4773168"/>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15</a:t>
            </a:r>
            <a:endParaRPr lang="en-US" sz="1000" dirty="0"/>
          </a:p>
        </p:txBody>
      </p:sp>
      <p:sp>
        <p:nvSpPr>
          <p:cNvPr id="5" name="Shape 2"/>
          <p:cNvSpPr/>
          <p:nvPr/>
        </p:nvSpPr>
        <p:spPr>
          <a:xfrm>
            <a:off x="457200" y="1234440"/>
            <a:ext cx="2606040" cy="3291840"/>
          </a:xfrm>
          <a:prstGeom prst="roundRect">
            <a:avLst>
              <a:gd name="adj" fmla="val 2807"/>
            </a:avLst>
          </a:prstGeom>
          <a:solidFill>
            <a:srgbClr val="F3F5F9"/>
          </a:solidFill>
          <a:ln w="12700">
            <a:solidFill>
              <a:srgbClr val="F3F5F9"/>
            </a:solidFill>
            <a:prstDash val="solid"/>
          </a:ln>
        </p:spPr>
      </p:sp>
      <p:sp>
        <p:nvSpPr>
          <p:cNvPr id="6" name="Shape 3"/>
          <p:cNvSpPr/>
          <p:nvPr/>
        </p:nvSpPr>
        <p:spPr>
          <a:xfrm>
            <a:off x="685800" y="1417320"/>
            <a:ext cx="548640" cy="548640"/>
          </a:xfrm>
          <a:prstGeom prst="ellipse">
            <a:avLst/>
          </a:prstGeom>
          <a:solidFill>
            <a:srgbClr val="2F6FD6"/>
          </a:solidFill>
          <a:ln w="12700">
            <a:solidFill>
              <a:srgbClr val="2F6FD6"/>
            </a:solidFill>
            <a:prstDash val="solid"/>
          </a:ln>
        </p:spPr>
      </p:sp>
      <p:pic>
        <p:nvPicPr>
          <p:cNvPr id="7" name="Image 0" descr="preencoded.png">    </p:cNvPr>
          <p:cNvPicPr>
            <a:picLocks noChangeAspect="1"/>
          </p:cNvPicPr>
          <p:nvPr/>
        </p:nvPicPr>
        <p:blipFill>
          <a:blip r:embed="rId1"/>
          <a:stretch>
            <a:fillRect/>
          </a:stretch>
        </p:blipFill>
        <p:spPr>
          <a:xfrm>
            <a:off x="828446" y="1559966"/>
            <a:ext cx="263347" cy="263347"/>
          </a:xfrm>
          <a:prstGeom prst="rect">
            <a:avLst/>
          </a:prstGeom>
        </p:spPr>
      </p:pic>
      <p:sp>
        <p:nvSpPr>
          <p:cNvPr id="8" name="Text 4"/>
          <p:cNvSpPr txBox="1"/>
          <p:nvPr/>
        </p:nvSpPr>
        <p:spPr>
          <a:xfrm>
            <a:off x="685800" y="2103120"/>
            <a:ext cx="2194560" cy="320040"/>
          </a:xfrm>
          <a:prstGeom prst="rect">
            <a:avLst/>
          </a:prstGeom>
          <a:noFill/>
          <a:ln/>
        </p:spPr>
        <p:txBody>
          <a:bodyPr wrap="square" lIns="0" tIns="0" rIns="0" bIns="0" rtlCol="0" anchor="t"/>
          <a:lstStyle/>
          <a:p>
            <a:pPr indent="0" marL="0">
              <a:buNone/>
            </a:pPr>
            <a:r>
              <a:rPr lang="en-US" sz="1500" b="1" dirty="0">
                <a:solidFill>
                  <a:srgbClr val="14213D"/>
                </a:solidFill>
                <a:latin typeface="Cambria" pitchFamily="34" charset="0"/>
                <a:ea typeface="Cambria" pitchFamily="34" charset="-122"/>
                <a:cs typeface="Cambria" pitchFamily="34" charset="-120"/>
              </a:rPr>
              <a:t>Better probabilities</a:t>
            </a:r>
            <a:endParaRPr lang="en-US" sz="1500" dirty="0"/>
          </a:p>
        </p:txBody>
      </p:sp>
      <p:sp>
        <p:nvSpPr>
          <p:cNvPr id="9" name="Text 5"/>
          <p:cNvSpPr txBox="1"/>
          <p:nvPr/>
        </p:nvSpPr>
        <p:spPr>
          <a:xfrm>
            <a:off x="685800" y="2468880"/>
            <a:ext cx="2194560" cy="548640"/>
          </a:xfrm>
          <a:prstGeom prst="rect">
            <a:avLst/>
          </a:prstGeom>
          <a:noFill/>
          <a:ln/>
        </p:spPr>
        <p:txBody>
          <a:bodyPr wrap="square" lIns="0" tIns="0" rIns="0" bIns="0" rtlCol="0" anchor="t"/>
          <a:lstStyle/>
          <a:p>
            <a:pPr indent="0" marL="0">
              <a:buNone/>
            </a:pPr>
            <a:r>
              <a:rPr lang="en-US" sz="2200" b="1" dirty="0">
                <a:solidFill>
                  <a:srgbClr val="2F6FD6"/>
                </a:solidFill>
                <a:latin typeface="Cambria" pitchFamily="34" charset="0"/>
                <a:ea typeface="Cambria" pitchFamily="34" charset="-122"/>
                <a:cs typeface="Cambria" pitchFamily="34" charset="-120"/>
              </a:rPr>
              <a:t>0.66 to 0.50</a:t>
            </a:r>
            <a:endParaRPr lang="en-US" sz="2200" dirty="0"/>
          </a:p>
        </p:txBody>
      </p:sp>
      <p:sp>
        <p:nvSpPr>
          <p:cNvPr id="10" name="Text 6"/>
          <p:cNvSpPr txBox="1"/>
          <p:nvPr/>
        </p:nvSpPr>
        <p:spPr>
          <a:xfrm>
            <a:off x="685800" y="3108960"/>
            <a:ext cx="2194560" cy="128016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log loss with 500 rows: CatBoost vs TabPFN (lower is better). The gap shrinks with more data: 0.49 vs 0.47.</a:t>
            </a:r>
            <a:endParaRPr lang="en-US" sz="1150" dirty="0"/>
          </a:p>
        </p:txBody>
      </p:sp>
      <p:sp>
        <p:nvSpPr>
          <p:cNvPr id="11" name="Shape 7"/>
          <p:cNvSpPr/>
          <p:nvPr/>
        </p:nvSpPr>
        <p:spPr>
          <a:xfrm>
            <a:off x="3268980" y="1234440"/>
            <a:ext cx="2606040" cy="3291840"/>
          </a:xfrm>
          <a:prstGeom prst="roundRect">
            <a:avLst>
              <a:gd name="adj" fmla="val 2807"/>
            </a:avLst>
          </a:prstGeom>
          <a:solidFill>
            <a:srgbClr val="F3F5F9"/>
          </a:solidFill>
          <a:ln w="12700">
            <a:solidFill>
              <a:srgbClr val="F3F5F9"/>
            </a:solidFill>
            <a:prstDash val="solid"/>
          </a:ln>
        </p:spPr>
      </p:sp>
      <p:sp>
        <p:nvSpPr>
          <p:cNvPr id="12" name="Shape 8"/>
          <p:cNvSpPr/>
          <p:nvPr/>
        </p:nvSpPr>
        <p:spPr>
          <a:xfrm>
            <a:off x="3497580" y="1417320"/>
            <a:ext cx="548640" cy="548640"/>
          </a:xfrm>
          <a:prstGeom prst="ellipse">
            <a:avLst/>
          </a:prstGeom>
          <a:solidFill>
            <a:srgbClr val="1F8A8A"/>
          </a:solidFill>
          <a:ln w="12700">
            <a:solidFill>
              <a:srgbClr val="1F8A8A"/>
            </a:solidFill>
            <a:prstDash val="solid"/>
          </a:ln>
        </p:spPr>
      </p:sp>
      <p:pic>
        <p:nvPicPr>
          <p:cNvPr id="13" name="Image 1" descr="preencoded.png">    </p:cNvPr>
          <p:cNvPicPr>
            <a:picLocks noChangeAspect="1"/>
          </p:cNvPicPr>
          <p:nvPr/>
        </p:nvPicPr>
        <p:blipFill>
          <a:blip r:embed="rId2"/>
          <a:stretch>
            <a:fillRect/>
          </a:stretch>
        </p:blipFill>
        <p:spPr>
          <a:xfrm>
            <a:off x="3640226" y="1559966"/>
            <a:ext cx="263347" cy="263347"/>
          </a:xfrm>
          <a:prstGeom prst="rect">
            <a:avLst/>
          </a:prstGeom>
        </p:spPr>
      </p:pic>
      <p:sp>
        <p:nvSpPr>
          <p:cNvPr id="14" name="Text 9"/>
          <p:cNvSpPr txBox="1"/>
          <p:nvPr/>
        </p:nvSpPr>
        <p:spPr>
          <a:xfrm>
            <a:off x="3497580" y="2103120"/>
            <a:ext cx="2194560" cy="320040"/>
          </a:xfrm>
          <a:prstGeom prst="rect">
            <a:avLst/>
          </a:prstGeom>
          <a:noFill/>
          <a:ln/>
        </p:spPr>
        <p:txBody>
          <a:bodyPr wrap="square" lIns="0" tIns="0" rIns="0" bIns="0" rtlCol="0" anchor="t"/>
          <a:lstStyle/>
          <a:p>
            <a:pPr indent="0" marL="0">
              <a:buNone/>
            </a:pPr>
            <a:r>
              <a:rPr lang="en-US" sz="1500" b="1" dirty="0">
                <a:solidFill>
                  <a:srgbClr val="14213D"/>
                </a:solidFill>
                <a:latin typeface="Cambria" pitchFamily="34" charset="0"/>
                <a:ea typeface="Cambria" pitchFamily="34" charset="-122"/>
                <a:cs typeface="Cambria" pitchFamily="34" charset="-120"/>
              </a:rPr>
              <a:t>Shared mistakes</a:t>
            </a:r>
            <a:endParaRPr lang="en-US" sz="1500" dirty="0"/>
          </a:p>
        </p:txBody>
      </p:sp>
      <p:sp>
        <p:nvSpPr>
          <p:cNvPr id="15" name="Text 10"/>
          <p:cNvSpPr txBox="1"/>
          <p:nvPr/>
        </p:nvSpPr>
        <p:spPr>
          <a:xfrm>
            <a:off x="3497580" y="2468880"/>
            <a:ext cx="2194560" cy="548640"/>
          </a:xfrm>
          <a:prstGeom prst="rect">
            <a:avLst/>
          </a:prstGeom>
          <a:noFill/>
          <a:ln/>
        </p:spPr>
        <p:txBody>
          <a:bodyPr wrap="square" lIns="0" tIns="0" rIns="0" bIns="0" rtlCol="0" anchor="t"/>
          <a:lstStyle/>
          <a:p>
            <a:pPr indent="0" marL="0">
              <a:buNone/>
            </a:pPr>
            <a:r>
              <a:rPr lang="en-US" sz="2200" b="1" dirty="0">
                <a:solidFill>
                  <a:srgbClr val="1F8A8A"/>
                </a:solidFill>
                <a:latin typeface="Cambria" pitchFamily="34" charset="0"/>
                <a:ea typeface="Cambria" pitchFamily="34" charset="-122"/>
                <a:cs typeface="Cambria" pitchFamily="34" charset="-120"/>
              </a:rPr>
              <a:t>793 patients</a:t>
            </a:r>
            <a:endParaRPr lang="en-US" sz="2200" dirty="0"/>
          </a:p>
        </p:txBody>
      </p:sp>
      <p:sp>
        <p:nvSpPr>
          <p:cNvPr id="16" name="Text 11"/>
          <p:cNvSpPr txBox="1"/>
          <p:nvPr/>
        </p:nvSpPr>
        <p:spPr>
          <a:xfrm>
            <a:off x="3497580" y="3108960"/>
            <a:ext cx="2194560" cy="128016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wrong for all three models with full data (18%); that is 84 to 86% of each model's errors. The limit is in the data.</a:t>
            </a:r>
            <a:endParaRPr lang="en-US" sz="1150" dirty="0"/>
          </a:p>
        </p:txBody>
      </p:sp>
      <p:sp>
        <p:nvSpPr>
          <p:cNvPr id="17" name="Shape 12"/>
          <p:cNvSpPr/>
          <p:nvPr/>
        </p:nvSpPr>
        <p:spPr>
          <a:xfrm>
            <a:off x="6080760" y="1234440"/>
            <a:ext cx="2606040" cy="3291840"/>
          </a:xfrm>
          <a:prstGeom prst="roundRect">
            <a:avLst>
              <a:gd name="adj" fmla="val 2807"/>
            </a:avLst>
          </a:prstGeom>
          <a:solidFill>
            <a:srgbClr val="F3F5F9"/>
          </a:solidFill>
          <a:ln w="12700">
            <a:solidFill>
              <a:srgbClr val="F3F5F9"/>
            </a:solidFill>
            <a:prstDash val="solid"/>
          </a:ln>
        </p:spPr>
      </p:sp>
      <p:sp>
        <p:nvSpPr>
          <p:cNvPr id="18" name="Shape 13"/>
          <p:cNvSpPr/>
          <p:nvPr/>
        </p:nvSpPr>
        <p:spPr>
          <a:xfrm>
            <a:off x="6309360" y="1417320"/>
            <a:ext cx="548640" cy="548640"/>
          </a:xfrm>
          <a:prstGeom prst="ellipse">
            <a:avLst/>
          </a:prstGeom>
          <a:solidFill>
            <a:srgbClr val="E9A23B"/>
          </a:solidFill>
          <a:ln w="12700">
            <a:solidFill>
              <a:srgbClr val="E9A23B"/>
            </a:solidFill>
            <a:prstDash val="solid"/>
          </a:ln>
        </p:spPr>
      </p:sp>
      <p:pic>
        <p:nvPicPr>
          <p:cNvPr id="19" name="Image 2" descr="preencoded.png">    </p:cNvPr>
          <p:cNvPicPr>
            <a:picLocks noChangeAspect="1"/>
          </p:cNvPicPr>
          <p:nvPr/>
        </p:nvPicPr>
        <p:blipFill>
          <a:blip r:embed="rId3"/>
          <a:stretch>
            <a:fillRect/>
          </a:stretch>
        </p:blipFill>
        <p:spPr>
          <a:xfrm>
            <a:off x="6452006" y="1559966"/>
            <a:ext cx="263347" cy="263347"/>
          </a:xfrm>
          <a:prstGeom prst="rect">
            <a:avLst/>
          </a:prstGeom>
        </p:spPr>
      </p:pic>
      <p:sp>
        <p:nvSpPr>
          <p:cNvPr id="20" name="Text 14"/>
          <p:cNvSpPr txBox="1"/>
          <p:nvPr/>
        </p:nvSpPr>
        <p:spPr>
          <a:xfrm>
            <a:off x="6309360" y="2103120"/>
            <a:ext cx="2194560" cy="320040"/>
          </a:xfrm>
          <a:prstGeom prst="rect">
            <a:avLst/>
          </a:prstGeom>
          <a:noFill/>
          <a:ln/>
        </p:spPr>
        <p:txBody>
          <a:bodyPr wrap="square" lIns="0" tIns="0" rIns="0" bIns="0" rtlCol="0" anchor="t"/>
          <a:lstStyle/>
          <a:p>
            <a:pPr indent="0" marL="0">
              <a:buNone/>
            </a:pPr>
            <a:r>
              <a:rPr lang="en-US" sz="1500" b="1" dirty="0">
                <a:solidFill>
                  <a:srgbClr val="14213D"/>
                </a:solidFill>
                <a:latin typeface="Cambria" pitchFamily="34" charset="0"/>
                <a:ea typeface="Cambria" pitchFamily="34" charset="-122"/>
                <a:cs typeface="Cambria" pitchFamily="34" charset="-120"/>
              </a:rPr>
              <a:t>No big group gaps</a:t>
            </a:r>
            <a:endParaRPr lang="en-US" sz="1500" dirty="0"/>
          </a:p>
        </p:txBody>
      </p:sp>
      <p:sp>
        <p:nvSpPr>
          <p:cNvPr id="21" name="Text 15"/>
          <p:cNvSpPr txBox="1"/>
          <p:nvPr/>
        </p:nvSpPr>
        <p:spPr>
          <a:xfrm>
            <a:off x="6309360" y="2468880"/>
            <a:ext cx="2194560" cy="548640"/>
          </a:xfrm>
          <a:prstGeom prst="rect">
            <a:avLst/>
          </a:prstGeom>
          <a:noFill/>
          <a:ln/>
        </p:spPr>
        <p:txBody>
          <a:bodyPr wrap="square" lIns="0" tIns="0" rIns="0" bIns="0" rtlCol="0" anchor="t"/>
          <a:lstStyle/>
          <a:p>
            <a:pPr indent="0" marL="0">
              <a:buNone/>
            </a:pPr>
            <a:r>
              <a:rPr lang="en-US" sz="2200" b="1" dirty="0">
                <a:solidFill>
                  <a:srgbClr val="E9A23B"/>
                </a:solidFill>
                <a:latin typeface="Cambria" pitchFamily="34" charset="0"/>
                <a:ea typeface="Cambria" pitchFamily="34" charset="-122"/>
                <a:cs typeface="Cambria" pitchFamily="34" charset="-120"/>
              </a:rPr>
              <a:t>≤ 2 points</a:t>
            </a:r>
            <a:endParaRPr lang="en-US" sz="2200" dirty="0"/>
          </a:p>
        </p:txBody>
      </p:sp>
      <p:sp>
        <p:nvSpPr>
          <p:cNvPr id="22" name="Text 16"/>
          <p:cNvSpPr txBox="1"/>
          <p:nvPr/>
        </p:nvSpPr>
        <p:spPr>
          <a:xfrm>
            <a:off x="6309360" y="3108960"/>
            <a:ext cx="2194560" cy="128016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largest accuracy gap between women and men (1.1) and between age bands (2.0), with full data.</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777240"/>
          </a:xfrm>
          <a:prstGeom prst="rect">
            <a:avLst/>
          </a:prstGeom>
          <a:noFill/>
          <a:ln/>
        </p:spPr>
        <p:txBody>
          <a:bodyPr wrap="square" lIns="0" tIns="0" rIns="0" bIns="0" rtlCol="0" anchor="t"/>
          <a:lstStyle/>
          <a:p>
            <a:pPr indent="0" marL="0">
              <a:buNone/>
            </a:pPr>
            <a:r>
              <a:rPr lang="en-US" sz="2500" b="1" dirty="0">
                <a:solidFill>
                  <a:srgbClr val="14213D"/>
                </a:solidFill>
                <a:latin typeface="Cambria" pitchFamily="34" charset="0"/>
                <a:ea typeface="Cambria" pitchFamily="34" charset="-122"/>
                <a:cs typeface="Cambria" pitchFamily="34" charset="-120"/>
              </a:rPr>
              <a:t>SHAP: iron and stress lead every model</a:t>
            </a:r>
            <a:endParaRPr lang="en-US" sz="2500" dirty="0"/>
          </a:p>
        </p:txBody>
      </p:sp>
      <p:sp>
        <p:nvSpPr>
          <p:cNvPr id="3" name="Text 1"/>
          <p:cNvSpPr txBox="1"/>
          <p:nvPr/>
        </p:nvSpPr>
        <p:spPr>
          <a:xfrm>
            <a:off x="8229600" y="4773168"/>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16</a:t>
            </a:r>
            <a:endParaRPr lang="en-US" sz="1000" dirty="0"/>
          </a:p>
        </p:txBody>
      </p:sp>
      <p:graphicFrame>
        <p:nvGraphicFramePr>
          <p:cNvPr id="5" name="Chart 0" descr=""/>
          <p:cNvGraphicFramePr/>
          <p:nvPr/>
        </p:nvGraphicFramePr>
        <p:xfrm>
          <a:off x="365760" y="1143000"/>
          <a:ext cx="4937760" cy="352044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5532120" y="1188720"/>
            <a:ext cx="3154680" cy="1051560"/>
          </a:xfrm>
          <a:prstGeom prst="roundRect">
            <a:avLst>
              <a:gd name="adj" fmla="val 6957"/>
            </a:avLst>
          </a:prstGeom>
          <a:solidFill>
            <a:srgbClr val="F3F5F9"/>
          </a:solidFill>
          <a:ln w="12700">
            <a:solidFill>
              <a:srgbClr val="F3F5F9"/>
            </a:solidFill>
            <a:prstDash val="solid"/>
          </a:ln>
        </p:spPr>
      </p:sp>
      <p:sp>
        <p:nvSpPr>
          <p:cNvPr id="7" name="Text 3"/>
          <p:cNvSpPr txBox="1"/>
          <p:nvPr/>
        </p:nvSpPr>
        <p:spPr>
          <a:xfrm>
            <a:off x="5715000" y="1261872"/>
            <a:ext cx="2834640" cy="256032"/>
          </a:xfrm>
          <a:prstGeom prst="rect">
            <a:avLst/>
          </a:prstGeom>
          <a:noFill/>
          <a:ln/>
        </p:spPr>
        <p:txBody>
          <a:bodyPr wrap="square" lIns="0" tIns="0" rIns="0" bIns="0" rtlCol="0" anchor="t"/>
          <a:lstStyle/>
          <a:p>
            <a:pPr indent="0" marL="0">
              <a:buNone/>
            </a:pPr>
            <a:r>
              <a:rPr lang="en-US" sz="1250" b="1" dirty="0">
                <a:solidFill>
                  <a:srgbClr val="1F8A8A"/>
                </a:solidFill>
                <a:latin typeface="Calibri" pitchFamily="34" charset="0"/>
                <a:ea typeface="Calibri" pitchFamily="34" charset="-122"/>
                <a:cs typeface="Calibri" pitchFamily="34" charset="-120"/>
              </a:rPr>
              <a:t>What is SHAP?</a:t>
            </a:r>
            <a:endParaRPr lang="en-US" sz="1250" dirty="0"/>
          </a:p>
        </p:txBody>
      </p:sp>
      <p:sp>
        <p:nvSpPr>
          <p:cNvPr id="8" name="Text 4"/>
          <p:cNvSpPr txBox="1"/>
          <p:nvPr/>
        </p:nvSpPr>
        <p:spPr>
          <a:xfrm>
            <a:off x="5715000" y="1536192"/>
            <a:ext cx="2834640" cy="64008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A score for how much each feature pushed a patient's risk up or down.</a:t>
            </a:r>
            <a:endParaRPr lang="en-US" sz="1150" dirty="0"/>
          </a:p>
        </p:txBody>
      </p:sp>
      <p:sp>
        <p:nvSpPr>
          <p:cNvPr id="9" name="Text 5"/>
          <p:cNvSpPr txBox="1"/>
          <p:nvPr/>
        </p:nvSpPr>
        <p:spPr>
          <a:xfrm>
            <a:off x="5532120" y="2423160"/>
            <a:ext cx="3154680" cy="219456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Iron and stress level: top two in all 9 analyses</a:t>
            </a:r>
            <a:endParaRPr lang="en-US" sz="1200" dirty="0"/>
          </a:p>
          <a:p>
            <a:pPr marL="342900" indent="-342900">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Then protein, liver enzyme ALT, vitamin D, calcium</a:t>
            </a:r>
            <a:endParaRPr lang="en-US" sz="1200" dirty="0"/>
          </a:p>
          <a:p>
            <a:pPr marL="342900" indent="-342900">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Same six lead in 8 of 9 analyses</a:t>
            </a:r>
            <a:endParaRPr lang="en-US" sz="1200" dirty="0"/>
          </a:p>
          <a:p>
            <a:pPr marL="342900" indent="-342900">
              <a:spcAft>
                <a:spcPts val="700"/>
              </a:spcAft>
              <a:buSzPct val="100000"/>
              <a:buChar char="•"/>
            </a:pPr>
            <a:r>
              <a:rPr lang="en-US" sz="1200" dirty="0">
                <a:solidFill>
                  <a:srgbClr val="1F2937"/>
                </a:solidFill>
                <a:latin typeface="Calibri" pitchFamily="34" charset="0"/>
                <a:ea typeface="Calibri" pitchFamily="34" charset="-122"/>
                <a:cs typeface="Calibri" pitchFamily="34" charset="-120"/>
              </a:rPr>
              <a:t>Rank agreement between models: 0.90 to 0.96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777240"/>
          </a:xfrm>
          <a:prstGeom prst="rect">
            <a:avLst/>
          </a:prstGeom>
          <a:noFill/>
          <a:ln/>
        </p:spPr>
        <p:txBody>
          <a:bodyPr wrap="square" lIns="0" tIns="0" rIns="0" bIns="0" rtlCol="0" anchor="t"/>
          <a:lstStyle/>
          <a:p>
            <a:pPr indent="0" marL="0">
              <a:buNone/>
            </a:pPr>
            <a:r>
              <a:rPr lang="en-US" sz="2500" b="1" dirty="0">
                <a:solidFill>
                  <a:srgbClr val="14213D"/>
                </a:solidFill>
                <a:latin typeface="Cambria" pitchFamily="34" charset="0"/>
                <a:ea typeface="Cambria" pitchFamily="34" charset="-122"/>
                <a:cs typeface="Cambria" pitchFamily="34" charset="-120"/>
              </a:rPr>
              <a:t>The direction of the effects makes clinical sense</a:t>
            </a:r>
            <a:endParaRPr lang="en-US" sz="2500" dirty="0"/>
          </a:p>
        </p:txBody>
      </p:sp>
      <p:sp>
        <p:nvSpPr>
          <p:cNvPr id="3" name="Text 1"/>
          <p:cNvSpPr txBox="1"/>
          <p:nvPr/>
        </p:nvSpPr>
        <p:spPr>
          <a:xfrm>
            <a:off x="8229600" y="4773168"/>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17</a:t>
            </a:r>
            <a:endParaRPr lang="en-US" sz="1000" dirty="0"/>
          </a:p>
        </p:txBody>
      </p:sp>
      <p:sp>
        <p:nvSpPr>
          <p:cNvPr id="5" name="Text 2"/>
          <p:cNvSpPr txBox="1"/>
          <p:nvPr/>
        </p:nvSpPr>
        <p:spPr>
          <a:xfrm>
            <a:off x="457200" y="1188720"/>
            <a:ext cx="4206240" cy="274320"/>
          </a:xfrm>
          <a:prstGeom prst="rect">
            <a:avLst/>
          </a:prstGeom>
          <a:noFill/>
          <a:ln/>
        </p:spPr>
        <p:txBody>
          <a:bodyPr wrap="square" lIns="0" tIns="0" rIns="0" bIns="0" rtlCol="0" anchor="t"/>
          <a:lstStyle/>
          <a:p>
            <a:pPr indent="0" marL="0">
              <a:buNone/>
            </a:pPr>
            <a:r>
              <a:rPr lang="en-US" sz="1300" b="1" dirty="0">
                <a:solidFill>
                  <a:srgbClr val="1F8A8A"/>
                </a:solidFill>
                <a:latin typeface="Calibri" pitchFamily="34" charset="0"/>
                <a:ea typeface="Calibri" pitchFamily="34" charset="-122"/>
                <a:cs typeface="Calibri" pitchFamily="34" charset="-120"/>
              </a:rPr>
              <a:t>How to read the plot</a:t>
            </a:r>
            <a:endParaRPr lang="en-US" sz="1300" dirty="0"/>
          </a:p>
        </p:txBody>
      </p:sp>
      <p:sp>
        <p:nvSpPr>
          <p:cNvPr id="6" name="Text 3"/>
          <p:cNvSpPr txBox="1"/>
          <p:nvPr/>
        </p:nvSpPr>
        <p:spPr>
          <a:xfrm>
            <a:off x="457200" y="1481328"/>
            <a:ext cx="4206240" cy="54864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Each dot is a patient. Right of the centre = pushes towards High risk. Red = high value, blue = low value.</a:t>
            </a:r>
            <a:endParaRPr lang="en-US" sz="1150" dirty="0"/>
          </a:p>
        </p:txBody>
      </p:sp>
      <p:sp>
        <p:nvSpPr>
          <p:cNvPr id="7" name="Text 4"/>
          <p:cNvSpPr txBox="1"/>
          <p:nvPr/>
        </p:nvSpPr>
        <p:spPr>
          <a:xfrm>
            <a:off x="457200" y="2194560"/>
            <a:ext cx="4206240" cy="16916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Low iron, high stress and high liver enzyme raise the risk</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High protein, vitamin D, calcium and manganese lower it</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Every yes/no risk factor pushes risk up</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Same directions in CatBoost, TabPFN and TabFM</a:t>
            </a:r>
            <a:endParaRPr lang="en-US" sz="1250" dirty="0"/>
          </a:p>
        </p:txBody>
      </p:sp>
      <p:sp>
        <p:nvSpPr>
          <p:cNvPr id="8" name="Shape 5"/>
          <p:cNvSpPr/>
          <p:nvPr/>
        </p:nvSpPr>
        <p:spPr>
          <a:xfrm>
            <a:off x="457200" y="3931920"/>
            <a:ext cx="4206240" cy="731520"/>
          </a:xfrm>
          <a:prstGeom prst="roundRect">
            <a:avLst>
              <a:gd name="adj" fmla="val 10000"/>
            </a:avLst>
          </a:prstGeom>
          <a:solidFill>
            <a:srgbClr val="F3F5F9"/>
          </a:solidFill>
          <a:ln w="12700">
            <a:solidFill>
              <a:srgbClr val="F3F5F9"/>
            </a:solidFill>
            <a:prstDash val="solid"/>
          </a:ln>
        </p:spPr>
      </p:sp>
      <p:sp>
        <p:nvSpPr>
          <p:cNvPr id="9" name="Text 6"/>
          <p:cNvSpPr txBox="1"/>
          <p:nvPr/>
        </p:nvSpPr>
        <p:spPr>
          <a:xfrm>
            <a:off x="594360" y="3931920"/>
            <a:ext cx="3977640" cy="731520"/>
          </a:xfrm>
          <a:prstGeom prst="rect">
            <a:avLst/>
          </a:prstGeom>
          <a:noFill/>
          <a:ln/>
        </p:spPr>
        <p:txBody>
          <a:bodyPr wrap="square" lIns="0" tIns="0" rIns="0" bIns="0" rtlCol="0" anchor="ctr"/>
          <a:lstStyle/>
          <a:p>
            <a:pPr indent="0" marL="0">
              <a:buNone/>
            </a:pPr>
            <a:r>
              <a:rPr lang="en-US" sz="1100" b="1" dirty="0">
                <a:solidFill>
                  <a:srgbClr val="14213D"/>
                </a:solidFill>
                <a:latin typeface="Calibri" pitchFamily="34" charset="0"/>
                <a:ea typeface="Calibri" pitchFamily="34" charset="-122"/>
                <a:cs typeface="Calibri" pitchFamily="34" charset="-120"/>
              </a:rPr>
              <a:t>Matches the data: stress 0.33, iron -0.31, protein -0.30 (correlation with risk tier). Association, not cause.</a:t>
            </a:r>
            <a:endParaRPr lang="en-US" sz="1100" dirty="0"/>
          </a:p>
        </p:txBody>
      </p:sp>
      <p:pic>
        <p:nvPicPr>
          <p:cNvPr id="10" name="Image 0" descr="bee_CatBoost_Full.png">    </p:cNvPr>
          <p:cNvPicPr>
            <a:picLocks noChangeAspect="1"/>
          </p:cNvPicPr>
          <p:nvPr/>
        </p:nvPicPr>
        <p:blipFill>
          <a:blip r:embed="rId1"/>
          <a:stretch>
            <a:fillRect/>
          </a:stretch>
        </p:blipFill>
        <p:spPr>
          <a:xfrm>
            <a:off x="4937760" y="1097280"/>
            <a:ext cx="3739896" cy="352044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777240"/>
          </a:xfrm>
          <a:prstGeom prst="rect">
            <a:avLst/>
          </a:prstGeom>
          <a:noFill/>
          <a:ln/>
        </p:spPr>
        <p:txBody>
          <a:bodyPr wrap="square" lIns="0" tIns="0" rIns="0" bIns="0" rtlCol="0" anchor="t"/>
          <a:lstStyle/>
          <a:p>
            <a:pPr indent="0" marL="0">
              <a:buNone/>
            </a:pPr>
            <a:r>
              <a:rPr lang="en-US" sz="2500" b="1" dirty="0">
                <a:solidFill>
                  <a:srgbClr val="14213D"/>
                </a:solidFill>
                <a:latin typeface="Cambria" pitchFamily="34" charset="0"/>
                <a:ea typeface="Cambria" pitchFamily="34" charset="-122"/>
                <a:cs typeface="Cambria" pitchFamily="34" charset="-120"/>
              </a:rPr>
              <a:t>The price: foundation models are slow to run and to explain</a:t>
            </a:r>
            <a:endParaRPr lang="en-US" sz="2500" dirty="0"/>
          </a:p>
        </p:txBody>
      </p:sp>
      <p:sp>
        <p:nvSpPr>
          <p:cNvPr id="3" name="Text 1"/>
          <p:cNvSpPr txBox="1"/>
          <p:nvPr/>
        </p:nvSpPr>
        <p:spPr>
          <a:xfrm>
            <a:off x="8229600" y="4773168"/>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18</a:t>
            </a:r>
            <a:endParaRPr lang="en-US" sz="1000" dirty="0"/>
          </a:p>
        </p:txBody>
      </p:sp>
      <p:sp>
        <p:nvSpPr>
          <p:cNvPr id="5" name="Shape 2"/>
          <p:cNvSpPr/>
          <p:nvPr/>
        </p:nvSpPr>
        <p:spPr>
          <a:xfrm>
            <a:off x="457200" y="1188720"/>
            <a:ext cx="2606040" cy="1508760"/>
          </a:xfrm>
          <a:prstGeom prst="roundRect">
            <a:avLst>
              <a:gd name="adj" fmla="val 4848"/>
            </a:avLst>
          </a:prstGeom>
          <a:solidFill>
            <a:srgbClr val="F3F5F9"/>
          </a:solidFill>
          <a:ln w="12700">
            <a:solidFill>
              <a:srgbClr val="F3F5F9"/>
            </a:solidFill>
            <a:prstDash val="solid"/>
          </a:ln>
        </p:spPr>
      </p:sp>
      <p:sp>
        <p:nvSpPr>
          <p:cNvPr id="6" name="Shape 3"/>
          <p:cNvSpPr/>
          <p:nvPr/>
        </p:nvSpPr>
        <p:spPr>
          <a:xfrm>
            <a:off x="658368" y="1371600"/>
            <a:ext cx="201168" cy="201168"/>
          </a:xfrm>
          <a:prstGeom prst="ellipse">
            <a:avLst/>
          </a:prstGeom>
          <a:solidFill>
            <a:srgbClr val="E9A23B"/>
          </a:solidFill>
          <a:ln w="12700">
            <a:solidFill>
              <a:srgbClr val="E9A23B"/>
            </a:solidFill>
            <a:prstDash val="solid"/>
          </a:ln>
        </p:spPr>
      </p:sp>
      <p:sp>
        <p:nvSpPr>
          <p:cNvPr id="7" name="Text 4"/>
          <p:cNvSpPr txBox="1"/>
          <p:nvPr/>
        </p:nvSpPr>
        <p:spPr>
          <a:xfrm>
            <a:off x="960120" y="1344168"/>
            <a:ext cx="2011680" cy="256032"/>
          </a:xfrm>
          <a:prstGeom prst="rect">
            <a:avLst/>
          </a:prstGeom>
          <a:noFill/>
          <a:ln/>
        </p:spPr>
        <p:txBody>
          <a:bodyPr wrap="square" lIns="0" tIns="0" rIns="0" bIns="0" rtlCol="0" anchor="t"/>
          <a:lstStyle/>
          <a:p>
            <a:pPr indent="0" marL="0">
              <a:buNone/>
            </a:pPr>
            <a:r>
              <a:rPr lang="en-US" sz="1250" b="1" dirty="0">
                <a:solidFill>
                  <a:srgbClr val="14213D"/>
                </a:solidFill>
                <a:latin typeface="Calibri" pitchFamily="34" charset="0"/>
                <a:ea typeface="Calibri" pitchFamily="34" charset="-122"/>
                <a:cs typeface="Calibri" pitchFamily="34" charset="-120"/>
              </a:rPr>
              <a:t>CatBoost (full data)</a:t>
            </a:r>
            <a:endParaRPr lang="en-US" sz="1250" dirty="0"/>
          </a:p>
        </p:txBody>
      </p:sp>
      <p:sp>
        <p:nvSpPr>
          <p:cNvPr id="8" name="Text 5"/>
          <p:cNvSpPr txBox="1"/>
          <p:nvPr/>
        </p:nvSpPr>
        <p:spPr>
          <a:xfrm>
            <a:off x="658368" y="1664208"/>
            <a:ext cx="2286000" cy="548640"/>
          </a:xfrm>
          <a:prstGeom prst="rect">
            <a:avLst/>
          </a:prstGeom>
          <a:noFill/>
          <a:ln/>
        </p:spPr>
        <p:txBody>
          <a:bodyPr wrap="square" lIns="0" tIns="0" rIns="0" bIns="0" rtlCol="0" anchor="t"/>
          <a:lstStyle/>
          <a:p>
            <a:pPr indent="0" marL="0">
              <a:buNone/>
            </a:pPr>
            <a:r>
              <a:rPr lang="en-US" sz="2800" b="1" dirty="0">
                <a:solidFill>
                  <a:srgbClr val="E9A23B"/>
                </a:solidFill>
                <a:latin typeface="Cambria" pitchFamily="34" charset="0"/>
                <a:ea typeface="Cambria" pitchFamily="34" charset="-122"/>
                <a:cs typeface="Cambria" pitchFamily="34" charset="-120"/>
              </a:rPr>
              <a:t>3.3 s</a:t>
            </a:r>
            <a:endParaRPr lang="en-US" sz="2800" dirty="0"/>
          </a:p>
        </p:txBody>
      </p:sp>
      <p:sp>
        <p:nvSpPr>
          <p:cNvPr id="9" name="Text 6"/>
          <p:cNvSpPr txBox="1"/>
          <p:nvPr/>
        </p:nvSpPr>
        <p:spPr>
          <a:xfrm>
            <a:off x="658368" y="2240280"/>
            <a:ext cx="2286000" cy="36576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fit and predict</a:t>
            </a:r>
            <a:endParaRPr lang="en-US" sz="1100" dirty="0"/>
          </a:p>
        </p:txBody>
      </p:sp>
      <p:sp>
        <p:nvSpPr>
          <p:cNvPr id="10" name="Shape 7"/>
          <p:cNvSpPr/>
          <p:nvPr/>
        </p:nvSpPr>
        <p:spPr>
          <a:xfrm>
            <a:off x="3268980" y="1188720"/>
            <a:ext cx="2606040" cy="1508760"/>
          </a:xfrm>
          <a:prstGeom prst="roundRect">
            <a:avLst>
              <a:gd name="adj" fmla="val 4848"/>
            </a:avLst>
          </a:prstGeom>
          <a:solidFill>
            <a:srgbClr val="F3F5F9"/>
          </a:solidFill>
          <a:ln w="12700">
            <a:solidFill>
              <a:srgbClr val="F3F5F9"/>
            </a:solidFill>
            <a:prstDash val="solid"/>
          </a:ln>
        </p:spPr>
      </p:sp>
      <p:sp>
        <p:nvSpPr>
          <p:cNvPr id="11" name="Shape 8"/>
          <p:cNvSpPr/>
          <p:nvPr/>
        </p:nvSpPr>
        <p:spPr>
          <a:xfrm>
            <a:off x="3470148" y="1371600"/>
            <a:ext cx="201168" cy="201168"/>
          </a:xfrm>
          <a:prstGeom prst="ellipse">
            <a:avLst/>
          </a:prstGeom>
          <a:solidFill>
            <a:srgbClr val="2F6FD6"/>
          </a:solidFill>
          <a:ln w="12700">
            <a:solidFill>
              <a:srgbClr val="2F6FD6"/>
            </a:solidFill>
            <a:prstDash val="solid"/>
          </a:ln>
        </p:spPr>
      </p:sp>
      <p:sp>
        <p:nvSpPr>
          <p:cNvPr id="12" name="Text 9"/>
          <p:cNvSpPr txBox="1"/>
          <p:nvPr/>
        </p:nvSpPr>
        <p:spPr>
          <a:xfrm>
            <a:off x="3771900" y="1344168"/>
            <a:ext cx="2011680" cy="256032"/>
          </a:xfrm>
          <a:prstGeom prst="rect">
            <a:avLst/>
          </a:prstGeom>
          <a:noFill/>
          <a:ln/>
        </p:spPr>
        <p:txBody>
          <a:bodyPr wrap="square" lIns="0" tIns="0" rIns="0" bIns="0" rtlCol="0" anchor="t"/>
          <a:lstStyle/>
          <a:p>
            <a:pPr indent="0" marL="0">
              <a:buNone/>
            </a:pPr>
            <a:r>
              <a:rPr lang="en-US" sz="1250" b="1" dirty="0">
                <a:solidFill>
                  <a:srgbClr val="14213D"/>
                </a:solidFill>
                <a:latin typeface="Calibri" pitchFamily="34" charset="0"/>
                <a:ea typeface="Calibri" pitchFamily="34" charset="-122"/>
                <a:cs typeface="Calibri" pitchFamily="34" charset="-120"/>
              </a:rPr>
              <a:t>TabPFN (full data)</a:t>
            </a:r>
            <a:endParaRPr lang="en-US" sz="1250" dirty="0"/>
          </a:p>
        </p:txBody>
      </p:sp>
      <p:sp>
        <p:nvSpPr>
          <p:cNvPr id="13" name="Text 10"/>
          <p:cNvSpPr txBox="1"/>
          <p:nvPr/>
        </p:nvSpPr>
        <p:spPr>
          <a:xfrm>
            <a:off x="3470148" y="1664208"/>
            <a:ext cx="2286000" cy="548640"/>
          </a:xfrm>
          <a:prstGeom prst="rect">
            <a:avLst/>
          </a:prstGeom>
          <a:noFill/>
          <a:ln/>
        </p:spPr>
        <p:txBody>
          <a:bodyPr wrap="square" lIns="0" tIns="0" rIns="0" bIns="0" rtlCol="0" anchor="t"/>
          <a:lstStyle/>
          <a:p>
            <a:pPr indent="0" marL="0">
              <a:buNone/>
            </a:pPr>
            <a:r>
              <a:rPr lang="en-US" sz="2800" b="1" dirty="0">
                <a:solidFill>
                  <a:srgbClr val="2F6FD6"/>
                </a:solidFill>
                <a:latin typeface="Cambria" pitchFamily="34" charset="0"/>
                <a:ea typeface="Cambria" pitchFamily="34" charset="-122"/>
                <a:cs typeface="Cambria" pitchFamily="34" charset="-120"/>
              </a:rPr>
              <a:t>≈ 5 min</a:t>
            </a:r>
            <a:endParaRPr lang="en-US" sz="2800" dirty="0"/>
          </a:p>
        </p:txBody>
      </p:sp>
      <p:sp>
        <p:nvSpPr>
          <p:cNvPr id="14" name="Text 11"/>
          <p:cNvSpPr txBox="1"/>
          <p:nvPr/>
        </p:nvSpPr>
        <p:spPr>
          <a:xfrm>
            <a:off x="3470148" y="2240280"/>
            <a:ext cx="2286000" cy="36576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290 s to predict 4,322 patients</a:t>
            </a:r>
            <a:endParaRPr lang="en-US" sz="1100" dirty="0"/>
          </a:p>
        </p:txBody>
      </p:sp>
      <p:sp>
        <p:nvSpPr>
          <p:cNvPr id="15" name="Shape 12"/>
          <p:cNvSpPr/>
          <p:nvPr/>
        </p:nvSpPr>
        <p:spPr>
          <a:xfrm>
            <a:off x="6080760" y="1188720"/>
            <a:ext cx="2606040" cy="1508760"/>
          </a:xfrm>
          <a:prstGeom prst="roundRect">
            <a:avLst>
              <a:gd name="adj" fmla="val 4848"/>
            </a:avLst>
          </a:prstGeom>
          <a:solidFill>
            <a:srgbClr val="F3F5F9"/>
          </a:solidFill>
          <a:ln w="12700">
            <a:solidFill>
              <a:srgbClr val="F3F5F9"/>
            </a:solidFill>
            <a:prstDash val="solid"/>
          </a:ln>
        </p:spPr>
      </p:sp>
      <p:sp>
        <p:nvSpPr>
          <p:cNvPr id="16" name="Shape 13"/>
          <p:cNvSpPr/>
          <p:nvPr/>
        </p:nvSpPr>
        <p:spPr>
          <a:xfrm>
            <a:off x="6281928" y="1371600"/>
            <a:ext cx="201168" cy="201168"/>
          </a:xfrm>
          <a:prstGeom prst="ellipse">
            <a:avLst/>
          </a:prstGeom>
          <a:solidFill>
            <a:srgbClr val="2EA44F"/>
          </a:solidFill>
          <a:ln w="12700">
            <a:solidFill>
              <a:srgbClr val="2EA44F"/>
            </a:solidFill>
            <a:prstDash val="solid"/>
          </a:ln>
        </p:spPr>
      </p:sp>
      <p:sp>
        <p:nvSpPr>
          <p:cNvPr id="17" name="Text 14"/>
          <p:cNvSpPr txBox="1"/>
          <p:nvPr/>
        </p:nvSpPr>
        <p:spPr>
          <a:xfrm>
            <a:off x="6583680" y="1344168"/>
            <a:ext cx="2011680" cy="256032"/>
          </a:xfrm>
          <a:prstGeom prst="rect">
            <a:avLst/>
          </a:prstGeom>
          <a:noFill/>
          <a:ln/>
        </p:spPr>
        <p:txBody>
          <a:bodyPr wrap="square" lIns="0" tIns="0" rIns="0" bIns="0" rtlCol="0" anchor="t"/>
          <a:lstStyle/>
          <a:p>
            <a:pPr indent="0" marL="0">
              <a:buNone/>
            </a:pPr>
            <a:r>
              <a:rPr lang="en-US" sz="1250" b="1" dirty="0">
                <a:solidFill>
                  <a:srgbClr val="14213D"/>
                </a:solidFill>
                <a:latin typeface="Calibri" pitchFamily="34" charset="0"/>
                <a:ea typeface="Calibri" pitchFamily="34" charset="-122"/>
                <a:cs typeface="Calibri" pitchFamily="34" charset="-120"/>
              </a:rPr>
              <a:t>TabFM (full data)</a:t>
            </a:r>
            <a:endParaRPr lang="en-US" sz="1250" dirty="0"/>
          </a:p>
        </p:txBody>
      </p:sp>
      <p:sp>
        <p:nvSpPr>
          <p:cNvPr id="18" name="Text 15"/>
          <p:cNvSpPr txBox="1"/>
          <p:nvPr/>
        </p:nvSpPr>
        <p:spPr>
          <a:xfrm>
            <a:off x="6281928" y="1664208"/>
            <a:ext cx="2286000" cy="548640"/>
          </a:xfrm>
          <a:prstGeom prst="rect">
            <a:avLst/>
          </a:prstGeom>
          <a:noFill/>
          <a:ln/>
        </p:spPr>
        <p:txBody>
          <a:bodyPr wrap="square" lIns="0" tIns="0" rIns="0" bIns="0" rtlCol="0" anchor="t"/>
          <a:lstStyle/>
          <a:p>
            <a:pPr indent="0" marL="0">
              <a:buNone/>
            </a:pPr>
            <a:r>
              <a:rPr lang="en-US" sz="2800" b="1" dirty="0">
                <a:solidFill>
                  <a:srgbClr val="2EA44F"/>
                </a:solidFill>
                <a:latin typeface="Cambria" pitchFamily="34" charset="0"/>
                <a:ea typeface="Cambria" pitchFamily="34" charset="-122"/>
                <a:cs typeface="Cambria" pitchFamily="34" charset="-120"/>
              </a:rPr>
              <a:t>≈ 51 min</a:t>
            </a:r>
            <a:endParaRPr lang="en-US" sz="2800" dirty="0"/>
          </a:p>
        </p:txBody>
      </p:sp>
      <p:sp>
        <p:nvSpPr>
          <p:cNvPr id="19" name="Text 16"/>
          <p:cNvSpPr txBox="1"/>
          <p:nvPr/>
        </p:nvSpPr>
        <p:spPr>
          <a:xfrm>
            <a:off x="6281928" y="2240280"/>
            <a:ext cx="2286000" cy="36576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3,082 s to predict 4,322 patients</a:t>
            </a:r>
            <a:endParaRPr lang="en-US" sz="1100" dirty="0"/>
          </a:p>
        </p:txBody>
      </p:sp>
      <p:sp>
        <p:nvSpPr>
          <p:cNvPr id="20" name="Shape 17"/>
          <p:cNvSpPr/>
          <p:nvPr/>
        </p:nvSpPr>
        <p:spPr>
          <a:xfrm>
            <a:off x="457200" y="2880360"/>
            <a:ext cx="4023360" cy="1783080"/>
          </a:xfrm>
          <a:prstGeom prst="roundRect">
            <a:avLst>
              <a:gd name="adj" fmla="val 4103"/>
            </a:avLst>
          </a:prstGeom>
          <a:solidFill>
            <a:srgbClr val="14213D"/>
          </a:solidFill>
          <a:ln w="12700">
            <a:solidFill>
              <a:srgbClr val="14213D"/>
            </a:solidFill>
            <a:prstDash val="solid"/>
          </a:ln>
          <a:effectLst>
            <a:outerShdw sx="100000" sy="100000" kx="0" ky="0" algn="bl" rotWithShape="0" blurRad="76200" dist="25400" dir="5400000">
              <a:srgbClr val="000000">
                <a:alpha val="12000"/>
              </a:srgbClr>
            </a:outerShdw>
          </a:effectLst>
        </p:spPr>
      </p:sp>
      <p:sp>
        <p:nvSpPr>
          <p:cNvPr id="21" name="Text 18"/>
          <p:cNvSpPr txBox="1"/>
          <p:nvPr/>
        </p:nvSpPr>
        <p:spPr>
          <a:xfrm>
            <a:off x="658368" y="2990088"/>
            <a:ext cx="3657600" cy="274320"/>
          </a:xfrm>
          <a:prstGeom prst="rect">
            <a:avLst/>
          </a:prstGeom>
          <a:noFill/>
          <a:ln/>
        </p:spPr>
        <p:txBody>
          <a:bodyPr wrap="square" lIns="0" tIns="0" rIns="0" bIns="0" rtlCol="0" anchor="t"/>
          <a:lstStyle/>
          <a:p>
            <a:pPr indent="0" marL="0">
              <a:buNone/>
            </a:pPr>
            <a:r>
              <a:rPr lang="en-US" sz="1500" b="1" dirty="0">
                <a:solidFill>
                  <a:srgbClr val="E9A23B"/>
                </a:solidFill>
                <a:latin typeface="Cambria" pitchFamily="34" charset="0"/>
                <a:ea typeface="Cambria" pitchFamily="34" charset="-122"/>
                <a:cs typeface="Cambria" pitchFamily="34" charset="-120"/>
              </a:rPr>
              <a:t>Explaining costs even more</a:t>
            </a:r>
            <a:endParaRPr lang="en-US" sz="1500" dirty="0"/>
          </a:p>
        </p:txBody>
      </p:sp>
      <p:sp>
        <p:nvSpPr>
          <p:cNvPr id="22" name="Text 19"/>
          <p:cNvSpPr txBox="1"/>
          <p:nvPr/>
        </p:nvSpPr>
        <p:spPr>
          <a:xfrm>
            <a:off x="658368" y="3337560"/>
            <a:ext cx="3657600" cy="12801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CatBoost SHAP: 1,000 patients in 0.3 s</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TabPFN SHAP: 30 patients in 54 min</a:t>
            </a:r>
            <a:endParaRPr lang="en-US" sz="1250" dirty="0"/>
          </a:p>
          <a:p>
            <a:pPr marL="342900" indent="-3429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TabFM SHAP: 20 patients in 2.4 hours</a:t>
            </a:r>
            <a:endParaRPr lang="en-US" sz="1250" dirty="0"/>
          </a:p>
        </p:txBody>
      </p:sp>
      <p:sp>
        <p:nvSpPr>
          <p:cNvPr id="23" name="Shape 20"/>
          <p:cNvSpPr/>
          <p:nvPr/>
        </p:nvSpPr>
        <p:spPr>
          <a:xfrm>
            <a:off x="4663440" y="2880360"/>
            <a:ext cx="4023360" cy="1783080"/>
          </a:xfrm>
          <a:prstGeom prst="roundRect">
            <a:avLst>
              <a:gd name="adj" fmla="val 4103"/>
            </a:avLst>
          </a:prstGeom>
          <a:solidFill>
            <a:srgbClr val="F3F5F9"/>
          </a:solidFill>
          <a:ln w="12700">
            <a:solidFill>
              <a:srgbClr val="F3F5F9"/>
            </a:solidFill>
            <a:prstDash val="solid"/>
          </a:ln>
        </p:spPr>
      </p:sp>
      <p:sp>
        <p:nvSpPr>
          <p:cNvPr id="24" name="Text 21"/>
          <p:cNvSpPr txBox="1"/>
          <p:nvPr/>
        </p:nvSpPr>
        <p:spPr>
          <a:xfrm>
            <a:off x="4864608" y="2990088"/>
            <a:ext cx="3657600" cy="274320"/>
          </a:xfrm>
          <a:prstGeom prst="rect">
            <a:avLst/>
          </a:prstGeom>
          <a:noFill/>
          <a:ln/>
        </p:spPr>
        <p:txBody>
          <a:bodyPr wrap="square" lIns="0" tIns="0" rIns="0" bIns="0" rtlCol="0" anchor="t"/>
          <a:lstStyle/>
          <a:p>
            <a:pPr indent="0" marL="0">
              <a:buNone/>
            </a:pPr>
            <a:r>
              <a:rPr lang="en-US" sz="1500" b="1" dirty="0">
                <a:solidFill>
                  <a:srgbClr val="14213D"/>
                </a:solidFill>
                <a:latin typeface="Cambria" pitchFamily="34" charset="0"/>
                <a:ea typeface="Cambria" pitchFamily="34" charset="-122"/>
                <a:cs typeface="Cambria" pitchFamily="34" charset="-120"/>
              </a:rPr>
              <a:t>Problems we had to solve</a:t>
            </a:r>
            <a:endParaRPr lang="en-US" sz="1500" dirty="0"/>
          </a:p>
        </p:txBody>
      </p:sp>
      <p:sp>
        <p:nvSpPr>
          <p:cNvPr id="25" name="Text 22"/>
          <p:cNvSpPr txBox="1"/>
          <p:nvPr/>
        </p:nvSpPr>
        <p:spPr>
          <a:xfrm>
            <a:off x="4864608" y="3337560"/>
            <a:ext cx="3657600" cy="12801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TabFM full size ran out of memory on a 16 GB laptop, so it needed a GPU</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Memory-saving attention and automatic batch halving</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Package conflicts and single-row failures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777240"/>
          </a:xfrm>
          <a:prstGeom prst="rect">
            <a:avLst/>
          </a:prstGeom>
          <a:noFill/>
          <a:ln/>
        </p:spPr>
        <p:txBody>
          <a:bodyPr wrap="square" lIns="0" tIns="0" rIns="0" bIns="0" rtlCol="0" anchor="t"/>
          <a:lstStyle/>
          <a:p>
            <a:pPr indent="0" marL="0">
              <a:buNone/>
            </a:pPr>
            <a:r>
              <a:rPr lang="en-US" sz="2500" b="1" dirty="0">
                <a:solidFill>
                  <a:srgbClr val="14213D"/>
                </a:solidFill>
                <a:latin typeface="Cambria" pitchFamily="34" charset="0"/>
                <a:ea typeface="Cambria" pitchFamily="34" charset="-122"/>
                <a:cs typeface="Cambria" pitchFamily="34" charset="-120"/>
              </a:rPr>
              <a:t>What it means: which model should you choose?</a:t>
            </a:r>
            <a:endParaRPr lang="en-US" sz="2500" dirty="0"/>
          </a:p>
        </p:txBody>
      </p:sp>
      <p:sp>
        <p:nvSpPr>
          <p:cNvPr id="3" name="Text 1"/>
          <p:cNvSpPr txBox="1"/>
          <p:nvPr/>
        </p:nvSpPr>
        <p:spPr>
          <a:xfrm>
            <a:off x="8229600" y="4773168"/>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19</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3017520"/>
                <a:gridCol w="1737360"/>
                <a:gridCol w="347472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Situation</a:t>
                      </a:r>
                      <a:endParaRPr lang="en-US" sz="130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Choose</a:t>
                      </a:r>
                      <a:endParaRPr lang="en-US" sz="130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Why</a:t>
                      </a:r>
                      <a:endParaRPr lang="en-US" sz="130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14213D"/>
                    </a:solidFill>
                  </a:tcPr>
                </a:tc>
              </a:tr>
              <a:tr h="65836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Only a few thousand labelled rows (or fewer)</a:t>
                      </a:r>
                      <a:endParaRPr lang="en-US" sz="120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TabPFN or TabFM</a:t>
                      </a:r>
                      <a:endParaRPr lang="en-US" sz="130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2F6FD6"/>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7 to 8 points more accurate at 500 rows; better probabilities; no tuning</a:t>
                      </a:r>
                      <a:endParaRPr lang="en-US" sz="120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r>
              <a:tr h="65836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 lot of data, and a tool that scores one patient at a time</a:t>
                      </a:r>
                      <a:endParaRPr lang="en-US" sz="120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CatBoost</a:t>
                      </a:r>
                      <a:endParaRPr lang="en-US" sz="130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E9A23B"/>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Same accuracy with all rows, trains in seconds, small model, no GPU</a:t>
                      </a:r>
                      <a:endParaRPr lang="en-US" sz="120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r>
              <a:tr h="65836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You need a reason for every score</a:t>
                      </a:r>
                      <a:endParaRPr lang="en-US" sz="120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Any, with SHAP</a:t>
                      </a:r>
                      <a:endParaRPr lang="en-US" sz="130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1F8A8A"/>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All three can be explained; CatBoost is exact and 0.3 s</a:t>
                      </a:r>
                      <a:endParaRPr lang="en-US" sz="120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r>
              <a:tr h="65836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You need fast, cheap deployment</a:t>
                      </a:r>
                      <a:endParaRPr lang="en-US" sz="120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CatBoost</a:t>
                      </a:r>
                      <a:endParaRPr lang="en-US" sz="130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solidFill>
                      <a:srgbClr val="E9A23B"/>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Foundation models need the training rows and a GPU at prediction time</a:t>
                      </a:r>
                      <a:endParaRPr lang="en-US" sz="1200" dirty="0">
                        <a:latin typeface="Calibri" charset="0"/>
                        <a:ea typeface="Calibri" charset="0"/>
                        <a:cs typeface="Calibri" charset="0"/>
                      </a:endParaRPr>
                    </a:p>
                  </a:txBody>
                  <a:tcPr marL="91440" marR="91440" marT="45720" marB="45720" anchor="ctr">
                    <a:lnL w="9525" cap="flat" cmpd="sng" algn="ctr">
                      <a:solidFill>
                        <a:srgbClr val="DCE3EE"/>
                      </a:solidFill>
                      <a:prstDash val="solid"/>
                      <a:round/>
                      <a:headEnd type="none" w="med" len="med"/>
                      <a:tailEnd type="none" w="med" len="med"/>
                    </a:lnL>
                    <a:lnR w="9525" cap="flat" cmpd="sng" algn="ctr">
                      <a:solidFill>
                        <a:srgbClr val="DCE3EE"/>
                      </a:solidFill>
                      <a:prstDash val="solid"/>
                      <a:round/>
                      <a:headEnd type="none" w="med" len="med"/>
                      <a:tailEnd type="none" w="med" len="med"/>
                    </a:lnR>
                    <a:lnT w="9525" cap="flat" cmpd="sng" algn="ctr">
                      <a:solidFill>
                        <a:srgbClr val="DCE3EE"/>
                      </a:solidFill>
                      <a:prstDash val="solid"/>
                      <a:round/>
                      <a:headEnd type="none" w="med" len="med"/>
                      <a:tailEnd type="none" w="med" len="med"/>
                    </a:lnT>
                    <a:lnB w="9525" cap="flat" cmpd="sng" algn="ctr">
                      <a:solidFill>
                        <a:srgbClr val="DCE3EE"/>
                      </a:solidFill>
                      <a:prstDash val="solid"/>
                      <a:round/>
                      <a:headEnd type="none" w="med" len="med"/>
                      <a:tailEnd type="none" w="med" len="med"/>
                    </a:lnB>
                  </a:tcPr>
                </a:tc>
              </a:tr>
            </a:tbl>
          </a:graphicData>
        </a:graphic>
      </p:graphicFrame>
      <p:sp>
        <p:nvSpPr>
          <p:cNvPr id="6" name="Text 2"/>
          <p:cNvSpPr txBox="1"/>
          <p:nvPr/>
        </p:nvSpPr>
        <p:spPr>
          <a:xfrm>
            <a:off x="457200" y="4526280"/>
            <a:ext cx="8229600" cy="228600"/>
          </a:xfrm>
          <a:prstGeom prst="rect">
            <a:avLst/>
          </a:prstGeom>
          <a:noFill/>
          <a:ln/>
        </p:spPr>
        <p:txBody>
          <a:bodyPr wrap="square" lIns="0" tIns="0" rIns="0" bIns="0" rtlCol="0" anchor="t"/>
          <a:lstStyle/>
          <a:p>
            <a:pPr indent="0" marL="0">
              <a:buNone/>
            </a:pPr>
            <a:r>
              <a:rPr lang="en-US" sz="1100" i="1" dirty="0">
                <a:solidFill>
                  <a:srgbClr val="6B7280"/>
                </a:solidFill>
                <a:latin typeface="Calibri" pitchFamily="34" charset="0"/>
                <a:ea typeface="Calibri" pitchFamily="34" charset="-122"/>
                <a:cs typeface="Calibri" pitchFamily="34" charset="-120"/>
              </a:rPr>
              <a:t>Caution: measured on one company dataset.</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777240"/>
          </a:xfrm>
          <a:prstGeom prst="rect">
            <a:avLst/>
          </a:prstGeom>
          <a:noFill/>
          <a:ln/>
        </p:spPr>
        <p:txBody>
          <a:bodyPr wrap="square" lIns="0" tIns="0" rIns="0" bIns="0" rtlCol="0" anchor="t"/>
          <a:lstStyle/>
          <a:p>
            <a:pPr indent="0" marL="0">
              <a:buNone/>
            </a:pPr>
            <a:r>
              <a:rPr lang="en-US" sz="2500" b="1" dirty="0">
                <a:solidFill>
                  <a:srgbClr val="14213D"/>
                </a:solidFill>
                <a:latin typeface="Cambria" pitchFamily="34" charset="0"/>
                <a:ea typeface="Cambria" pitchFamily="34" charset="-122"/>
                <a:cs typeface="Cambria" pitchFamily="34" charset="-120"/>
              </a:rPr>
              <a:t>What to keep in mind: the limits of this study</a:t>
            </a:r>
            <a:endParaRPr lang="en-US" sz="2500" dirty="0"/>
          </a:p>
        </p:txBody>
      </p:sp>
      <p:sp>
        <p:nvSpPr>
          <p:cNvPr id="3" name="Text 1"/>
          <p:cNvSpPr txBox="1"/>
          <p:nvPr/>
        </p:nvSpPr>
        <p:spPr>
          <a:xfrm>
            <a:off x="8229600" y="4773168"/>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20</a:t>
            </a:r>
            <a:endParaRPr lang="en-US" sz="1000" dirty="0"/>
          </a:p>
        </p:txBody>
      </p:sp>
      <p:sp>
        <p:nvSpPr>
          <p:cNvPr id="5" name="Shape 2"/>
          <p:cNvSpPr/>
          <p:nvPr/>
        </p:nvSpPr>
        <p:spPr>
          <a:xfrm>
            <a:off x="457200" y="1234440"/>
            <a:ext cx="2606040" cy="1554480"/>
          </a:xfrm>
          <a:prstGeom prst="roundRect">
            <a:avLst>
              <a:gd name="adj" fmla="val 4706"/>
            </a:avLst>
          </a:prstGeom>
          <a:solidFill>
            <a:srgbClr val="F3F5F9"/>
          </a:solidFill>
          <a:ln w="12700">
            <a:solidFill>
              <a:srgbClr val="F3F5F9"/>
            </a:solidFill>
            <a:prstDash val="solid"/>
          </a:ln>
        </p:spPr>
      </p:sp>
      <p:sp>
        <p:nvSpPr>
          <p:cNvPr id="6" name="Shape 3"/>
          <p:cNvSpPr/>
          <p:nvPr/>
        </p:nvSpPr>
        <p:spPr>
          <a:xfrm>
            <a:off x="457200" y="1234440"/>
            <a:ext cx="2606040" cy="1554480"/>
          </a:xfrm>
          <a:prstGeom prst="roundRect">
            <a:avLst>
              <a:gd name="adj" fmla="val 4706"/>
            </a:avLst>
          </a:prstGeom>
          <a:solidFill>
            <a:srgbClr val="F3F5F9"/>
          </a:solidFill>
          <a:ln w="9525">
            <a:solidFill>
              <a:srgbClr val="DCE3EE"/>
            </a:solidFill>
            <a:prstDash val="solid"/>
          </a:ln>
        </p:spPr>
      </p:sp>
      <p:sp>
        <p:nvSpPr>
          <p:cNvPr id="7" name="Shape 4"/>
          <p:cNvSpPr/>
          <p:nvPr/>
        </p:nvSpPr>
        <p:spPr>
          <a:xfrm>
            <a:off x="640080" y="1417320"/>
            <a:ext cx="457200" cy="457200"/>
          </a:xfrm>
          <a:prstGeom prst="ellipse">
            <a:avLst/>
          </a:prstGeom>
          <a:solidFill>
            <a:srgbClr val="C8443B"/>
          </a:solidFill>
          <a:ln w="12700">
            <a:solidFill>
              <a:srgbClr val="C8443B"/>
            </a:solidFill>
            <a:prstDash val="solid"/>
          </a:ln>
        </p:spPr>
      </p:sp>
      <p:pic>
        <p:nvPicPr>
          <p:cNvPr id="8" name="Image 0" descr="preencoded.png">    </p:cNvPr>
          <p:cNvPicPr>
            <a:picLocks noChangeAspect="1"/>
          </p:cNvPicPr>
          <p:nvPr/>
        </p:nvPicPr>
        <p:blipFill>
          <a:blip r:embed="rId1"/>
          <a:stretch>
            <a:fillRect/>
          </a:stretch>
        </p:blipFill>
        <p:spPr>
          <a:xfrm>
            <a:off x="758952" y="1536192"/>
            <a:ext cx="219456" cy="219456"/>
          </a:xfrm>
          <a:prstGeom prst="rect">
            <a:avLst/>
          </a:prstGeom>
        </p:spPr>
      </p:pic>
      <p:sp>
        <p:nvSpPr>
          <p:cNvPr id="9" name="Text 5"/>
          <p:cNvSpPr txBox="1"/>
          <p:nvPr/>
        </p:nvSpPr>
        <p:spPr>
          <a:xfrm>
            <a:off x="1234440" y="1417320"/>
            <a:ext cx="1737360" cy="457200"/>
          </a:xfrm>
          <a:prstGeom prst="rect">
            <a:avLst/>
          </a:prstGeom>
          <a:noFill/>
          <a:ln/>
        </p:spPr>
        <p:txBody>
          <a:bodyPr wrap="square" lIns="0" tIns="0" rIns="0" bIns="0" rtlCol="0" anchor="ctr"/>
          <a:lstStyle/>
          <a:p>
            <a:pPr indent="0" marL="0">
              <a:buNone/>
            </a:pPr>
            <a:r>
              <a:rPr lang="en-US" sz="1350" b="1" dirty="0">
                <a:solidFill>
                  <a:srgbClr val="14213D"/>
                </a:solidFill>
                <a:latin typeface="Cambria" pitchFamily="34" charset="0"/>
                <a:ea typeface="Cambria" pitchFamily="34" charset="-122"/>
                <a:cs typeface="Cambria" pitchFamily="34" charset="-120"/>
              </a:rPr>
              <a:t>Company data</a:t>
            </a:r>
            <a:endParaRPr lang="en-US" sz="1350" dirty="0"/>
          </a:p>
        </p:txBody>
      </p:sp>
      <p:sp>
        <p:nvSpPr>
          <p:cNvPr id="10" name="Text 6"/>
          <p:cNvSpPr txBox="1"/>
          <p:nvPr/>
        </p:nvSpPr>
        <p:spPr>
          <a:xfrm>
            <a:off x="640080" y="2011680"/>
            <a:ext cx="2286000" cy="73152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One company dataset, not a clinical registry. Results are not a diagnostic tool.</a:t>
            </a:r>
            <a:endParaRPr lang="en-US" sz="1150" dirty="0"/>
          </a:p>
        </p:txBody>
      </p:sp>
      <p:sp>
        <p:nvSpPr>
          <p:cNvPr id="11" name="Shape 7"/>
          <p:cNvSpPr/>
          <p:nvPr/>
        </p:nvSpPr>
        <p:spPr>
          <a:xfrm>
            <a:off x="3268980" y="1234440"/>
            <a:ext cx="2606040" cy="1554480"/>
          </a:xfrm>
          <a:prstGeom prst="roundRect">
            <a:avLst>
              <a:gd name="adj" fmla="val 4706"/>
            </a:avLst>
          </a:prstGeom>
          <a:solidFill>
            <a:srgbClr val="F3F5F9"/>
          </a:solidFill>
          <a:ln w="12700">
            <a:solidFill>
              <a:srgbClr val="F3F5F9"/>
            </a:solidFill>
            <a:prstDash val="solid"/>
          </a:ln>
        </p:spPr>
      </p:sp>
      <p:sp>
        <p:nvSpPr>
          <p:cNvPr id="12" name="Shape 8"/>
          <p:cNvSpPr/>
          <p:nvPr/>
        </p:nvSpPr>
        <p:spPr>
          <a:xfrm>
            <a:off x="3268980" y="1234440"/>
            <a:ext cx="2606040" cy="1554480"/>
          </a:xfrm>
          <a:prstGeom prst="roundRect">
            <a:avLst>
              <a:gd name="adj" fmla="val 4706"/>
            </a:avLst>
          </a:prstGeom>
          <a:solidFill>
            <a:srgbClr val="F3F5F9"/>
          </a:solidFill>
          <a:ln w="9525">
            <a:solidFill>
              <a:srgbClr val="DCE3EE"/>
            </a:solidFill>
            <a:prstDash val="solid"/>
          </a:ln>
        </p:spPr>
      </p:sp>
      <p:sp>
        <p:nvSpPr>
          <p:cNvPr id="13" name="Shape 9"/>
          <p:cNvSpPr/>
          <p:nvPr/>
        </p:nvSpPr>
        <p:spPr>
          <a:xfrm>
            <a:off x="3451860" y="1417320"/>
            <a:ext cx="457200" cy="457200"/>
          </a:xfrm>
          <a:prstGeom prst="ellipse">
            <a:avLst/>
          </a:prstGeom>
          <a:solidFill>
            <a:srgbClr val="E9A23B"/>
          </a:solidFill>
          <a:ln w="12700">
            <a:solidFill>
              <a:srgbClr val="E9A23B"/>
            </a:solidFill>
            <a:prstDash val="solid"/>
          </a:ln>
        </p:spPr>
      </p:sp>
      <p:pic>
        <p:nvPicPr>
          <p:cNvPr id="14" name="Image 1" descr="preencoded.png">    </p:cNvPr>
          <p:cNvPicPr>
            <a:picLocks noChangeAspect="1"/>
          </p:cNvPicPr>
          <p:nvPr/>
        </p:nvPicPr>
        <p:blipFill>
          <a:blip r:embed="rId2"/>
          <a:stretch>
            <a:fillRect/>
          </a:stretch>
        </p:blipFill>
        <p:spPr>
          <a:xfrm>
            <a:off x="3570732" y="1536192"/>
            <a:ext cx="219456" cy="219456"/>
          </a:xfrm>
          <a:prstGeom prst="rect">
            <a:avLst/>
          </a:prstGeom>
        </p:spPr>
      </p:pic>
      <p:sp>
        <p:nvSpPr>
          <p:cNvPr id="15" name="Text 10"/>
          <p:cNvSpPr txBox="1"/>
          <p:nvPr/>
        </p:nvSpPr>
        <p:spPr>
          <a:xfrm>
            <a:off x="4046220" y="1417320"/>
            <a:ext cx="1737360" cy="457200"/>
          </a:xfrm>
          <a:prstGeom prst="rect">
            <a:avLst/>
          </a:prstGeom>
          <a:noFill/>
          <a:ln/>
        </p:spPr>
        <p:txBody>
          <a:bodyPr wrap="square" lIns="0" tIns="0" rIns="0" bIns="0" rtlCol="0" anchor="ctr"/>
          <a:lstStyle/>
          <a:p>
            <a:pPr indent="0" marL="0">
              <a:buNone/>
            </a:pPr>
            <a:r>
              <a:rPr lang="en-US" sz="1350" b="1" dirty="0">
                <a:solidFill>
                  <a:srgbClr val="14213D"/>
                </a:solidFill>
                <a:latin typeface="Cambria" pitchFamily="34" charset="0"/>
                <a:ea typeface="Cambria" pitchFamily="34" charset="-122"/>
                <a:cs typeface="Cambria" pitchFamily="34" charset="-120"/>
              </a:rPr>
              <a:t>One split, one seed</a:t>
            </a:r>
            <a:endParaRPr lang="en-US" sz="1350" dirty="0"/>
          </a:p>
        </p:txBody>
      </p:sp>
      <p:sp>
        <p:nvSpPr>
          <p:cNvPr id="16" name="Text 11"/>
          <p:cNvSpPr txBox="1"/>
          <p:nvPr/>
        </p:nvSpPr>
        <p:spPr>
          <a:xfrm>
            <a:off x="3451860" y="2011680"/>
            <a:ext cx="2286000" cy="73152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Small differences at full size cannot be separated from chance.</a:t>
            </a:r>
            <a:endParaRPr lang="en-US" sz="1150" dirty="0"/>
          </a:p>
        </p:txBody>
      </p:sp>
      <p:sp>
        <p:nvSpPr>
          <p:cNvPr id="17" name="Shape 12"/>
          <p:cNvSpPr/>
          <p:nvPr/>
        </p:nvSpPr>
        <p:spPr>
          <a:xfrm>
            <a:off x="6080760" y="1234440"/>
            <a:ext cx="2606040" cy="1554480"/>
          </a:xfrm>
          <a:prstGeom prst="roundRect">
            <a:avLst>
              <a:gd name="adj" fmla="val 4706"/>
            </a:avLst>
          </a:prstGeom>
          <a:solidFill>
            <a:srgbClr val="F3F5F9"/>
          </a:solidFill>
          <a:ln w="12700">
            <a:solidFill>
              <a:srgbClr val="F3F5F9"/>
            </a:solidFill>
            <a:prstDash val="solid"/>
          </a:ln>
        </p:spPr>
      </p:sp>
      <p:sp>
        <p:nvSpPr>
          <p:cNvPr id="18" name="Shape 13"/>
          <p:cNvSpPr/>
          <p:nvPr/>
        </p:nvSpPr>
        <p:spPr>
          <a:xfrm>
            <a:off x="6080760" y="1234440"/>
            <a:ext cx="2606040" cy="1554480"/>
          </a:xfrm>
          <a:prstGeom prst="roundRect">
            <a:avLst>
              <a:gd name="adj" fmla="val 4706"/>
            </a:avLst>
          </a:prstGeom>
          <a:solidFill>
            <a:srgbClr val="F3F5F9"/>
          </a:solidFill>
          <a:ln w="9525">
            <a:solidFill>
              <a:srgbClr val="DCE3EE"/>
            </a:solidFill>
            <a:prstDash val="solid"/>
          </a:ln>
        </p:spPr>
      </p:sp>
      <p:sp>
        <p:nvSpPr>
          <p:cNvPr id="19" name="Shape 14"/>
          <p:cNvSpPr/>
          <p:nvPr/>
        </p:nvSpPr>
        <p:spPr>
          <a:xfrm>
            <a:off x="6263640" y="1417320"/>
            <a:ext cx="457200" cy="457200"/>
          </a:xfrm>
          <a:prstGeom prst="ellipse">
            <a:avLst/>
          </a:prstGeom>
          <a:solidFill>
            <a:srgbClr val="E9A23B"/>
          </a:solidFill>
          <a:ln w="12700">
            <a:solidFill>
              <a:srgbClr val="E9A23B"/>
            </a:solidFill>
            <a:prstDash val="solid"/>
          </a:ln>
        </p:spPr>
      </p:sp>
      <p:pic>
        <p:nvPicPr>
          <p:cNvPr id="20" name="Image 2" descr="preencoded.png">    </p:cNvPr>
          <p:cNvPicPr>
            <a:picLocks noChangeAspect="1"/>
          </p:cNvPicPr>
          <p:nvPr/>
        </p:nvPicPr>
        <p:blipFill>
          <a:blip r:embed="rId3"/>
          <a:stretch>
            <a:fillRect/>
          </a:stretch>
        </p:blipFill>
        <p:spPr>
          <a:xfrm>
            <a:off x="6382512" y="1536192"/>
            <a:ext cx="219456" cy="219456"/>
          </a:xfrm>
          <a:prstGeom prst="rect">
            <a:avLst/>
          </a:prstGeom>
        </p:spPr>
      </p:pic>
      <p:sp>
        <p:nvSpPr>
          <p:cNvPr id="21" name="Text 15"/>
          <p:cNvSpPr txBox="1"/>
          <p:nvPr/>
        </p:nvSpPr>
        <p:spPr>
          <a:xfrm>
            <a:off x="6858000" y="1417320"/>
            <a:ext cx="1737360" cy="457200"/>
          </a:xfrm>
          <a:prstGeom prst="rect">
            <a:avLst/>
          </a:prstGeom>
          <a:noFill/>
          <a:ln/>
        </p:spPr>
        <p:txBody>
          <a:bodyPr wrap="square" lIns="0" tIns="0" rIns="0" bIns="0" rtlCol="0" anchor="ctr"/>
          <a:lstStyle/>
          <a:p>
            <a:pPr indent="0" marL="0">
              <a:buNone/>
            </a:pPr>
            <a:r>
              <a:rPr lang="en-US" sz="1350" b="1" dirty="0">
                <a:solidFill>
                  <a:srgbClr val="14213D"/>
                </a:solidFill>
                <a:latin typeface="Cambria" pitchFamily="34" charset="0"/>
                <a:ea typeface="Cambria" pitchFamily="34" charset="-122"/>
                <a:cs typeface="Cambria" pitchFamily="34" charset="-120"/>
              </a:rPr>
              <a:t>Small SHAP samples</a:t>
            </a:r>
            <a:endParaRPr lang="en-US" sz="1350" dirty="0"/>
          </a:p>
        </p:txBody>
      </p:sp>
      <p:sp>
        <p:nvSpPr>
          <p:cNvPr id="22" name="Text 16"/>
          <p:cNvSpPr txBox="1"/>
          <p:nvPr/>
        </p:nvSpPr>
        <p:spPr>
          <a:xfrm>
            <a:off x="6263640" y="2011680"/>
            <a:ext cx="2286000" cy="73152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30 and 20 patients for the foundation models; only leading features are interpreted.</a:t>
            </a:r>
            <a:endParaRPr lang="en-US" sz="1150" dirty="0"/>
          </a:p>
        </p:txBody>
      </p:sp>
      <p:sp>
        <p:nvSpPr>
          <p:cNvPr id="23" name="Shape 17"/>
          <p:cNvSpPr/>
          <p:nvPr/>
        </p:nvSpPr>
        <p:spPr>
          <a:xfrm>
            <a:off x="457200" y="2971800"/>
            <a:ext cx="2606040" cy="1554480"/>
          </a:xfrm>
          <a:prstGeom prst="roundRect">
            <a:avLst>
              <a:gd name="adj" fmla="val 4706"/>
            </a:avLst>
          </a:prstGeom>
          <a:solidFill>
            <a:srgbClr val="F3F5F9"/>
          </a:solidFill>
          <a:ln w="12700">
            <a:solidFill>
              <a:srgbClr val="F3F5F9"/>
            </a:solidFill>
            <a:prstDash val="solid"/>
          </a:ln>
        </p:spPr>
      </p:sp>
      <p:sp>
        <p:nvSpPr>
          <p:cNvPr id="24" name="Shape 18"/>
          <p:cNvSpPr/>
          <p:nvPr/>
        </p:nvSpPr>
        <p:spPr>
          <a:xfrm>
            <a:off x="457200" y="2971800"/>
            <a:ext cx="2606040" cy="1554480"/>
          </a:xfrm>
          <a:prstGeom prst="roundRect">
            <a:avLst>
              <a:gd name="adj" fmla="val 4706"/>
            </a:avLst>
          </a:prstGeom>
          <a:solidFill>
            <a:srgbClr val="F3F5F9"/>
          </a:solidFill>
          <a:ln w="9525">
            <a:solidFill>
              <a:srgbClr val="DCE3EE"/>
            </a:solidFill>
            <a:prstDash val="solid"/>
          </a:ln>
        </p:spPr>
      </p:sp>
      <p:sp>
        <p:nvSpPr>
          <p:cNvPr id="25" name="Shape 19"/>
          <p:cNvSpPr/>
          <p:nvPr/>
        </p:nvSpPr>
        <p:spPr>
          <a:xfrm>
            <a:off x="640080" y="3154680"/>
            <a:ext cx="457200" cy="457200"/>
          </a:xfrm>
          <a:prstGeom prst="ellipse">
            <a:avLst/>
          </a:prstGeom>
          <a:solidFill>
            <a:srgbClr val="1F8A8A"/>
          </a:solidFill>
          <a:ln w="12700">
            <a:solidFill>
              <a:srgbClr val="1F8A8A"/>
            </a:solidFill>
            <a:prstDash val="solid"/>
          </a:ln>
        </p:spPr>
      </p:sp>
      <p:pic>
        <p:nvPicPr>
          <p:cNvPr id="26" name="Image 3" descr="preencoded.png">    </p:cNvPr>
          <p:cNvPicPr>
            <a:picLocks noChangeAspect="1"/>
          </p:cNvPicPr>
          <p:nvPr/>
        </p:nvPicPr>
        <p:blipFill>
          <a:blip r:embed="rId4"/>
          <a:stretch>
            <a:fillRect/>
          </a:stretch>
        </p:blipFill>
        <p:spPr>
          <a:xfrm>
            <a:off x="758952" y="3273552"/>
            <a:ext cx="219456" cy="219456"/>
          </a:xfrm>
          <a:prstGeom prst="rect">
            <a:avLst/>
          </a:prstGeom>
        </p:spPr>
      </p:pic>
      <p:sp>
        <p:nvSpPr>
          <p:cNvPr id="27" name="Text 20"/>
          <p:cNvSpPr txBox="1"/>
          <p:nvPr/>
        </p:nvSpPr>
        <p:spPr>
          <a:xfrm>
            <a:off x="1234440" y="3154680"/>
            <a:ext cx="1737360" cy="457200"/>
          </a:xfrm>
          <a:prstGeom prst="rect">
            <a:avLst/>
          </a:prstGeom>
          <a:noFill/>
          <a:ln/>
        </p:spPr>
        <p:txBody>
          <a:bodyPr wrap="square" lIns="0" tIns="0" rIns="0" bIns="0" rtlCol="0" anchor="ctr"/>
          <a:lstStyle/>
          <a:p>
            <a:pPr indent="0" marL="0">
              <a:buNone/>
            </a:pPr>
            <a:r>
              <a:rPr lang="en-US" sz="1350" b="1" dirty="0">
                <a:solidFill>
                  <a:srgbClr val="14213D"/>
                </a:solidFill>
                <a:latin typeface="Cambria" pitchFamily="34" charset="0"/>
                <a:ea typeface="Cambria" pitchFamily="34" charset="-122"/>
                <a:cs typeface="Cambria" pitchFamily="34" charset="-120"/>
              </a:rPr>
              <a:t>Hardware and versions</a:t>
            </a:r>
            <a:endParaRPr lang="en-US" sz="1350" dirty="0"/>
          </a:p>
        </p:txBody>
      </p:sp>
      <p:sp>
        <p:nvSpPr>
          <p:cNvPr id="28" name="Text 21"/>
          <p:cNvSpPr txBox="1"/>
          <p:nvPr/>
        </p:nvSpPr>
        <p:spPr>
          <a:xfrm>
            <a:off x="640080" y="3749040"/>
            <a:ext cx="2286000" cy="73152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CatBoost on CPU, others on GPU; TabPFN and SHAP versions were not fixed.</a:t>
            </a:r>
            <a:endParaRPr lang="en-US" sz="1150" dirty="0"/>
          </a:p>
        </p:txBody>
      </p:sp>
      <p:sp>
        <p:nvSpPr>
          <p:cNvPr id="29" name="Shape 22"/>
          <p:cNvSpPr/>
          <p:nvPr/>
        </p:nvSpPr>
        <p:spPr>
          <a:xfrm>
            <a:off x="3268980" y="2971800"/>
            <a:ext cx="2606040" cy="1554480"/>
          </a:xfrm>
          <a:prstGeom prst="roundRect">
            <a:avLst>
              <a:gd name="adj" fmla="val 4706"/>
            </a:avLst>
          </a:prstGeom>
          <a:solidFill>
            <a:srgbClr val="F3F5F9"/>
          </a:solidFill>
          <a:ln w="12700">
            <a:solidFill>
              <a:srgbClr val="F3F5F9"/>
            </a:solidFill>
            <a:prstDash val="solid"/>
          </a:ln>
        </p:spPr>
      </p:sp>
      <p:sp>
        <p:nvSpPr>
          <p:cNvPr id="30" name="Shape 23"/>
          <p:cNvSpPr/>
          <p:nvPr/>
        </p:nvSpPr>
        <p:spPr>
          <a:xfrm>
            <a:off x="3268980" y="2971800"/>
            <a:ext cx="2606040" cy="1554480"/>
          </a:xfrm>
          <a:prstGeom prst="roundRect">
            <a:avLst>
              <a:gd name="adj" fmla="val 4706"/>
            </a:avLst>
          </a:prstGeom>
          <a:solidFill>
            <a:srgbClr val="F3F5F9"/>
          </a:solidFill>
          <a:ln w="9525">
            <a:solidFill>
              <a:srgbClr val="DCE3EE"/>
            </a:solidFill>
            <a:prstDash val="solid"/>
          </a:ln>
        </p:spPr>
      </p:sp>
      <p:sp>
        <p:nvSpPr>
          <p:cNvPr id="31" name="Shape 24"/>
          <p:cNvSpPr/>
          <p:nvPr/>
        </p:nvSpPr>
        <p:spPr>
          <a:xfrm>
            <a:off x="3451860" y="3154680"/>
            <a:ext cx="457200" cy="457200"/>
          </a:xfrm>
          <a:prstGeom prst="ellipse">
            <a:avLst/>
          </a:prstGeom>
          <a:solidFill>
            <a:srgbClr val="1F8A8A"/>
          </a:solidFill>
          <a:ln w="12700">
            <a:solidFill>
              <a:srgbClr val="1F8A8A"/>
            </a:solidFill>
            <a:prstDash val="solid"/>
          </a:ln>
        </p:spPr>
      </p:sp>
      <p:pic>
        <p:nvPicPr>
          <p:cNvPr id="32" name="Image 4" descr="preencoded.png">    </p:cNvPr>
          <p:cNvPicPr>
            <a:picLocks noChangeAspect="1"/>
          </p:cNvPicPr>
          <p:nvPr/>
        </p:nvPicPr>
        <p:blipFill>
          <a:blip r:embed="rId5"/>
          <a:stretch>
            <a:fillRect/>
          </a:stretch>
        </p:blipFill>
        <p:spPr>
          <a:xfrm>
            <a:off x="3570732" y="3273552"/>
            <a:ext cx="219456" cy="219456"/>
          </a:xfrm>
          <a:prstGeom prst="rect">
            <a:avLst/>
          </a:prstGeom>
        </p:spPr>
      </p:pic>
      <p:sp>
        <p:nvSpPr>
          <p:cNvPr id="33" name="Text 25"/>
          <p:cNvSpPr txBox="1"/>
          <p:nvPr/>
        </p:nvSpPr>
        <p:spPr>
          <a:xfrm>
            <a:off x="4046220" y="3154680"/>
            <a:ext cx="1737360" cy="457200"/>
          </a:xfrm>
          <a:prstGeom prst="rect">
            <a:avLst/>
          </a:prstGeom>
          <a:noFill/>
          <a:ln/>
        </p:spPr>
        <p:txBody>
          <a:bodyPr wrap="square" lIns="0" tIns="0" rIns="0" bIns="0" rtlCol="0" anchor="ctr"/>
          <a:lstStyle/>
          <a:p>
            <a:pPr indent="0" marL="0">
              <a:buNone/>
            </a:pPr>
            <a:r>
              <a:rPr lang="en-US" sz="1350" b="1" dirty="0">
                <a:solidFill>
                  <a:srgbClr val="14213D"/>
                </a:solidFill>
                <a:latin typeface="Cambria" pitchFamily="34" charset="0"/>
                <a:ea typeface="Cambria" pitchFamily="34" charset="-122"/>
                <a:cs typeface="Cambria" pitchFamily="34" charset="-120"/>
              </a:rPr>
              <a:t>Grid and settings</a:t>
            </a:r>
            <a:endParaRPr lang="en-US" sz="1350" dirty="0"/>
          </a:p>
        </p:txBody>
      </p:sp>
      <p:sp>
        <p:nvSpPr>
          <p:cNvPr id="34" name="Text 26"/>
          <p:cNvSpPr txBox="1"/>
          <p:nvPr/>
        </p:nvSpPr>
        <p:spPr>
          <a:xfrm>
            <a:off x="3451860" y="3749040"/>
            <a:ext cx="2286000" cy="73152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Small CatBoost grid; foundation models used default settings.</a:t>
            </a:r>
            <a:endParaRPr lang="en-US" sz="1150" dirty="0"/>
          </a:p>
        </p:txBody>
      </p:sp>
      <p:sp>
        <p:nvSpPr>
          <p:cNvPr id="35" name="Shape 27"/>
          <p:cNvSpPr/>
          <p:nvPr/>
        </p:nvSpPr>
        <p:spPr>
          <a:xfrm>
            <a:off x="6080760" y="2971800"/>
            <a:ext cx="2606040" cy="1554480"/>
          </a:xfrm>
          <a:prstGeom prst="roundRect">
            <a:avLst>
              <a:gd name="adj" fmla="val 4706"/>
            </a:avLst>
          </a:prstGeom>
          <a:solidFill>
            <a:srgbClr val="F3F5F9"/>
          </a:solidFill>
          <a:ln w="12700">
            <a:solidFill>
              <a:srgbClr val="F3F5F9"/>
            </a:solidFill>
            <a:prstDash val="solid"/>
          </a:ln>
        </p:spPr>
      </p:sp>
      <p:sp>
        <p:nvSpPr>
          <p:cNvPr id="36" name="Shape 28"/>
          <p:cNvSpPr/>
          <p:nvPr/>
        </p:nvSpPr>
        <p:spPr>
          <a:xfrm>
            <a:off x="6080760" y="2971800"/>
            <a:ext cx="2606040" cy="1554480"/>
          </a:xfrm>
          <a:prstGeom prst="roundRect">
            <a:avLst>
              <a:gd name="adj" fmla="val 4706"/>
            </a:avLst>
          </a:prstGeom>
          <a:solidFill>
            <a:srgbClr val="F3F5F9"/>
          </a:solidFill>
          <a:ln w="9525">
            <a:solidFill>
              <a:srgbClr val="DCE3EE"/>
            </a:solidFill>
            <a:prstDash val="solid"/>
          </a:ln>
        </p:spPr>
      </p:sp>
      <p:sp>
        <p:nvSpPr>
          <p:cNvPr id="37" name="Shape 29"/>
          <p:cNvSpPr/>
          <p:nvPr/>
        </p:nvSpPr>
        <p:spPr>
          <a:xfrm>
            <a:off x="6263640" y="3154680"/>
            <a:ext cx="457200" cy="457200"/>
          </a:xfrm>
          <a:prstGeom prst="ellipse">
            <a:avLst/>
          </a:prstGeom>
          <a:solidFill>
            <a:srgbClr val="1F8A8A"/>
          </a:solidFill>
          <a:ln w="12700">
            <a:solidFill>
              <a:srgbClr val="1F8A8A"/>
            </a:solidFill>
            <a:prstDash val="solid"/>
          </a:ln>
        </p:spPr>
      </p:sp>
      <p:pic>
        <p:nvPicPr>
          <p:cNvPr id="38" name="Image 5" descr="preencoded.png">    </p:cNvPr>
          <p:cNvPicPr>
            <a:picLocks noChangeAspect="1"/>
          </p:cNvPicPr>
          <p:nvPr/>
        </p:nvPicPr>
        <p:blipFill>
          <a:blip r:embed="rId6"/>
          <a:stretch>
            <a:fillRect/>
          </a:stretch>
        </p:blipFill>
        <p:spPr>
          <a:xfrm>
            <a:off x="6382512" y="3273552"/>
            <a:ext cx="219456" cy="219456"/>
          </a:xfrm>
          <a:prstGeom prst="rect">
            <a:avLst/>
          </a:prstGeom>
        </p:spPr>
      </p:pic>
      <p:sp>
        <p:nvSpPr>
          <p:cNvPr id="39" name="Text 30"/>
          <p:cNvSpPr txBox="1"/>
          <p:nvPr/>
        </p:nvSpPr>
        <p:spPr>
          <a:xfrm>
            <a:off x="6858000" y="3154680"/>
            <a:ext cx="1737360" cy="457200"/>
          </a:xfrm>
          <a:prstGeom prst="rect">
            <a:avLst/>
          </a:prstGeom>
          <a:noFill/>
          <a:ln/>
        </p:spPr>
        <p:txBody>
          <a:bodyPr wrap="square" lIns="0" tIns="0" rIns="0" bIns="0" rtlCol="0" anchor="ctr"/>
          <a:lstStyle/>
          <a:p>
            <a:pPr indent="0" marL="0">
              <a:buNone/>
            </a:pPr>
            <a:r>
              <a:rPr lang="en-US" sz="1350" b="1" dirty="0">
                <a:solidFill>
                  <a:srgbClr val="14213D"/>
                </a:solidFill>
                <a:latin typeface="Cambria" pitchFamily="34" charset="0"/>
                <a:ea typeface="Cambria" pitchFamily="34" charset="-122"/>
                <a:cs typeface="Cambria" pitchFamily="34" charset="-120"/>
              </a:rPr>
              <a:t>Not tested</a:t>
            </a:r>
            <a:endParaRPr lang="en-US" sz="1350" dirty="0"/>
          </a:p>
        </p:txBody>
      </p:sp>
      <p:sp>
        <p:nvSpPr>
          <p:cNvPr id="40" name="Text 31"/>
          <p:cNvSpPr txBox="1"/>
          <p:nvPr/>
        </p:nvSpPr>
        <p:spPr>
          <a:xfrm>
            <a:off x="6263640" y="3749040"/>
            <a:ext cx="2286000" cy="73152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Ordinal models, patient-level explanations and real clinical data.</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777240"/>
          </a:xfrm>
          <a:prstGeom prst="rect">
            <a:avLst/>
          </a:prstGeom>
          <a:noFill/>
          <a:ln/>
        </p:spPr>
        <p:txBody>
          <a:bodyPr wrap="square" lIns="0" tIns="0" rIns="0" bIns="0" rtlCol="0" anchor="t"/>
          <a:lstStyle/>
          <a:p>
            <a:pPr indent="0" marL="0">
              <a:buNone/>
            </a:pPr>
            <a:r>
              <a:rPr lang="en-US" sz="2500" b="1" dirty="0">
                <a:solidFill>
                  <a:srgbClr val="14213D"/>
                </a:solidFill>
                <a:latin typeface="Cambria" pitchFamily="34" charset="0"/>
                <a:ea typeface="Cambria" pitchFamily="34" charset="-122"/>
                <a:cs typeface="Cambria" pitchFamily="34" charset="-120"/>
              </a:rPr>
              <a:t>Conclusions: answers to our four questions</a:t>
            </a:r>
            <a:endParaRPr lang="en-US" sz="2500" dirty="0"/>
          </a:p>
        </p:txBody>
      </p:sp>
      <p:sp>
        <p:nvSpPr>
          <p:cNvPr id="3" name="Text 1"/>
          <p:cNvSpPr txBox="1"/>
          <p:nvPr/>
        </p:nvSpPr>
        <p:spPr>
          <a:xfrm>
            <a:off x="8229600" y="4773168"/>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21</a:t>
            </a:r>
            <a:endParaRPr lang="en-US" sz="1000" dirty="0"/>
          </a:p>
        </p:txBody>
      </p:sp>
      <p:sp>
        <p:nvSpPr>
          <p:cNvPr id="5" name="Shape 2"/>
          <p:cNvSpPr/>
          <p:nvPr/>
        </p:nvSpPr>
        <p:spPr>
          <a:xfrm>
            <a:off x="457200" y="1234440"/>
            <a:ext cx="8229600" cy="731520"/>
          </a:xfrm>
          <a:prstGeom prst="roundRect">
            <a:avLst>
              <a:gd name="adj" fmla="val 10000"/>
            </a:avLst>
          </a:prstGeom>
          <a:solidFill>
            <a:srgbClr val="F3F5F9"/>
          </a:solidFill>
          <a:ln w="12700">
            <a:solidFill>
              <a:srgbClr val="F3F5F9"/>
            </a:solidFill>
            <a:prstDash val="solid"/>
          </a:ln>
        </p:spPr>
      </p:sp>
      <p:sp>
        <p:nvSpPr>
          <p:cNvPr id="6" name="Shape 3"/>
          <p:cNvSpPr/>
          <p:nvPr/>
        </p:nvSpPr>
        <p:spPr>
          <a:xfrm>
            <a:off x="594360" y="1344168"/>
            <a:ext cx="512064" cy="512064"/>
          </a:xfrm>
          <a:prstGeom prst="ellipse">
            <a:avLst/>
          </a:prstGeom>
          <a:solidFill>
            <a:srgbClr val="14213D"/>
          </a:solidFill>
          <a:ln w="12700">
            <a:solidFill>
              <a:srgbClr val="14213D"/>
            </a:solidFill>
            <a:prstDash val="solid"/>
          </a:ln>
        </p:spPr>
      </p:sp>
      <p:sp>
        <p:nvSpPr>
          <p:cNvPr id="7" name="Text 4"/>
          <p:cNvSpPr txBox="1"/>
          <p:nvPr/>
        </p:nvSpPr>
        <p:spPr>
          <a:xfrm>
            <a:off x="594360" y="1344168"/>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Q1</a:t>
            </a:r>
            <a:endParaRPr lang="en-US" sz="1400" dirty="0"/>
          </a:p>
        </p:txBody>
      </p:sp>
      <p:sp>
        <p:nvSpPr>
          <p:cNvPr id="8" name="Text 5"/>
          <p:cNvSpPr txBox="1"/>
          <p:nvPr/>
        </p:nvSpPr>
        <p:spPr>
          <a:xfrm>
            <a:off x="1325880" y="1234440"/>
            <a:ext cx="1691640" cy="731520"/>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Performance</a:t>
            </a:r>
            <a:endParaRPr lang="en-US" sz="1400" dirty="0"/>
          </a:p>
        </p:txBody>
      </p:sp>
      <p:sp>
        <p:nvSpPr>
          <p:cNvPr id="9" name="Text 6"/>
          <p:cNvSpPr txBox="1"/>
          <p:nvPr/>
        </p:nvSpPr>
        <p:spPr>
          <a:xfrm>
            <a:off x="3063240" y="1234440"/>
            <a:ext cx="5486400" cy="73152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With all the data no significant difference (78.2% to 78.7%); with 500 and 2,000 rows the foundation models win (p &lt; 0.0001).</a:t>
            </a:r>
            <a:endParaRPr lang="en-US" sz="1250" dirty="0"/>
          </a:p>
        </p:txBody>
      </p:sp>
      <p:sp>
        <p:nvSpPr>
          <p:cNvPr id="10" name="Shape 7"/>
          <p:cNvSpPr/>
          <p:nvPr/>
        </p:nvSpPr>
        <p:spPr>
          <a:xfrm>
            <a:off x="457200" y="2084832"/>
            <a:ext cx="8229600" cy="731520"/>
          </a:xfrm>
          <a:prstGeom prst="roundRect">
            <a:avLst>
              <a:gd name="adj" fmla="val 10000"/>
            </a:avLst>
          </a:prstGeom>
          <a:solidFill>
            <a:srgbClr val="F3F5F9"/>
          </a:solidFill>
          <a:ln w="12700">
            <a:solidFill>
              <a:srgbClr val="F3F5F9"/>
            </a:solidFill>
            <a:prstDash val="solid"/>
          </a:ln>
        </p:spPr>
      </p:sp>
      <p:sp>
        <p:nvSpPr>
          <p:cNvPr id="11" name="Shape 8"/>
          <p:cNvSpPr/>
          <p:nvPr/>
        </p:nvSpPr>
        <p:spPr>
          <a:xfrm>
            <a:off x="594360" y="2194560"/>
            <a:ext cx="512064" cy="512064"/>
          </a:xfrm>
          <a:prstGeom prst="ellipse">
            <a:avLst/>
          </a:prstGeom>
          <a:solidFill>
            <a:srgbClr val="14213D"/>
          </a:solidFill>
          <a:ln w="12700">
            <a:solidFill>
              <a:srgbClr val="14213D"/>
            </a:solidFill>
            <a:prstDash val="solid"/>
          </a:ln>
        </p:spPr>
      </p:sp>
      <p:sp>
        <p:nvSpPr>
          <p:cNvPr id="12" name="Text 9"/>
          <p:cNvSpPr txBox="1"/>
          <p:nvPr/>
        </p:nvSpPr>
        <p:spPr>
          <a:xfrm>
            <a:off x="594360" y="2194560"/>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Q2</a:t>
            </a:r>
            <a:endParaRPr lang="en-US" sz="1400" dirty="0"/>
          </a:p>
        </p:txBody>
      </p:sp>
      <p:sp>
        <p:nvSpPr>
          <p:cNvPr id="13" name="Text 10"/>
          <p:cNvSpPr txBox="1"/>
          <p:nvPr/>
        </p:nvSpPr>
        <p:spPr>
          <a:xfrm>
            <a:off x="1325880" y="2084832"/>
            <a:ext cx="1691640" cy="731520"/>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Training size</a:t>
            </a:r>
            <a:endParaRPr lang="en-US" sz="1400" dirty="0"/>
          </a:p>
        </p:txBody>
      </p:sp>
      <p:sp>
        <p:nvSpPr>
          <p:cNvPr id="14" name="Text 11"/>
          <p:cNvSpPr txBox="1"/>
          <p:nvPr/>
        </p:nvSpPr>
        <p:spPr>
          <a:xfrm>
            <a:off x="3063240" y="2084832"/>
            <a:ext cx="5486400" cy="73152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CatBoost gains 8.8 points from 500 rows to all; TabPFN and TabFM gain 1.7 and 1.8.</a:t>
            </a:r>
            <a:endParaRPr lang="en-US" sz="1250" dirty="0"/>
          </a:p>
        </p:txBody>
      </p:sp>
      <p:sp>
        <p:nvSpPr>
          <p:cNvPr id="15" name="Shape 12"/>
          <p:cNvSpPr/>
          <p:nvPr/>
        </p:nvSpPr>
        <p:spPr>
          <a:xfrm>
            <a:off x="457200" y="2935224"/>
            <a:ext cx="8229600" cy="731520"/>
          </a:xfrm>
          <a:prstGeom prst="roundRect">
            <a:avLst>
              <a:gd name="adj" fmla="val 10000"/>
            </a:avLst>
          </a:prstGeom>
          <a:solidFill>
            <a:srgbClr val="F3F5F9"/>
          </a:solidFill>
          <a:ln w="12700">
            <a:solidFill>
              <a:srgbClr val="F3F5F9"/>
            </a:solidFill>
            <a:prstDash val="solid"/>
          </a:ln>
        </p:spPr>
      </p:sp>
      <p:sp>
        <p:nvSpPr>
          <p:cNvPr id="16" name="Shape 13"/>
          <p:cNvSpPr/>
          <p:nvPr/>
        </p:nvSpPr>
        <p:spPr>
          <a:xfrm>
            <a:off x="594360" y="3044952"/>
            <a:ext cx="512064" cy="512064"/>
          </a:xfrm>
          <a:prstGeom prst="ellipse">
            <a:avLst/>
          </a:prstGeom>
          <a:solidFill>
            <a:srgbClr val="14213D"/>
          </a:solidFill>
          <a:ln w="12700">
            <a:solidFill>
              <a:srgbClr val="14213D"/>
            </a:solidFill>
            <a:prstDash val="solid"/>
          </a:ln>
        </p:spPr>
      </p:sp>
      <p:sp>
        <p:nvSpPr>
          <p:cNvPr id="17" name="Text 14"/>
          <p:cNvSpPr txBox="1"/>
          <p:nvPr/>
        </p:nvSpPr>
        <p:spPr>
          <a:xfrm>
            <a:off x="594360" y="3044952"/>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Q3</a:t>
            </a:r>
            <a:endParaRPr lang="en-US" sz="1400" dirty="0"/>
          </a:p>
        </p:txBody>
      </p:sp>
      <p:sp>
        <p:nvSpPr>
          <p:cNvPr id="18" name="Text 15"/>
          <p:cNvSpPr txBox="1"/>
          <p:nvPr/>
        </p:nvSpPr>
        <p:spPr>
          <a:xfrm>
            <a:off x="1325880" y="2935224"/>
            <a:ext cx="1691640" cy="731520"/>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Explanation</a:t>
            </a:r>
            <a:endParaRPr lang="en-US" sz="1400" dirty="0"/>
          </a:p>
        </p:txBody>
      </p:sp>
      <p:sp>
        <p:nvSpPr>
          <p:cNvPr id="19" name="Text 16"/>
          <p:cNvSpPr txBox="1"/>
          <p:nvPr/>
        </p:nvSpPr>
        <p:spPr>
          <a:xfrm>
            <a:off x="3063240" y="2935224"/>
            <a:ext cx="5486400" cy="73152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Iron and stress level lead in all 9 analyses; effects point the same way and match the data.</a:t>
            </a:r>
            <a:endParaRPr lang="en-US" sz="1250" dirty="0"/>
          </a:p>
        </p:txBody>
      </p:sp>
      <p:sp>
        <p:nvSpPr>
          <p:cNvPr id="20" name="Shape 17"/>
          <p:cNvSpPr/>
          <p:nvPr/>
        </p:nvSpPr>
        <p:spPr>
          <a:xfrm>
            <a:off x="457200" y="3785616"/>
            <a:ext cx="8229600" cy="731520"/>
          </a:xfrm>
          <a:prstGeom prst="roundRect">
            <a:avLst>
              <a:gd name="adj" fmla="val 10000"/>
            </a:avLst>
          </a:prstGeom>
          <a:solidFill>
            <a:srgbClr val="F3F5F9"/>
          </a:solidFill>
          <a:ln w="12700">
            <a:solidFill>
              <a:srgbClr val="F3F5F9"/>
            </a:solidFill>
            <a:prstDash val="solid"/>
          </a:ln>
        </p:spPr>
      </p:sp>
      <p:sp>
        <p:nvSpPr>
          <p:cNvPr id="21" name="Shape 18"/>
          <p:cNvSpPr/>
          <p:nvPr/>
        </p:nvSpPr>
        <p:spPr>
          <a:xfrm>
            <a:off x="594360" y="3895344"/>
            <a:ext cx="512064" cy="512064"/>
          </a:xfrm>
          <a:prstGeom prst="ellipse">
            <a:avLst/>
          </a:prstGeom>
          <a:solidFill>
            <a:srgbClr val="14213D"/>
          </a:solidFill>
          <a:ln w="12700">
            <a:solidFill>
              <a:srgbClr val="14213D"/>
            </a:solidFill>
            <a:prstDash val="solid"/>
          </a:ln>
        </p:spPr>
      </p:sp>
      <p:sp>
        <p:nvSpPr>
          <p:cNvPr id="22" name="Text 19"/>
          <p:cNvSpPr txBox="1"/>
          <p:nvPr/>
        </p:nvSpPr>
        <p:spPr>
          <a:xfrm>
            <a:off x="594360" y="3895344"/>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Q4</a:t>
            </a:r>
            <a:endParaRPr lang="en-US" sz="1400" dirty="0"/>
          </a:p>
        </p:txBody>
      </p:sp>
      <p:sp>
        <p:nvSpPr>
          <p:cNvPr id="23" name="Text 20"/>
          <p:cNvSpPr txBox="1"/>
          <p:nvPr/>
        </p:nvSpPr>
        <p:spPr>
          <a:xfrm>
            <a:off x="1325880" y="3785616"/>
            <a:ext cx="1691640" cy="731520"/>
          </a:xfrm>
          <a:prstGeom prst="rect">
            <a:avLst/>
          </a:prstGeom>
          <a:noFill/>
          <a:ln/>
        </p:spPr>
        <p:txBody>
          <a:bodyPr wrap="square" lIns="0" tIns="0" rIns="0" bIns="0" rtlCol="0" anchor="ctr"/>
          <a:lstStyle/>
          <a:p>
            <a:pPr indent="0" marL="0">
              <a:buNone/>
            </a:pPr>
            <a:r>
              <a:rPr lang="en-US" sz="1400" b="1" dirty="0">
                <a:solidFill>
                  <a:srgbClr val="14213D"/>
                </a:solidFill>
                <a:latin typeface="Cambria" pitchFamily="34" charset="0"/>
                <a:ea typeface="Cambria" pitchFamily="34" charset="-122"/>
                <a:cs typeface="Cambria" pitchFamily="34" charset="-120"/>
              </a:rPr>
              <a:t>Cost</a:t>
            </a:r>
            <a:endParaRPr lang="en-US" sz="1400" dirty="0"/>
          </a:p>
        </p:txBody>
      </p:sp>
      <p:sp>
        <p:nvSpPr>
          <p:cNvPr id="24" name="Text 21"/>
          <p:cNvSpPr txBox="1"/>
          <p:nvPr/>
        </p:nvSpPr>
        <p:spPr>
          <a:xfrm>
            <a:off x="3063240" y="3785616"/>
            <a:ext cx="5486400" cy="73152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CatBoost: seconds. TabPFN: about 5 minutes. TabFM: about 51 minutes on a GPU, and it needs one.</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8229600" cy="777240"/>
          </a:xfrm>
          <a:prstGeom prst="rect">
            <a:avLst/>
          </a:prstGeom>
          <a:noFill/>
          <a:ln/>
        </p:spPr>
        <p:txBody>
          <a:bodyPr wrap="square" lIns="0" tIns="0" rIns="0" bIns="0" rtlCol="0" anchor="t"/>
          <a:lstStyle/>
          <a:p>
            <a:pPr indent="0" marL="0">
              <a:buNone/>
            </a:pPr>
            <a:r>
              <a:rPr lang="en-US" sz="2500" b="1" dirty="0">
                <a:solidFill>
                  <a:srgbClr val="14213D"/>
                </a:solidFill>
                <a:latin typeface="Cambria" pitchFamily="34" charset="0"/>
                <a:ea typeface="Cambria" pitchFamily="34" charset="-122"/>
                <a:cs typeface="Cambria" pitchFamily="34" charset="-120"/>
              </a:rPr>
              <a:t>Recommendations and what comes next</a:t>
            </a:r>
            <a:endParaRPr lang="en-US" sz="2500" dirty="0"/>
          </a:p>
        </p:txBody>
      </p:sp>
      <p:sp>
        <p:nvSpPr>
          <p:cNvPr id="3" name="Text 1"/>
          <p:cNvSpPr txBox="1"/>
          <p:nvPr/>
        </p:nvSpPr>
        <p:spPr>
          <a:xfrm>
            <a:off x="8229600" y="4773168"/>
            <a:ext cx="457200" cy="22860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22</a:t>
            </a:r>
            <a:endParaRPr lang="en-US" sz="1000" dirty="0"/>
          </a:p>
        </p:txBody>
      </p:sp>
      <p:sp>
        <p:nvSpPr>
          <p:cNvPr id="5" name="Shape 2"/>
          <p:cNvSpPr/>
          <p:nvPr/>
        </p:nvSpPr>
        <p:spPr>
          <a:xfrm>
            <a:off x="457200" y="1188720"/>
            <a:ext cx="4023360" cy="2697480"/>
          </a:xfrm>
          <a:prstGeom prst="roundRect">
            <a:avLst>
              <a:gd name="adj" fmla="val 2712"/>
            </a:avLst>
          </a:prstGeom>
          <a:solidFill>
            <a:srgbClr val="F3F5F9"/>
          </a:solidFill>
          <a:ln w="12700">
            <a:solidFill>
              <a:srgbClr val="F3F5F9"/>
            </a:solidFill>
            <a:prstDash val="solid"/>
          </a:ln>
        </p:spPr>
      </p:sp>
      <p:sp>
        <p:nvSpPr>
          <p:cNvPr id="6" name="Text 3"/>
          <p:cNvSpPr txBox="1"/>
          <p:nvPr/>
        </p:nvSpPr>
        <p:spPr>
          <a:xfrm>
            <a:off x="658368" y="1298448"/>
            <a:ext cx="3657600" cy="292608"/>
          </a:xfrm>
          <a:prstGeom prst="rect">
            <a:avLst/>
          </a:prstGeom>
          <a:noFill/>
          <a:ln/>
        </p:spPr>
        <p:txBody>
          <a:bodyPr wrap="square" lIns="0" tIns="0" rIns="0" bIns="0" rtlCol="0" anchor="t"/>
          <a:lstStyle/>
          <a:p>
            <a:pPr indent="0" marL="0">
              <a:buNone/>
            </a:pPr>
            <a:r>
              <a:rPr lang="en-US" sz="1600" b="1" dirty="0">
                <a:solidFill>
                  <a:srgbClr val="1F8A8A"/>
                </a:solidFill>
                <a:latin typeface="Cambria" pitchFamily="34" charset="0"/>
                <a:ea typeface="Cambria" pitchFamily="34" charset="-122"/>
                <a:cs typeface="Cambria" pitchFamily="34" charset="-120"/>
              </a:rPr>
              <a:t>For practice</a:t>
            </a:r>
            <a:endParaRPr lang="en-US" sz="1600" dirty="0"/>
          </a:p>
        </p:txBody>
      </p:sp>
      <p:sp>
        <p:nvSpPr>
          <p:cNvPr id="7" name="Text 4"/>
          <p:cNvSpPr txBox="1"/>
          <p:nvPr/>
        </p:nvSpPr>
        <p:spPr>
          <a:xfrm>
            <a:off x="658368" y="1691640"/>
            <a:ext cx="3657600" cy="21031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Few labelled rows: start with TabPFN</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Plenty of data: a tuned CatBoost is enough</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Measure run time and memory before you plan</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Always add SHAP; use it as decision support only</a:t>
            </a:r>
            <a:endParaRPr lang="en-US" sz="1250" dirty="0"/>
          </a:p>
        </p:txBody>
      </p:sp>
      <p:sp>
        <p:nvSpPr>
          <p:cNvPr id="8" name="Shape 5"/>
          <p:cNvSpPr/>
          <p:nvPr/>
        </p:nvSpPr>
        <p:spPr>
          <a:xfrm>
            <a:off x="4663440" y="1188720"/>
            <a:ext cx="4023360" cy="2697480"/>
          </a:xfrm>
          <a:prstGeom prst="roundRect">
            <a:avLst>
              <a:gd name="adj" fmla="val 2712"/>
            </a:avLst>
          </a:prstGeom>
          <a:solidFill>
            <a:srgbClr val="F3F5F9"/>
          </a:solidFill>
          <a:ln w="12700">
            <a:solidFill>
              <a:srgbClr val="F3F5F9"/>
            </a:solidFill>
            <a:prstDash val="solid"/>
          </a:ln>
        </p:spPr>
      </p:sp>
      <p:sp>
        <p:nvSpPr>
          <p:cNvPr id="9" name="Text 6"/>
          <p:cNvSpPr txBox="1"/>
          <p:nvPr/>
        </p:nvSpPr>
        <p:spPr>
          <a:xfrm>
            <a:off x="4864608" y="1298448"/>
            <a:ext cx="3657600" cy="292608"/>
          </a:xfrm>
          <a:prstGeom prst="rect">
            <a:avLst/>
          </a:prstGeom>
          <a:noFill/>
          <a:ln/>
        </p:spPr>
        <p:txBody>
          <a:bodyPr wrap="square" lIns="0" tIns="0" rIns="0" bIns="0" rtlCol="0" anchor="t"/>
          <a:lstStyle/>
          <a:p>
            <a:pPr indent="0" marL="0">
              <a:buNone/>
            </a:pPr>
            <a:r>
              <a:rPr lang="en-US" sz="1600" b="1" dirty="0">
                <a:solidFill>
                  <a:srgbClr val="1F8A8A"/>
                </a:solidFill>
                <a:latin typeface="Cambria" pitchFamily="34" charset="0"/>
                <a:ea typeface="Cambria" pitchFamily="34" charset="-122"/>
                <a:cs typeface="Cambria" pitchFamily="34" charset="-120"/>
              </a:rPr>
              <a:t>For further research</a:t>
            </a:r>
            <a:endParaRPr lang="en-US" sz="1600" dirty="0"/>
          </a:p>
        </p:txBody>
      </p:sp>
      <p:sp>
        <p:nvSpPr>
          <p:cNvPr id="10" name="Text 7"/>
          <p:cNvSpPr txBox="1"/>
          <p:nvPr/>
        </p:nvSpPr>
        <p:spPr>
          <a:xfrm>
            <a:off x="4864608" y="1691640"/>
            <a:ext cx="3657600" cy="21031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Several splits and seeds, with confidence intervals</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Explain more patients; add patient-level plots</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Tune all models; try ordinal models</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Validate on real clinical data</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Ensembles and lighter, distilled models</a:t>
            </a:r>
            <a:endParaRPr lang="en-US" sz="1250" dirty="0"/>
          </a:p>
        </p:txBody>
      </p:sp>
      <p:sp>
        <p:nvSpPr>
          <p:cNvPr id="11" name="Shape 8"/>
          <p:cNvSpPr/>
          <p:nvPr/>
        </p:nvSpPr>
        <p:spPr>
          <a:xfrm>
            <a:off x="457200" y="4069080"/>
            <a:ext cx="8229600" cy="594360"/>
          </a:xfrm>
          <a:prstGeom prst="roundRect">
            <a:avLst>
              <a:gd name="adj" fmla="val 12308"/>
            </a:avLst>
          </a:prstGeom>
          <a:solidFill>
            <a:srgbClr val="14213D"/>
          </a:solidFill>
          <a:ln w="12700">
            <a:solidFill>
              <a:srgbClr val="14213D"/>
            </a:solidFill>
            <a:prstDash val="solid"/>
          </a:ln>
          <a:effectLst>
            <a:outerShdw sx="100000" sy="100000" kx="0" ky="0" algn="bl" rotWithShape="0" blurRad="76200" dist="25400" dir="5400000">
              <a:srgbClr val="000000">
                <a:alpha val="12000"/>
              </a:srgbClr>
            </a:outerShdw>
          </a:effectLst>
        </p:spPr>
      </p:sp>
      <p:sp>
        <p:nvSpPr>
          <p:cNvPr id="12" name="Text 9"/>
          <p:cNvSpPr txBox="1"/>
          <p:nvPr/>
        </p:nvSpPr>
        <p:spPr>
          <a:xfrm>
            <a:off x="640080" y="4069080"/>
            <a:ext cx="786384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Thank you  ·  Questions?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Comparative Benchmarking of CatBoost, TabPFN and TabFM for Explainable Hair Fall Risk Stratification</dc:title>
  <dc:subject>PptxGenJS Presentation</dc:subject>
  <dc:creator>Krishna Gautam</dc:creator>
  <cp:lastModifiedBy>Krishna Gautam</cp:lastModifiedBy>
  <cp:revision>1</cp:revision>
  <dcterms:created xsi:type="dcterms:W3CDTF">2026-09-26T17:18:19Z</dcterms:created>
  <dcterms:modified xsi:type="dcterms:W3CDTF">2026-09-26T17:18:19Z</dcterms:modified>
</cp:coreProperties>
</file>